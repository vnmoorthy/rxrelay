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3f508bab7c4ece" /><Relationship Type="http://schemas.openxmlformats.org/officeDocument/2006/relationships/extended-properties" Target="/docProps/app.xml" Id="R6206a1f94191490d" /><Relationship Type="http://schemas.openxmlformats.org/officeDocument/2006/relationships/officeDocument" Target="/ppt/presentation.xml" Id="R422fbde971264a5a" /></Relationships>
</file>

<file path=ppt/presentation.xml><?xml version="1.0" encoding="utf-8"?>
<p:presentation xmlns:p="http://schemas.openxmlformats.org/presentationml/2006/main">
  <p:sldMasterIdLst>
    <p:sldMasterId xmlns:r="http://schemas.openxmlformats.org/officeDocument/2006/relationships" id="2147483648" r:id="Ref0f1dba41194fa2"/>
  </p:sldMasterIdLst>
  <p:notesMasterIdLst>
    <p:notesMasterId xmlns:r="http://schemas.openxmlformats.org/officeDocument/2006/relationships" r:id="R01af23654efa47e9"/>
  </p:notesMasterIdLst>
  <p:sldIdLst>
    <p:sldId xmlns:r="http://schemas.openxmlformats.org/officeDocument/2006/relationships" id="256" r:id="R3d112226332c4541"/>
    <p:sldId xmlns:r="http://schemas.openxmlformats.org/officeDocument/2006/relationships" id="257" r:id="R271f79e60ad14fe5"/>
    <p:sldId xmlns:r="http://schemas.openxmlformats.org/officeDocument/2006/relationships" id="258" r:id="R66923060aa8449a5"/>
    <p:sldId xmlns:r="http://schemas.openxmlformats.org/officeDocument/2006/relationships" id="259" r:id="R4dd8cffdfe3f445f"/>
    <p:sldId xmlns:r="http://schemas.openxmlformats.org/officeDocument/2006/relationships" id="260" r:id="R3f7ef232dd424dc5"/>
    <p:sldId xmlns:r="http://schemas.openxmlformats.org/officeDocument/2006/relationships" id="261" r:id="R5eb66c0c99584b72"/>
    <p:sldId xmlns:r="http://schemas.openxmlformats.org/officeDocument/2006/relationships" id="262" r:id="Raad1ba555f1143c8"/>
    <p:sldId xmlns:r="http://schemas.openxmlformats.org/officeDocument/2006/relationships" id="263" r:id="R7fc06b2d99b94d54"/>
    <p:sldId xmlns:r="http://schemas.openxmlformats.org/officeDocument/2006/relationships" id="264" r:id="R5aafd4b683b84a2d"/>
    <p:sldId xmlns:r="http://schemas.openxmlformats.org/officeDocument/2006/relationships" id="265" r:id="R1a3cf866bf7141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52c38649974ac7" /><Relationship Type="http://schemas.openxmlformats.org/officeDocument/2006/relationships/slideMaster" Target="/ppt/slideMasters/slideMaster1.xml" Id="Ref0f1dba41194fa2" /><Relationship Type="http://schemas.openxmlformats.org/officeDocument/2006/relationships/notesMaster" Target="/ppt/notesMasters/notesMaster1.xml" Id="R01af23654efa47e9" /><Relationship Type="http://schemas.openxmlformats.org/officeDocument/2006/relationships/presProps" Target="/ppt/presProps.xml" Id="R829269b689a54c51" /><Relationship Type="http://schemas.openxmlformats.org/officeDocument/2006/relationships/tableStyles" Target="/ppt/tableStyles.xml" Id="R81e9e2f4b44e4f73" /><Relationship Type="http://schemas.openxmlformats.org/officeDocument/2006/relationships/slide" Target="/ppt/slides/slide1.xml" Id="R3d112226332c4541" /><Relationship Type="http://schemas.openxmlformats.org/officeDocument/2006/relationships/slide" Target="/ppt/slides/slide2.xml" Id="R271f79e60ad14fe5" /><Relationship Type="http://schemas.openxmlformats.org/officeDocument/2006/relationships/slide" Target="/ppt/slides/slide3.xml" Id="R66923060aa8449a5" /><Relationship Type="http://schemas.openxmlformats.org/officeDocument/2006/relationships/slide" Target="/ppt/slides/slide4.xml" Id="R4dd8cffdfe3f445f" /><Relationship Type="http://schemas.openxmlformats.org/officeDocument/2006/relationships/slide" Target="/ppt/slides/slide5.xml" Id="R3f7ef232dd424dc5" /><Relationship Type="http://schemas.openxmlformats.org/officeDocument/2006/relationships/slide" Target="/ppt/slides/slide6.xml" Id="R5eb66c0c99584b72" /><Relationship Type="http://schemas.openxmlformats.org/officeDocument/2006/relationships/slide" Target="/ppt/slides/slide7.xml" Id="Raad1ba555f1143c8" /><Relationship Type="http://schemas.openxmlformats.org/officeDocument/2006/relationships/slide" Target="/ppt/slides/slide8.xml" Id="R7fc06b2d99b94d54" /><Relationship Type="http://schemas.openxmlformats.org/officeDocument/2006/relationships/slide" Target="/ppt/slides/slide9.xml" Id="R5aafd4b683b84a2d" /><Relationship Type="http://schemas.openxmlformats.org/officeDocument/2006/relationships/slide" Target="/ppt/slides/slide10.xml" Id="R1a3cf866bf7141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ae70a9dd4e4f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93ac6400ef4896" /><Relationship Type="http://schemas.openxmlformats.org/officeDocument/2006/relationships/notesMaster" Target="/ppt/notesMasters/notesMaster1.xml" Id="R0f27ca306e8d47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f8d2e925a742a2" /><Relationship Type="http://schemas.openxmlformats.org/officeDocument/2006/relationships/notesMaster" Target="/ppt/notesMasters/notesMaster1.xml" Id="R11cd7d1fdedf44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585216426049e4" /><Relationship Type="http://schemas.openxmlformats.org/officeDocument/2006/relationships/notesMaster" Target="/ppt/notesMasters/notesMaster1.xml" Id="R38a748d7a5aa4d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53ce08a7b64491" /><Relationship Type="http://schemas.openxmlformats.org/officeDocument/2006/relationships/notesMaster" Target="/ppt/notesMasters/notesMaster1.xml" Id="Rfad39b8dcfd443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8a6bc95fb5410c" /><Relationship Type="http://schemas.openxmlformats.org/officeDocument/2006/relationships/notesMaster" Target="/ppt/notesMasters/notesMaster1.xml" Id="Rc2b8e511e8c64a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de7638d8904800" /><Relationship Type="http://schemas.openxmlformats.org/officeDocument/2006/relationships/notesMaster" Target="/ppt/notesMasters/notesMaster1.xml" Id="R7f0d66efc31040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60b04262e44325" /><Relationship Type="http://schemas.openxmlformats.org/officeDocument/2006/relationships/notesMaster" Target="/ppt/notesMasters/notesMaster1.xml" Id="R5699ea11491e40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1c1e4761ab42d0" /><Relationship Type="http://schemas.openxmlformats.org/officeDocument/2006/relationships/notesMaster" Target="/ppt/notesMasters/notesMaster1.xml" Id="R1f6a7b6ab59348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b289e3a25246ad" /><Relationship Type="http://schemas.openxmlformats.org/officeDocument/2006/relationships/notesMaster" Target="/ppt/notesMasters/notesMaster1.xml" Id="R806cce02fb184f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4e81244a6f4768" /><Relationship Type="http://schemas.openxmlformats.org/officeDocument/2006/relationships/notesMaster" Target="/ppt/notesMasters/notesMaster1.xml" Id="Rd17e7148f82144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Do not start by saying ‘an AI agent.’ Say what becomes possible for someone stranded between systems: one consented request, followed until evidence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community voices carefully: these are not prevalence statistics. They make the operational burden emotionally concrete. Say: ‘We heard people describe calling 10, even 20 pharmacies—not because they wanted an agent, but because coordination had failed.’</a:t>
            </a:r>
          </a:p>
          <a:p xmlns:a="http://schemas.openxmlformats.org/drawingml/2006/main">
            <a:r>
              <a:t/>
            </a:r>
          </a:p>
          <a:p xmlns:a="http://schemas.openxmlformats.org/drawingml/2006/main">
            <a:r>
              <a:t>[Sources]</a:t>
            </a:r>
          </a:p>
          <a:p xmlns:a="http://schemas.openxmlformats.org/drawingml/2006/main">
            <a:r>
              <a:t>- https://www.reddit.com/r/ADHD/comments/1qnsfdc/medication_shortagesstill/ (community report of calling multiple pharmacies)</a:t>
            </a:r>
          </a:p>
          <a:p xmlns:a="http://schemas.openxmlformats.org/drawingml/2006/main">
            <a:r>
              <a:t>- https://www.reddit.com/r/ADHD/comments/125349s (community report of calling 20+ pharmacies)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 the insight: a smoother bot is not the answer. The solution is an operational memory and an honest completion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three verbs slowly. It is intentionally not five product features. The distinctive thing is the proof condition in step three.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dashboard buttons as you narrate this timeline. The visible proof board is the payoff. For the branch that earns trust, take the unsafe voice path and show it stays out of the green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product screenshot re-created as editable presentation objects. Emphasize that every green check is a deterministic state transition, not an LLM confidence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PAVO in plain language. We do not just route an uncertain turn to a bigger model. We select a safer end-to-end pipeline: transcription, reasoning, structured verification, and a safe stop when the work should remain human.</a:t>
            </a:r>
          </a:p>
          <a:p xmlns:a="http://schemas.openxmlformats.org/drawingml/2006/main">
            <a:r>
              <a:t/>
            </a:r>
          </a:p>
          <a:p xmlns:a="http://schemas.openxmlformats.org/drawingml/2006/main">
            <a:r>
              <a:t>[Sources]</a:t>
            </a:r>
          </a:p>
          <a:p xmlns:a="http://schemas.openxmlformats.org/drawingml/2006/main">
            <a:r>
              <a:t>- https://openreview.net/forum?id=zrneoIxlFx (PAVO: Pipeline-Aware Voice Orchestration with Demand-Conditioned Inference Routing)</a:t>
            </a:r>
          </a:p>
          <a:p xmlns:a="http://schemas.openxmlformats.org/drawingml/2006/main">
            <a:r>
              <a:t>- https://github.com/vnmoorthy/pavo-bench (benchmark and reference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wow technical slide. Walk left→right: public edge, isolated voice process, shared core, dashboard/MCP, counterparts. Emphasize the red safe-stop path never touches live outreach, and the amber telephony adapter fails closed.</a:t>
            </a:r>
          </a:p>
          <a:p xmlns:a="http://schemas.openxmlformats.org/drawingml/2006/main">
            <a:r>
              <a:t/>
            </a:r>
          </a:p>
          <a:p xmlns:a="http://schemas.openxmlformats.org/drawingml/2006/main">
            <a:r>
              <a:t>[Sources]</a:t>
            </a:r>
          </a:p>
          <a:p xmlns:a="http://schemas.openxmlformats.org/drawingml/2006/main">
            <a:r>
              <a:t>- https://github.com/vnmoorthy/rxrelay</a:t>
            </a:r>
          </a:p>
          <a:p xmlns:a="http://schemas.openxmlformats.org/drawingml/2006/main">
            <a:r>
              <a:t>- https://openreview.net/forum?id=zrneoIxlFx</a:t>
            </a:r>
          </a:p>
          <a:p xmlns:a="http://schemas.openxmlformats.org/drawingml/2006/main">
            <a:r>
              <a:t>- https://github.com/vnmoorthy/pavo-bench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should say this unprompted. It is not a disclaimer slide; it is our product position. The guardrails make the product deployable in a high-stakes setting.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on conviction. Invite judges to try the live board and the safety stop. Point to the website and the research lineage so this does not look like a one-weekend toy.</a:t>
            </a:r>
          </a:p>
          <a:p xmlns:a="http://schemas.openxmlformats.org/drawingml/2006/main">
            <a:r>
              <a:t/>
            </a:r>
          </a:p>
          <a:p xmlns:a="http://schemas.openxmlformats.org/drawingml/2006/main">
            <a:r>
              <a:t>[Sources]</a:t>
            </a:r>
          </a:p>
          <a:p xmlns:a="http://schemas.openxmlformats.org/drawingml/2006/main">
            <a:r>
              <a:t>- https://github.com/vnmoorthy/rxrelay</a:t>
            </a:r>
          </a:p>
          <a:p xmlns:a="http://schemas.openxmlformats.org/drawingml/2006/main">
            <a:r>
              <a:t>- https://vnmoorthy.github.io/rxrelay/</a:t>
            </a:r>
          </a:p>
          <a:p xmlns:a="http://schemas.openxmlformats.org/drawingml/2006/main">
            <a:r>
              <a:t>- https://openreview.net/forum?id=zrneoIxlFx</a:t>
            </a:r>
          </a:p>
          <a:p xmlns:a="http://schemas.openxmlformats.org/drawingml/2006/main">
            <a:r>
              <a:t>- https://github.com/vnmoorthy/pavo-bench</a:t>
            </a:r>
          </a:p>
          <a:p xmlns:a="http://schemas.openxmlformats.org/drawingml/2006/main">
            <a:r>
              <a:t>- https://github.com/vnmoorthy/groundtruth</a:t>
            </a:r>
          </a:p>
          <a:p xmlns:a="http://schemas.openxmlformats.org/drawingml/2006/main">
            <a:r>
              <a:t>- https://github.com/vnmoorthy/lifeline</a:t>
            </a:r>
          </a:p>
          <a:p xmlns:a="http://schemas.openxmlformats.org/drawingml/2006/main">
            <a:r>
              <a:t>- https://github.com/vnmoorthy/mcpobservatory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0d209a616742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29070eda924207" /><Relationship Type="http://schemas.openxmlformats.org/officeDocument/2006/relationships/slideLayout" Target="/ppt/slideLayouts/slideLayout1.xml" Id="R25d36ba51aae45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d36ba51aae45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b16872f61044f1" /><Relationship Type="http://schemas.openxmlformats.org/officeDocument/2006/relationships/notesSlide" Target="/ppt/notesSlides/notesSlide1.xml" Id="Re7f637d5bd2846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15fee73107449c" /><Relationship Type="http://schemas.openxmlformats.org/officeDocument/2006/relationships/notesSlide" Target="/ppt/notesSlides/notesSlide2.xml" Id="R1689ac6a6fb745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66eb79a1134941" /><Relationship Type="http://schemas.openxmlformats.org/officeDocument/2006/relationships/notesSlide" Target="/ppt/notesSlides/notesSlide3.xml" Id="R9cb834d5687d4b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e3bbb4862c422b" /><Relationship Type="http://schemas.openxmlformats.org/officeDocument/2006/relationships/notesSlide" Target="/ppt/notesSlides/notesSlide4.xml" Id="Rf8ea3d6d90944b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72c23d36dd4aa1" /><Relationship Type="http://schemas.openxmlformats.org/officeDocument/2006/relationships/notesSlide" Target="/ppt/notesSlides/notesSlide5.xml" Id="Ra6f5bc3ed30f4f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9052e786414160" /><Relationship Type="http://schemas.openxmlformats.org/officeDocument/2006/relationships/notesSlide" Target="/ppt/notesSlides/notesSlide6.xml" Id="R28795850620943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4b06a040fd4cd5" /><Relationship Type="http://schemas.openxmlformats.org/officeDocument/2006/relationships/notesSlide" Target="/ppt/notesSlides/notesSlide7.xml" Id="Rabf22b0f5f9b40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23cf2b4f004411" /><Relationship Type="http://schemas.openxmlformats.org/officeDocument/2006/relationships/notesSlide" Target="/ppt/notesSlides/notesSlide8.xml" Id="R9b8fa4c19f6c45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9b646457cf4fff" /><Relationship Type="http://schemas.openxmlformats.org/officeDocument/2006/relationships/notesSlide" Target="/ppt/notesSlides/notesSlide9.xml" Id="Rb61d2d5134b948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9832b749464d6e" /><Relationship Type="http://schemas.openxmlformats.org/officeDocument/2006/relationships/notesSlide" Target="/ppt/notesSlides/notesSlide10.xml" Id="Rfec3765229fc48e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FE32F41-B3EF-4DAE-B872-A16AA30D468E}"/>
              </a:ext>
            </a:extLst>
          </p:cNvPr>
          <p:cNvSpPr>
            <a:spLocks xmlns:a="http://schemas.openxmlformats.org/drawingml/2006/main" noGrp="1"/>
          </p:cNvSpPr>
          <p:nvPr/>
        </p:nvSpPr>
        <p:spPr>
          <a:xfrm xmlns:a="http://schemas.openxmlformats.org/drawingml/2006/main">
            <a:off x="457200" y="3905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VOICE COORDINATION FOR PRESCRIPTION ACCESS</a:t>
            </a:r>
          </a:p>
        </p:txBody>
      </p:sp>
      <p:sp>
        <p:nvSpPr>
          <p:cNvPr id="2" name="">
            <a:extLst xmlns:a="http://schemas.openxmlformats.org/drawingml/2006/main">
              <a:ext uri="{FF2B5EF4-FFF2-40B4-BE49-F238E27FC236}">
                <a16:creationId xmlns:a16="http://schemas.microsoft.com/office/drawing/2014/main" id="{36B21E0C-C9FA-4D38-BAF1-FC922C160836}"/>
              </a:ext>
            </a:extLst>
          </p:cNvPr>
          <p:cNvSpPr>
            <a:spLocks xmlns:a="http://schemas.openxmlformats.org/drawingml/2006/main" noGrp="1"/>
          </p:cNvSpPr>
          <p:nvPr/>
        </p:nvSpPr>
        <p:spPr>
          <a:xfrm xmlns:a="http://schemas.openxmlformats.org/drawingml/2006/main">
            <a:off x="457200" y="990600"/>
            <a:ext cx="619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600" b="1" i="0">
                <a:solidFill>
                  <a:srgbClr val="0B1F33"/>
                </a:solidFill>
              </a:defRPr>
            </a:pPr>
            <a:r>
              <a:rPr sz="6600" b="1" i="0">
                <a:solidFill>
                  <a:srgbClr val="0B1F33"/>
                </a:solidFill>
              </a:rPr>
              <a:t>RxRelay</a:t>
            </a:r>
          </a:p>
        </p:txBody>
      </p:sp>
      <p:sp>
        <p:nvSpPr>
          <p:cNvPr id="3" name="">
            <a:extLst xmlns:a="http://schemas.openxmlformats.org/drawingml/2006/main">
              <a:ext uri="{FF2B5EF4-FFF2-40B4-BE49-F238E27FC236}">
                <a16:creationId xmlns:a16="http://schemas.microsoft.com/office/drawing/2014/main" id="{43922B6A-FCB3-4F8F-9A56-EA6866C4C0C5}"/>
              </a:ext>
            </a:extLst>
          </p:cNvPr>
          <p:cNvSpPr>
            <a:spLocks xmlns:a="http://schemas.openxmlformats.org/drawingml/2006/main" noGrp="1"/>
          </p:cNvSpPr>
          <p:nvPr/>
        </p:nvSpPr>
        <p:spPr>
          <a:xfrm xmlns:a="http://schemas.openxmlformats.org/drawingml/2006/main">
            <a:off x="457200" y="2057400"/>
            <a:ext cx="685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950" b="1" i="0">
                <a:solidFill>
                  <a:srgbClr val="0B1F33"/>
                </a:solidFill>
              </a:defRPr>
            </a:pPr>
            <a:r>
              <a:rPr sz="4950" b="1" i="0">
                <a:solidFill>
                  <a:srgbClr val="0B1F33"/>
                </a:solidFill>
              </a:rPr>
              <a:t>Make the calls.</a:t>
            </a:r>
          </a:p>
        </p:txBody>
      </p:sp>
      <p:sp>
        <p:nvSpPr>
          <p:cNvPr id="4" name="">
            <a:extLst xmlns:a="http://schemas.openxmlformats.org/drawingml/2006/main">
              <a:ext uri="{FF2B5EF4-FFF2-40B4-BE49-F238E27FC236}">
                <a16:creationId xmlns:a16="http://schemas.microsoft.com/office/drawing/2014/main" id="{F65FEF37-0598-4F6C-B6D9-29CB8550E9BE}"/>
              </a:ext>
            </a:extLst>
          </p:cNvPr>
          <p:cNvSpPr>
            <a:spLocks xmlns:a="http://schemas.openxmlformats.org/drawingml/2006/main" noGrp="1"/>
          </p:cNvSpPr>
          <p:nvPr/>
        </p:nvSpPr>
        <p:spPr>
          <a:xfrm xmlns:a="http://schemas.openxmlformats.org/drawingml/2006/main">
            <a:off x="457200" y="2771775"/>
            <a:ext cx="7620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950" b="0" i="1">
                <a:solidFill>
                  <a:srgbClr val="0E9F8E"/>
                </a:solidFill>
              </a:defRPr>
            </a:pPr>
            <a:r>
              <a:rPr sz="4950" b="0" i="1">
                <a:solidFill>
                  <a:srgbClr val="0E9F8E"/>
                </a:solidFill>
              </a:rPr>
              <a:t>Bring the proof.</a:t>
            </a:r>
          </a:p>
        </p:txBody>
      </p:sp>
      <p:sp>
        <p:nvSpPr>
          <p:cNvPr id="5" name="">
            <a:extLst xmlns:a="http://schemas.openxmlformats.org/drawingml/2006/main">
              <a:ext uri="{FF2B5EF4-FFF2-40B4-BE49-F238E27FC236}">
                <a16:creationId xmlns:a16="http://schemas.microsoft.com/office/drawing/2014/main" id="{C9FA33F3-A47C-4174-8741-EBF4BFAA586D}"/>
              </a:ext>
            </a:extLst>
          </p:cNvPr>
          <p:cNvSpPr>
            <a:spLocks xmlns:a="http://schemas.openxmlformats.org/drawingml/2006/main" noGrp="1"/>
          </p:cNvSpPr>
          <p:nvPr/>
        </p:nvSpPr>
        <p:spPr>
          <a:xfrm xmlns:a="http://schemas.openxmlformats.org/drawingml/2006/main">
            <a:off x="495300" y="3819525"/>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F6D80"/>
                </a:solidFill>
              </a:defRPr>
            </a:pPr>
            <a:r>
              <a:rPr sz="1500" b="0" i="0">
                <a:solidFill>
                  <a:srgbClr val="5F6D80"/>
                </a:solidFill>
              </a:rPr>
              <a:t>A consent-first voice agent that coordinates pharmacy, clinic, and insurer follow-ups—and refuses to call a case resolved without evidence.</a:t>
            </a:r>
          </a:p>
        </p:txBody>
      </p:sp>
      <p:sp>
        <p:nvSpPr>
          <p:cNvPr id="6" name="">
            <a:extLst xmlns:a="http://schemas.openxmlformats.org/drawingml/2006/main">
              <a:ext uri="{FF2B5EF4-FFF2-40B4-BE49-F238E27FC236}">
                <a16:creationId xmlns:a16="http://schemas.microsoft.com/office/drawing/2014/main" id="{FA46CDD3-3126-4DDF-B5BE-DF5CC19DA285}"/>
              </a:ext>
            </a:extLst>
          </p:cNvPr>
          <p:cNvSpPr>
            <a:spLocks xmlns:a="http://schemas.openxmlformats.org/drawingml/2006/main" noGrp="1"/>
          </p:cNvSpPr>
          <p:nvPr/>
        </p:nvSpPr>
        <p:spPr>
          <a:xfrm xmlns:a="http://schemas.openxmlformats.org/drawingml/2006/main">
            <a:off x="485775" y="4857750"/>
            <a:ext cx="2000250" cy="238125"/>
          </a:xfrm>
          <a:prstGeom xmlns:a="http://schemas.openxmlformats.org/drawingml/2006/main" prst="roundRect">
            <a:avLst>
              <a:gd name="adj" fmla="val 50000"/>
            </a:avLst>
          </a:prstGeom>
          <a:solidFill xmlns:a="http://schemas.openxmlformats.org/drawingml/2006/main">
            <a:srgbClr val="DCF6F0"/>
          </a:solidFill>
          <a:ln xmlns:a="http://schemas.openxmlformats.org/drawingml/2006/main" w="0">
            <a:solidFill>
              <a:srgbClr val="DCF6F0"/>
            </a:solidFill>
            <a:prstDash val="solid"/>
          </a:ln>
        </p:spPr>
      </p:sp>
      <p:sp>
        <p:nvSpPr>
          <p:cNvPr id="7" name="">
            <a:extLst xmlns:a="http://schemas.openxmlformats.org/drawingml/2006/main">
              <a:ext uri="{FF2B5EF4-FFF2-40B4-BE49-F238E27FC236}">
                <a16:creationId xmlns:a16="http://schemas.microsoft.com/office/drawing/2014/main" id="{FA83FF17-D1D2-4AB2-AE97-652D4C8B31A4}"/>
              </a:ext>
            </a:extLst>
          </p:cNvPr>
          <p:cNvSpPr>
            <a:spLocks xmlns:a="http://schemas.openxmlformats.org/drawingml/2006/main" noGrp="1"/>
          </p:cNvSpPr>
          <p:nvPr/>
        </p:nvSpPr>
        <p:spPr>
          <a:xfrm xmlns:a="http://schemas.openxmlformats.org/drawingml/2006/main">
            <a:off x="581025" y="4914900"/>
            <a:ext cx="1809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0E9F8E"/>
                </a:solidFill>
              </a:defRPr>
            </a:pPr>
            <a:r>
              <a:rPr sz="750" b="1" i="0">
                <a:solidFill>
                  <a:srgbClr val="0E9F8E"/>
                </a:solidFill>
              </a:rPr>
              <a:t>PAVO-POWERED ROUTING</a:t>
            </a:r>
          </a:p>
        </p:txBody>
      </p:sp>
      <p:sp>
        <p:nvSpPr>
          <p:cNvPr id="8" name="">
            <a:extLst xmlns:a="http://schemas.openxmlformats.org/drawingml/2006/main">
              <a:ext uri="{FF2B5EF4-FFF2-40B4-BE49-F238E27FC236}">
                <a16:creationId xmlns:a16="http://schemas.microsoft.com/office/drawing/2014/main" id="{7038EB4B-73FD-4890-98A2-0D25787A7982}"/>
              </a:ext>
            </a:extLst>
          </p:cNvPr>
          <p:cNvSpPr>
            <a:spLocks xmlns:a="http://schemas.openxmlformats.org/drawingml/2006/main" noGrp="1"/>
          </p:cNvSpPr>
          <p:nvPr/>
        </p:nvSpPr>
        <p:spPr>
          <a:xfrm xmlns:a="http://schemas.openxmlformats.org/drawingml/2006/main">
            <a:off x="2590800" y="4857750"/>
            <a:ext cx="1524000" cy="238125"/>
          </a:xfrm>
          <a:prstGeom xmlns:a="http://schemas.openxmlformats.org/drawingml/2006/main" prst="roundRect">
            <a:avLst>
              <a:gd name="adj" fmla="val 50000"/>
            </a:avLst>
          </a:prstGeom>
          <a:solidFill xmlns:a="http://schemas.openxmlformats.org/drawingml/2006/main">
            <a:srgbClr val="E5F0FF"/>
          </a:solidFill>
          <a:ln xmlns:a="http://schemas.openxmlformats.org/drawingml/2006/main" w="0">
            <a:solidFill>
              <a:srgbClr val="E5F0FF"/>
            </a:solidFill>
            <a:prstDash val="solid"/>
          </a:ln>
        </p:spPr>
      </p:sp>
      <p:sp>
        <p:nvSpPr>
          <p:cNvPr id="9" name="">
            <a:extLst xmlns:a="http://schemas.openxmlformats.org/drawingml/2006/main">
              <a:ext uri="{FF2B5EF4-FFF2-40B4-BE49-F238E27FC236}">
                <a16:creationId xmlns:a16="http://schemas.microsoft.com/office/drawing/2014/main" id="{F738877B-A0B7-4793-81FC-3DBB67053E19}"/>
              </a:ext>
            </a:extLst>
          </p:cNvPr>
          <p:cNvSpPr>
            <a:spLocks xmlns:a="http://schemas.openxmlformats.org/drawingml/2006/main" noGrp="1"/>
          </p:cNvSpPr>
          <p:nvPr/>
        </p:nvSpPr>
        <p:spPr>
          <a:xfrm xmlns:a="http://schemas.openxmlformats.org/drawingml/2006/main">
            <a:off x="2686050" y="4914900"/>
            <a:ext cx="1333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3D8DFF"/>
                </a:solidFill>
              </a:defRPr>
            </a:pPr>
            <a:r>
              <a:rPr sz="750" b="1" i="0">
                <a:solidFill>
                  <a:srgbClr val="3D8DFF"/>
                </a:solidFill>
              </a:rPr>
              <a:t>EVIDENCE-GATED</a:t>
            </a:r>
          </a:p>
        </p:txBody>
      </p:sp>
      <p:sp>
        <p:nvSpPr>
          <p:cNvPr id="10" name="">
            <a:extLst xmlns:a="http://schemas.openxmlformats.org/drawingml/2006/main">
              <a:ext uri="{FF2B5EF4-FFF2-40B4-BE49-F238E27FC236}">
                <a16:creationId xmlns:a16="http://schemas.microsoft.com/office/drawing/2014/main" id="{B2C799B1-7D0D-425C-9B22-C7611D836B0B}"/>
              </a:ext>
            </a:extLst>
          </p:cNvPr>
          <p:cNvSpPr>
            <a:spLocks xmlns:a="http://schemas.openxmlformats.org/drawingml/2006/main" noGrp="1"/>
          </p:cNvSpPr>
          <p:nvPr/>
        </p:nvSpPr>
        <p:spPr>
          <a:xfrm xmlns:a="http://schemas.openxmlformats.org/drawingml/2006/main">
            <a:off x="7753350" y="1123950"/>
            <a:ext cx="3352800" cy="4000500"/>
          </a:xfrm>
          <a:prstGeom xmlns:a="http://schemas.openxmlformats.org/drawingml/2006/main" prst="roundRect">
            <a:avLst>
              <a:gd name="adj" fmla="val 3409"/>
            </a:avLst>
          </a:prstGeom>
          <a:solidFill xmlns:a="http://schemas.openxmlformats.org/drawingml/2006/main">
            <a:srgbClr val="071A2B"/>
          </a:solidFill>
          <a:ln xmlns:a="http://schemas.openxmlformats.org/drawingml/2006/main" w="9525">
            <a:solidFill>
              <a:srgbClr val="071A2B"/>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3339CCF-1A8A-4EA3-83E4-3B95B261EC37}"/>
              </a:ext>
            </a:extLst>
          </p:cNvPr>
          <p:cNvSpPr>
            <a:spLocks xmlns:a="http://schemas.openxmlformats.org/drawingml/2006/main" noGrp="1"/>
          </p:cNvSpPr>
          <p:nvPr/>
        </p:nvSpPr>
        <p:spPr>
          <a:xfrm xmlns:a="http://schemas.openxmlformats.org/drawingml/2006/main">
            <a:off x="8096250" y="151447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9FB6C9"/>
                </a:solidFill>
              </a:defRPr>
            </a:pPr>
            <a:r>
              <a:rPr sz="900" b="1" i="0">
                <a:solidFill>
                  <a:srgbClr val="9FB6C9"/>
                </a:solidFill>
              </a:rPr>
              <a:t>RESOLUTION</a:t>
            </a:r>
          </a:p>
          <a:p xmlns:a="http://schemas.openxmlformats.org/drawingml/2006/main">
            <a:pPr algn="l">
              <a:defRPr sz="900" b="1" i="0">
                <a:solidFill>
                  <a:srgbClr val="9FB6C9"/>
                </a:solidFill>
              </a:defRPr>
            </a:pPr>
            <a:r>
              <a:rPr sz="900" b="1" i="0">
                <a:solidFill>
                  <a:srgbClr val="9FB6C9"/>
                </a:solidFill>
              </a:rPr>
              <a:t>PROOF</a:t>
            </a:r>
          </a:p>
        </p:txBody>
      </p:sp>
      <p:sp>
        <p:nvSpPr>
          <p:cNvPr id="12" name="">
            <a:extLst xmlns:a="http://schemas.openxmlformats.org/drawingml/2006/main">
              <a:ext uri="{FF2B5EF4-FFF2-40B4-BE49-F238E27FC236}">
                <a16:creationId xmlns:a16="http://schemas.microsoft.com/office/drawing/2014/main" id="{7CBDBA7F-2E4B-445F-AC52-AABE56D84BD7}"/>
              </a:ext>
            </a:extLst>
          </p:cNvPr>
          <p:cNvSpPr>
            <a:spLocks xmlns:a="http://schemas.openxmlformats.org/drawingml/2006/main" noGrp="1"/>
          </p:cNvSpPr>
          <p:nvPr/>
        </p:nvSpPr>
        <p:spPr>
          <a:xfrm xmlns:a="http://schemas.openxmlformats.org/drawingml/2006/main">
            <a:off x="8096250" y="2305050"/>
            <a:ext cx="266700" cy="266700"/>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13" name="">
            <a:extLst xmlns:a="http://schemas.openxmlformats.org/drawingml/2006/main">
              <a:ext uri="{FF2B5EF4-FFF2-40B4-BE49-F238E27FC236}">
                <a16:creationId xmlns:a16="http://schemas.microsoft.com/office/drawing/2014/main" id="{797B7A02-5ECC-41E4-9E68-5FB8B20AF29E}"/>
              </a:ext>
            </a:extLst>
          </p:cNvPr>
          <p:cNvSpPr>
            <a:spLocks xmlns:a="http://schemas.openxmlformats.org/drawingml/2006/main" noGrp="1"/>
          </p:cNvSpPr>
          <p:nvPr/>
        </p:nvSpPr>
        <p:spPr>
          <a:xfrm xmlns:a="http://schemas.openxmlformats.org/drawingml/2006/main">
            <a:off x="8162925" y="23526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14" name="">
            <a:extLst xmlns:a="http://schemas.openxmlformats.org/drawingml/2006/main">
              <a:ext uri="{FF2B5EF4-FFF2-40B4-BE49-F238E27FC236}">
                <a16:creationId xmlns:a16="http://schemas.microsoft.com/office/drawing/2014/main" id="{E0DFF2F4-55D2-4438-92AC-F1D65879B69F}"/>
              </a:ext>
            </a:extLst>
          </p:cNvPr>
          <p:cNvSpPr>
            <a:spLocks xmlns:a="http://schemas.openxmlformats.org/drawingml/2006/main" noGrp="1"/>
          </p:cNvSpPr>
          <p:nvPr/>
        </p:nvSpPr>
        <p:spPr>
          <a:xfrm xmlns:a="http://schemas.openxmlformats.org/drawingml/2006/main">
            <a:off x="8515350" y="23526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Consent recorded</a:t>
            </a:r>
          </a:p>
        </p:txBody>
      </p:sp>
      <p:sp>
        <p:nvSpPr>
          <p:cNvPr id="15" name="">
            <a:extLst xmlns:a="http://schemas.openxmlformats.org/drawingml/2006/main">
              <a:ext uri="{FF2B5EF4-FFF2-40B4-BE49-F238E27FC236}">
                <a16:creationId xmlns:a16="http://schemas.microsoft.com/office/drawing/2014/main" id="{28059225-8A26-4CD8-81D1-18D0007039EC}"/>
              </a:ext>
            </a:extLst>
          </p:cNvPr>
          <p:cNvSpPr>
            <a:spLocks xmlns:a="http://schemas.openxmlformats.org/drawingml/2006/main" noGrp="1"/>
          </p:cNvSpPr>
          <p:nvPr/>
        </p:nvSpPr>
        <p:spPr>
          <a:xfrm xmlns:a="http://schemas.openxmlformats.org/drawingml/2006/main">
            <a:off x="8096250" y="2838450"/>
            <a:ext cx="266700" cy="266700"/>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16" name="">
            <a:extLst xmlns:a="http://schemas.openxmlformats.org/drawingml/2006/main">
              <a:ext uri="{FF2B5EF4-FFF2-40B4-BE49-F238E27FC236}">
                <a16:creationId xmlns:a16="http://schemas.microsoft.com/office/drawing/2014/main" id="{8B4199D1-1519-4D9F-9A43-8410A7A04C0B}"/>
              </a:ext>
            </a:extLst>
          </p:cNvPr>
          <p:cNvSpPr>
            <a:spLocks xmlns:a="http://schemas.openxmlformats.org/drawingml/2006/main" noGrp="1"/>
          </p:cNvSpPr>
          <p:nvPr/>
        </p:nvSpPr>
        <p:spPr>
          <a:xfrm xmlns:a="http://schemas.openxmlformats.org/drawingml/2006/main">
            <a:off x="8162925" y="28860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17" name="">
            <a:extLst xmlns:a="http://schemas.openxmlformats.org/drawingml/2006/main">
              <a:ext uri="{FF2B5EF4-FFF2-40B4-BE49-F238E27FC236}">
                <a16:creationId xmlns:a16="http://schemas.microsoft.com/office/drawing/2014/main" id="{7A2BA0D9-5693-46E8-A61E-3745C90E1E02}"/>
              </a:ext>
            </a:extLst>
          </p:cNvPr>
          <p:cNvSpPr>
            <a:spLocks xmlns:a="http://schemas.openxmlformats.org/drawingml/2006/main" noGrp="1"/>
          </p:cNvSpPr>
          <p:nvPr/>
        </p:nvSpPr>
        <p:spPr>
          <a:xfrm xmlns:a="http://schemas.openxmlformats.org/drawingml/2006/main">
            <a:off x="8515350" y="28860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Permitted action</a:t>
            </a:r>
          </a:p>
        </p:txBody>
      </p:sp>
      <p:sp>
        <p:nvSpPr>
          <p:cNvPr id="18" name="">
            <a:extLst xmlns:a="http://schemas.openxmlformats.org/drawingml/2006/main">
              <a:ext uri="{FF2B5EF4-FFF2-40B4-BE49-F238E27FC236}">
                <a16:creationId xmlns:a16="http://schemas.microsoft.com/office/drawing/2014/main" id="{4BD85DDD-EA99-4EB1-9C20-72CFB49D218A}"/>
              </a:ext>
            </a:extLst>
          </p:cNvPr>
          <p:cNvSpPr>
            <a:spLocks xmlns:a="http://schemas.openxmlformats.org/drawingml/2006/main" noGrp="1"/>
          </p:cNvSpPr>
          <p:nvPr/>
        </p:nvSpPr>
        <p:spPr>
          <a:xfrm xmlns:a="http://schemas.openxmlformats.org/drawingml/2006/main">
            <a:off x="8096250" y="3371850"/>
            <a:ext cx="266700" cy="266700"/>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19" name="">
            <a:extLst xmlns:a="http://schemas.openxmlformats.org/drawingml/2006/main">
              <a:ext uri="{FF2B5EF4-FFF2-40B4-BE49-F238E27FC236}">
                <a16:creationId xmlns:a16="http://schemas.microsoft.com/office/drawing/2014/main" id="{A57DE4AE-9514-4BE6-899E-1C0D527F2E3A}"/>
              </a:ext>
            </a:extLst>
          </p:cNvPr>
          <p:cNvSpPr>
            <a:spLocks xmlns:a="http://schemas.openxmlformats.org/drawingml/2006/main" noGrp="1"/>
          </p:cNvSpPr>
          <p:nvPr/>
        </p:nvSpPr>
        <p:spPr>
          <a:xfrm xmlns:a="http://schemas.openxmlformats.org/drawingml/2006/main">
            <a:off x="8162925" y="34194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20" name="">
            <a:extLst xmlns:a="http://schemas.openxmlformats.org/drawingml/2006/main">
              <a:ext uri="{FF2B5EF4-FFF2-40B4-BE49-F238E27FC236}">
                <a16:creationId xmlns:a16="http://schemas.microsoft.com/office/drawing/2014/main" id="{12E17B73-9B19-42B4-A55A-4D1F95C4069D}"/>
              </a:ext>
            </a:extLst>
          </p:cNvPr>
          <p:cNvSpPr>
            <a:spLocks xmlns:a="http://schemas.openxmlformats.org/drawingml/2006/main" noGrp="1"/>
          </p:cNvSpPr>
          <p:nvPr/>
        </p:nvSpPr>
        <p:spPr>
          <a:xfrm xmlns:a="http://schemas.openxmlformats.org/drawingml/2006/main">
            <a:off x="8515350" y="34194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Counterpart outcome</a:t>
            </a:r>
          </a:p>
        </p:txBody>
      </p:sp>
      <p:sp>
        <p:nvSpPr>
          <p:cNvPr id="21" name="">
            <a:extLst xmlns:a="http://schemas.openxmlformats.org/drawingml/2006/main">
              <a:ext uri="{FF2B5EF4-FFF2-40B4-BE49-F238E27FC236}">
                <a16:creationId xmlns:a16="http://schemas.microsoft.com/office/drawing/2014/main" id="{2E574388-FE02-4786-BF17-50A5A9EA1D12}"/>
              </a:ext>
            </a:extLst>
          </p:cNvPr>
          <p:cNvSpPr>
            <a:spLocks xmlns:a="http://schemas.openxmlformats.org/drawingml/2006/main" noGrp="1"/>
          </p:cNvSpPr>
          <p:nvPr/>
        </p:nvSpPr>
        <p:spPr>
          <a:xfrm xmlns:a="http://schemas.openxmlformats.org/drawingml/2006/main">
            <a:off x="8096250" y="3905250"/>
            <a:ext cx="266700" cy="266700"/>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22" name="">
            <a:extLst xmlns:a="http://schemas.openxmlformats.org/drawingml/2006/main">
              <a:ext uri="{FF2B5EF4-FFF2-40B4-BE49-F238E27FC236}">
                <a16:creationId xmlns:a16="http://schemas.microsoft.com/office/drawing/2014/main" id="{435B9E5A-FDD4-4E99-9EBD-4A786D898540}"/>
              </a:ext>
            </a:extLst>
          </p:cNvPr>
          <p:cNvSpPr>
            <a:spLocks xmlns:a="http://schemas.openxmlformats.org/drawingml/2006/main" noGrp="1"/>
          </p:cNvSpPr>
          <p:nvPr/>
        </p:nvSpPr>
        <p:spPr>
          <a:xfrm xmlns:a="http://schemas.openxmlformats.org/drawingml/2006/main">
            <a:off x="8162925" y="39528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23" name="">
            <a:extLst xmlns:a="http://schemas.openxmlformats.org/drawingml/2006/main">
              <a:ext uri="{FF2B5EF4-FFF2-40B4-BE49-F238E27FC236}">
                <a16:creationId xmlns:a16="http://schemas.microsoft.com/office/drawing/2014/main" id="{8DDE432D-88B3-4F6C-B7E2-157F962B3EA9}"/>
              </a:ext>
            </a:extLst>
          </p:cNvPr>
          <p:cNvSpPr>
            <a:spLocks xmlns:a="http://schemas.openxmlformats.org/drawingml/2006/main" noGrp="1"/>
          </p:cNvSpPr>
          <p:nvPr/>
        </p:nvSpPr>
        <p:spPr>
          <a:xfrm xmlns:a="http://schemas.openxmlformats.org/drawingml/2006/main">
            <a:off x="8515350" y="39528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Patient update</a:t>
            </a:r>
          </a:p>
        </p:txBody>
      </p:sp>
      <p:sp>
        <p:nvSpPr>
          <p:cNvPr id="24" name="">
            <a:extLst xmlns:a="http://schemas.openxmlformats.org/drawingml/2006/main">
              <a:ext uri="{FF2B5EF4-FFF2-40B4-BE49-F238E27FC236}">
                <a16:creationId xmlns:a16="http://schemas.microsoft.com/office/drawing/2014/main" id="{10D58CE2-91B4-4C0A-B411-8F090E3FB676}"/>
              </a:ext>
            </a:extLst>
          </p:cNvPr>
          <p:cNvSpPr>
            <a:spLocks xmlns:a="http://schemas.openxmlformats.org/drawingml/2006/main" noGrp="1"/>
          </p:cNvSpPr>
          <p:nvPr/>
        </p:nvSpPr>
        <p:spPr>
          <a:xfrm xmlns:a="http://schemas.openxmlformats.org/drawingml/2006/main">
            <a:off x="8096250" y="4581525"/>
            <a:ext cx="2667000" cy="9525"/>
          </a:xfrm>
          <a:prstGeom xmlns:a="http://schemas.openxmlformats.org/drawingml/2006/main" prst="rect">
            <a:avLst/>
          </a:prstGeom>
          <a:solidFill xmlns:a="http://schemas.openxmlformats.org/drawingml/2006/main">
            <a:srgbClr val="34516A"/>
          </a:solidFill>
          <a:ln xmlns:a="http://schemas.openxmlformats.org/drawingml/2006/main" w="0">
            <a:solidFill>
              <a:srgbClr val="34516A"/>
            </a:solidFill>
            <a:prstDash val="solid"/>
          </a:ln>
        </p:spPr>
      </p:sp>
      <p:sp>
        <p:nvSpPr>
          <p:cNvPr id="25" name="">
            <a:extLst xmlns:a="http://schemas.openxmlformats.org/drawingml/2006/main">
              <a:ext uri="{FF2B5EF4-FFF2-40B4-BE49-F238E27FC236}">
                <a16:creationId xmlns:a16="http://schemas.microsoft.com/office/drawing/2014/main" id="{7FAEE5FE-1211-4076-9352-B1E02D4BB577}"/>
              </a:ext>
            </a:extLst>
          </p:cNvPr>
          <p:cNvSpPr>
            <a:spLocks xmlns:a="http://schemas.openxmlformats.org/drawingml/2006/main" noGrp="1"/>
          </p:cNvSpPr>
          <p:nvPr/>
        </p:nvSpPr>
        <p:spPr>
          <a:xfrm xmlns:a="http://schemas.openxmlformats.org/drawingml/2006/main">
            <a:off x="8096250" y="473392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AEEADE"/>
                </a:solidFill>
              </a:defRPr>
            </a:pPr>
            <a:r>
              <a:rPr sz="975" b="0" i="0">
                <a:solidFill>
                  <a:srgbClr val="AEEADE"/>
                </a:solidFill>
              </a:rPr>
              <a:t>No evidence missing.</a:t>
            </a:r>
          </a:p>
          <a:p xmlns:a="http://schemas.openxmlformats.org/drawingml/2006/main">
            <a:pPr algn="l">
              <a:defRPr sz="975" b="0" i="0">
                <a:solidFill>
                  <a:srgbClr val="AEEADE"/>
                </a:solidFill>
              </a:defRPr>
            </a:pPr>
            <a:r>
              <a:rPr sz="975" b="0" i="0">
                <a:solidFill>
                  <a:srgbClr val="AEEADE"/>
                </a:solidFill>
              </a:rPr>
              <a:t>Case can turn green.</a:t>
            </a:r>
          </a:p>
        </p:txBody>
      </p:sp>
      <p:sp>
        <p:nvSpPr>
          <p:cNvPr id="26" name="">
            <a:extLst xmlns:a="http://schemas.openxmlformats.org/drawingml/2006/main">
              <a:ext uri="{FF2B5EF4-FFF2-40B4-BE49-F238E27FC236}">
                <a16:creationId xmlns:a16="http://schemas.microsoft.com/office/drawing/2014/main" id="{9398198E-1A1A-4849-AE28-AE25AAE93E9E}"/>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Proof, not promises.</a:t>
            </a:r>
          </a:p>
        </p:txBody>
      </p:sp>
      <p:sp>
        <p:nvSpPr>
          <p:cNvPr id="27" name="">
            <a:extLst xmlns:a="http://schemas.openxmlformats.org/drawingml/2006/main">
              <a:ext uri="{FF2B5EF4-FFF2-40B4-BE49-F238E27FC236}">
                <a16:creationId xmlns:a16="http://schemas.microsoft.com/office/drawing/2014/main" id="{CC68B182-51AE-43A5-994D-9C14C1BDFB46}"/>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5900854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FD26610-BAE1-4DAC-8165-C4B3A8B4EF8F}"/>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THE HUMAN COST</a:t>
            </a:r>
          </a:p>
        </p:txBody>
      </p:sp>
      <p:sp>
        <p:nvSpPr>
          <p:cNvPr id="2" name="">
            <a:extLst xmlns:a="http://schemas.openxmlformats.org/drawingml/2006/main">
              <a:ext uri="{FF2B5EF4-FFF2-40B4-BE49-F238E27FC236}">
                <a16:creationId xmlns:a16="http://schemas.microsoft.com/office/drawing/2014/main" id="{8C273754-52F0-4439-84B1-C4BB446582E3}"/>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D80"/>
                </a:solidFill>
              </a:defRPr>
            </a:pPr>
            <a:r>
              <a:rPr sz="750" b="1" i="0">
                <a:solidFill>
                  <a:srgbClr val="5F6D80"/>
                </a:solidFill>
              </a:rPr>
              <a:t>RXRELAY  /  02</a:t>
            </a:r>
          </a:p>
        </p:txBody>
      </p:sp>
      <p:sp>
        <p:nvSpPr>
          <p:cNvPr id="3" name="">
            <a:extLst xmlns:a="http://schemas.openxmlformats.org/drawingml/2006/main">
              <a:ext uri="{FF2B5EF4-FFF2-40B4-BE49-F238E27FC236}">
                <a16:creationId xmlns:a16="http://schemas.microsoft.com/office/drawing/2014/main" id="{60B5EA3C-3D59-4FE3-A506-5C58E0E5C64F}"/>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4" name="title">
            <a:extLst xmlns:a="http://schemas.openxmlformats.org/drawingml/2006/main">
              <a:ext uri="{FF2B5EF4-FFF2-40B4-BE49-F238E27FC236}">
                <a16:creationId xmlns:a16="http://schemas.microsoft.com/office/drawing/2014/main" id="{7C48EE4D-D3F2-49E1-BA5C-EF52B4573050}"/>
              </a:ext>
            </a:extLst>
          </p:cNvPr>
          <p:cNvSpPr>
            <a:spLocks xmlns:a="http://schemas.openxmlformats.org/drawingml/2006/main" noGrp="1"/>
          </p:cNvSpPr>
          <p:nvPr/>
        </p:nvSpPr>
        <p:spPr>
          <a:xfrm xmlns:a="http://schemas.openxmlformats.org/drawingml/2006/main">
            <a:off x="457200" y="876300"/>
            <a:ext cx="8096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75" b="1" i="0">
                <a:solidFill>
                  <a:srgbClr val="0B1F33"/>
                </a:solidFill>
              </a:defRPr>
            </a:pPr>
            <a:r>
              <a:rPr sz="3975" b="1" i="0">
                <a:solidFill>
                  <a:srgbClr val="0B1F33"/>
                </a:solidFill>
              </a:rPr>
              <a:t>The patient becomes the switchboard.</a:t>
            </a:r>
          </a:p>
        </p:txBody>
      </p:sp>
      <p:sp>
        <p:nvSpPr>
          <p:cNvPr id="5" name="subtitle">
            <a:extLst xmlns:a="http://schemas.openxmlformats.org/drawingml/2006/main">
              <a:ext uri="{FF2B5EF4-FFF2-40B4-BE49-F238E27FC236}">
                <a16:creationId xmlns:a16="http://schemas.microsoft.com/office/drawing/2014/main" id="{29B0EC8D-D7AA-4F8B-AA9D-AD5156E60197}"/>
              </a:ext>
            </a:extLst>
          </p:cNvPr>
          <p:cNvSpPr>
            <a:spLocks xmlns:a="http://schemas.openxmlformats.org/drawingml/2006/main" noGrp="1"/>
          </p:cNvSpPr>
          <p:nvPr/>
        </p:nvSpPr>
        <p:spPr>
          <a:xfrm xmlns:a="http://schemas.openxmlformats.org/drawingml/2006/main">
            <a:off x="457200" y="2057400"/>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D80"/>
                </a:solidFill>
              </a:defRPr>
            </a:pPr>
            <a:r>
              <a:rPr sz="1350" b="0" i="0">
                <a:solidFill>
                  <a:srgbClr val="5F6D80"/>
                </a:solidFill>
              </a:rPr>
              <a:t>When a prescription stalls, the person who needs it is often left to repeat the same story across pharmacy, clinic, and insurer.</a:t>
            </a:r>
          </a:p>
        </p:txBody>
      </p:sp>
      <p:sp>
        <p:nvSpPr>
          <p:cNvPr id="6" name="">
            <a:extLst xmlns:a="http://schemas.openxmlformats.org/drawingml/2006/main">
              <a:ext uri="{FF2B5EF4-FFF2-40B4-BE49-F238E27FC236}">
                <a16:creationId xmlns:a16="http://schemas.microsoft.com/office/drawing/2014/main" id="{707D2CBE-7401-4B05-9890-09B6942DA4A4}"/>
              </a:ext>
            </a:extLst>
          </p:cNvPr>
          <p:cNvSpPr>
            <a:spLocks xmlns:a="http://schemas.openxmlformats.org/drawingml/2006/main" noGrp="1"/>
          </p:cNvSpPr>
          <p:nvPr/>
        </p:nvSpPr>
        <p:spPr>
          <a:xfrm xmlns:a="http://schemas.openxmlformats.org/drawingml/2006/main">
            <a:off x="476250" y="3162300"/>
            <a:ext cx="2809875" cy="1428750"/>
          </a:xfrm>
          <a:prstGeom xmlns:a="http://schemas.openxmlformats.org/drawingml/2006/main" prst="roundRect">
            <a:avLst>
              <a:gd name="adj" fmla="val 8000"/>
            </a:avLst>
          </a:prstGeom>
          <a:solidFill xmlns:a="http://schemas.openxmlformats.org/drawingml/2006/main">
            <a:srgbClr val="FFF1D7"/>
          </a:solidFill>
          <a:ln xmlns:a="http://schemas.openxmlformats.org/drawingml/2006/main" w="9525">
            <a:solidFill>
              <a:srgbClr val="FFF1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A750D85-D5C0-45DC-B51F-04CD9FB9E9A1}"/>
              </a:ext>
            </a:extLst>
          </p:cNvPr>
          <p:cNvSpPr>
            <a:spLocks xmlns:a="http://schemas.openxmlformats.org/drawingml/2006/main" noGrp="1"/>
          </p:cNvSpPr>
          <p:nvPr/>
        </p:nvSpPr>
        <p:spPr>
          <a:xfrm xmlns:a="http://schemas.openxmlformats.org/drawingml/2006/main">
            <a:off x="685800" y="34004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E6A037"/>
                </a:solidFill>
              </a:defRPr>
            </a:pPr>
            <a:r>
              <a:rPr sz="750" b="1" i="0">
                <a:solidFill>
                  <a:srgbClr val="E6A037"/>
                </a:solidFill>
              </a:rPr>
              <a:t>PHARMACY</a:t>
            </a:r>
          </a:p>
        </p:txBody>
      </p:sp>
      <p:sp>
        <p:nvSpPr>
          <p:cNvPr id="8" name="">
            <a:extLst xmlns:a="http://schemas.openxmlformats.org/drawingml/2006/main">
              <a:ext uri="{FF2B5EF4-FFF2-40B4-BE49-F238E27FC236}">
                <a16:creationId xmlns:a16="http://schemas.microsoft.com/office/drawing/2014/main" id="{BB1C2FF6-F8BB-467A-8031-C3453A02ECD7}"/>
              </a:ext>
            </a:extLst>
          </p:cNvPr>
          <p:cNvSpPr>
            <a:spLocks xmlns:a="http://schemas.openxmlformats.org/drawingml/2006/main" noGrp="1"/>
          </p:cNvSpPr>
          <p:nvPr/>
        </p:nvSpPr>
        <p:spPr>
          <a:xfrm xmlns:a="http://schemas.openxmlformats.org/drawingml/2006/main">
            <a:off x="685800" y="3800475"/>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“We need a prior authorization.”</a:t>
            </a:r>
          </a:p>
        </p:txBody>
      </p:sp>
      <p:sp>
        <p:nvSpPr>
          <p:cNvPr id="9" name="">
            <a:extLst xmlns:a="http://schemas.openxmlformats.org/drawingml/2006/main">
              <a:ext uri="{FF2B5EF4-FFF2-40B4-BE49-F238E27FC236}">
                <a16:creationId xmlns:a16="http://schemas.microsoft.com/office/drawing/2014/main" id="{08F475BC-BA20-48EF-8A61-AF732763AC32}"/>
              </a:ext>
            </a:extLst>
          </p:cNvPr>
          <p:cNvSpPr>
            <a:spLocks xmlns:a="http://schemas.openxmlformats.org/drawingml/2006/main" noGrp="1"/>
          </p:cNvSpPr>
          <p:nvPr/>
        </p:nvSpPr>
        <p:spPr>
          <a:xfrm xmlns:a="http://schemas.openxmlformats.org/drawingml/2006/main">
            <a:off x="3352800" y="37052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0" i="0">
                <a:solidFill>
                  <a:srgbClr val="A4B0BE"/>
                </a:solidFill>
              </a:defRPr>
            </a:pPr>
            <a:r>
              <a:rPr sz="2100" b="0" i="0">
                <a:solidFill>
                  <a:srgbClr val="A4B0BE"/>
                </a:solidFill>
              </a:rPr>
              <a:t>→</a:t>
            </a:r>
          </a:p>
        </p:txBody>
      </p:sp>
      <p:sp>
        <p:nvSpPr>
          <p:cNvPr id="10" name="">
            <a:extLst xmlns:a="http://schemas.openxmlformats.org/drawingml/2006/main">
              <a:ext uri="{FF2B5EF4-FFF2-40B4-BE49-F238E27FC236}">
                <a16:creationId xmlns:a16="http://schemas.microsoft.com/office/drawing/2014/main" id="{5A8B875D-4FC6-4FB8-A0E6-E1FD51E98D85}"/>
              </a:ext>
            </a:extLst>
          </p:cNvPr>
          <p:cNvSpPr>
            <a:spLocks xmlns:a="http://schemas.openxmlformats.org/drawingml/2006/main" noGrp="1"/>
          </p:cNvSpPr>
          <p:nvPr/>
        </p:nvSpPr>
        <p:spPr>
          <a:xfrm xmlns:a="http://schemas.openxmlformats.org/drawingml/2006/main">
            <a:off x="3762375" y="3162300"/>
            <a:ext cx="2809875" cy="1428750"/>
          </a:xfrm>
          <a:prstGeom xmlns:a="http://schemas.openxmlformats.org/drawingml/2006/main" prst="roundRect">
            <a:avLst>
              <a:gd name="adj" fmla="val 8000"/>
            </a:avLst>
          </a:prstGeom>
          <a:solidFill xmlns:a="http://schemas.openxmlformats.org/drawingml/2006/main">
            <a:srgbClr val="EEE9FF"/>
          </a:solidFill>
          <a:ln xmlns:a="http://schemas.openxmlformats.org/drawingml/2006/main" w="9525">
            <a:solidFill>
              <a:srgbClr val="EEE9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331E32C-A5A3-4E56-A996-88E3746EEFB3}"/>
              </a:ext>
            </a:extLst>
          </p:cNvPr>
          <p:cNvSpPr>
            <a:spLocks xmlns:a="http://schemas.openxmlformats.org/drawingml/2006/main" noGrp="1"/>
          </p:cNvSpPr>
          <p:nvPr/>
        </p:nvSpPr>
        <p:spPr>
          <a:xfrm xmlns:a="http://schemas.openxmlformats.org/drawingml/2006/main">
            <a:off x="3971925" y="34004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7B61D4"/>
                </a:solidFill>
              </a:defRPr>
            </a:pPr>
            <a:r>
              <a:rPr sz="750" b="1" i="0">
                <a:solidFill>
                  <a:srgbClr val="7B61D4"/>
                </a:solidFill>
              </a:rPr>
              <a:t>CLINIC</a:t>
            </a:r>
          </a:p>
        </p:txBody>
      </p:sp>
      <p:sp>
        <p:nvSpPr>
          <p:cNvPr id="12" name="">
            <a:extLst xmlns:a="http://schemas.openxmlformats.org/drawingml/2006/main">
              <a:ext uri="{FF2B5EF4-FFF2-40B4-BE49-F238E27FC236}">
                <a16:creationId xmlns:a16="http://schemas.microsoft.com/office/drawing/2014/main" id="{08327DA2-3E67-4C6B-8D1F-BE436CCC6DAE}"/>
              </a:ext>
            </a:extLst>
          </p:cNvPr>
          <p:cNvSpPr>
            <a:spLocks xmlns:a="http://schemas.openxmlformats.org/drawingml/2006/main" noGrp="1"/>
          </p:cNvSpPr>
          <p:nvPr/>
        </p:nvSpPr>
        <p:spPr>
          <a:xfrm xmlns:a="http://schemas.openxmlformats.org/drawingml/2006/main">
            <a:off x="3971925" y="3800475"/>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“We sent it—call your insurer.”</a:t>
            </a:r>
          </a:p>
        </p:txBody>
      </p:sp>
      <p:sp>
        <p:nvSpPr>
          <p:cNvPr id="13" name="">
            <a:extLst xmlns:a="http://schemas.openxmlformats.org/drawingml/2006/main">
              <a:ext uri="{FF2B5EF4-FFF2-40B4-BE49-F238E27FC236}">
                <a16:creationId xmlns:a16="http://schemas.microsoft.com/office/drawing/2014/main" id="{EF48E1C1-0F26-4492-A2A7-351D75DF0984}"/>
              </a:ext>
            </a:extLst>
          </p:cNvPr>
          <p:cNvSpPr>
            <a:spLocks xmlns:a="http://schemas.openxmlformats.org/drawingml/2006/main" noGrp="1"/>
          </p:cNvSpPr>
          <p:nvPr/>
        </p:nvSpPr>
        <p:spPr>
          <a:xfrm xmlns:a="http://schemas.openxmlformats.org/drawingml/2006/main">
            <a:off x="6638925" y="37052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0" i="0">
                <a:solidFill>
                  <a:srgbClr val="A4B0BE"/>
                </a:solidFill>
              </a:defRPr>
            </a:pPr>
            <a:r>
              <a:rPr sz="2100" b="0" i="0">
                <a:solidFill>
                  <a:srgbClr val="A4B0BE"/>
                </a:solidFill>
              </a:rPr>
              <a:t>→</a:t>
            </a:r>
          </a:p>
        </p:txBody>
      </p:sp>
      <p:sp>
        <p:nvSpPr>
          <p:cNvPr id="14" name="">
            <a:extLst xmlns:a="http://schemas.openxmlformats.org/drawingml/2006/main">
              <a:ext uri="{FF2B5EF4-FFF2-40B4-BE49-F238E27FC236}">
                <a16:creationId xmlns:a16="http://schemas.microsoft.com/office/drawing/2014/main" id="{D1B94D13-7A17-49CE-A9D0-406E92303B25}"/>
              </a:ext>
            </a:extLst>
          </p:cNvPr>
          <p:cNvSpPr>
            <a:spLocks xmlns:a="http://schemas.openxmlformats.org/drawingml/2006/main" noGrp="1"/>
          </p:cNvSpPr>
          <p:nvPr/>
        </p:nvSpPr>
        <p:spPr>
          <a:xfrm xmlns:a="http://schemas.openxmlformats.org/drawingml/2006/main">
            <a:off x="7048500" y="3162300"/>
            <a:ext cx="2809875" cy="1428750"/>
          </a:xfrm>
          <a:prstGeom xmlns:a="http://schemas.openxmlformats.org/drawingml/2006/main" prst="roundRect">
            <a:avLst>
              <a:gd name="adj" fmla="val 8000"/>
            </a:avLst>
          </a:prstGeom>
          <a:solidFill xmlns:a="http://schemas.openxmlformats.org/drawingml/2006/main">
            <a:srgbClr val="E5F0FF"/>
          </a:solidFill>
          <a:ln xmlns:a="http://schemas.openxmlformats.org/drawingml/2006/main" w="9525">
            <a:solidFill>
              <a:srgbClr val="E5F0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D55E841A-B18D-42F9-9CF1-88D35DB34ED8}"/>
              </a:ext>
            </a:extLst>
          </p:cNvPr>
          <p:cNvSpPr>
            <a:spLocks xmlns:a="http://schemas.openxmlformats.org/drawingml/2006/main" noGrp="1"/>
          </p:cNvSpPr>
          <p:nvPr/>
        </p:nvSpPr>
        <p:spPr>
          <a:xfrm xmlns:a="http://schemas.openxmlformats.org/drawingml/2006/main">
            <a:off x="7258050" y="34004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3D8DFF"/>
                </a:solidFill>
              </a:defRPr>
            </a:pPr>
            <a:r>
              <a:rPr sz="750" b="1" i="0">
                <a:solidFill>
                  <a:srgbClr val="3D8DFF"/>
                </a:solidFill>
              </a:rPr>
              <a:t>INSURER</a:t>
            </a:r>
          </a:p>
        </p:txBody>
      </p:sp>
      <p:sp>
        <p:nvSpPr>
          <p:cNvPr id="16" name="">
            <a:extLst xmlns:a="http://schemas.openxmlformats.org/drawingml/2006/main">
              <a:ext uri="{FF2B5EF4-FFF2-40B4-BE49-F238E27FC236}">
                <a16:creationId xmlns:a16="http://schemas.microsoft.com/office/drawing/2014/main" id="{1DE8FFAE-1771-449A-8FD7-B19D656FFF03}"/>
              </a:ext>
            </a:extLst>
          </p:cNvPr>
          <p:cNvSpPr>
            <a:spLocks xmlns:a="http://schemas.openxmlformats.org/drawingml/2006/main" noGrp="1"/>
          </p:cNvSpPr>
          <p:nvPr/>
        </p:nvSpPr>
        <p:spPr>
          <a:xfrm xmlns:a="http://schemas.openxmlformats.org/drawingml/2006/main">
            <a:off x="7258050" y="3800475"/>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“Ask the pharmacy for the status.”</a:t>
            </a:r>
          </a:p>
        </p:txBody>
      </p:sp>
      <p:sp>
        <p:nvSpPr>
          <p:cNvPr id="17" name="">
            <a:extLst xmlns:a="http://schemas.openxmlformats.org/drawingml/2006/main">
              <a:ext uri="{FF2B5EF4-FFF2-40B4-BE49-F238E27FC236}">
                <a16:creationId xmlns:a16="http://schemas.microsoft.com/office/drawing/2014/main" id="{ADDAD807-581D-44C1-9732-B90B01762510}"/>
              </a:ext>
            </a:extLst>
          </p:cNvPr>
          <p:cNvSpPr>
            <a:spLocks xmlns:a="http://schemas.openxmlformats.org/drawingml/2006/main" noGrp="1"/>
          </p:cNvSpPr>
          <p:nvPr/>
        </p:nvSpPr>
        <p:spPr>
          <a:xfrm xmlns:a="http://schemas.openxmlformats.org/drawingml/2006/main">
            <a:off x="10344150" y="2524125"/>
            <a:ext cx="1390650" cy="2724150"/>
          </a:xfrm>
          <a:prstGeom xmlns:a="http://schemas.openxmlformats.org/drawingml/2006/main" prst="roundRect">
            <a:avLst>
              <a:gd name="adj" fmla="val 8219"/>
            </a:avLst>
          </a:prstGeom>
          <a:solidFill xmlns:a="http://schemas.openxmlformats.org/drawingml/2006/main">
            <a:srgbClr val="071A2B"/>
          </a:solidFill>
          <a:ln xmlns:a="http://schemas.openxmlformats.org/drawingml/2006/main" w="9525">
            <a:solidFill>
              <a:srgbClr val="071A2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6F9C5D42-2689-4A97-B5F5-C0B1FA66662C}"/>
              </a:ext>
            </a:extLst>
          </p:cNvPr>
          <p:cNvSpPr>
            <a:spLocks xmlns:a="http://schemas.openxmlformats.org/drawingml/2006/main" noGrp="1"/>
          </p:cNvSpPr>
          <p:nvPr/>
        </p:nvSpPr>
        <p:spPr>
          <a:xfrm xmlns:a="http://schemas.openxmlformats.org/drawingml/2006/main">
            <a:off x="10544175" y="2857500"/>
            <a:ext cx="95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AEC1D1"/>
                </a:solidFill>
              </a:defRPr>
            </a:pPr>
            <a:r>
              <a:rPr sz="825" b="1" i="0">
                <a:solidFill>
                  <a:srgbClr val="AEC1D1"/>
                </a:solidFill>
              </a:rPr>
              <a:t>THE</a:t>
            </a:r>
          </a:p>
          <a:p xmlns:a="http://schemas.openxmlformats.org/drawingml/2006/main">
            <a:pPr algn="ctr">
              <a:defRPr sz="825" b="1" i="0">
                <a:solidFill>
                  <a:srgbClr val="AEC1D1"/>
                </a:solidFill>
              </a:defRPr>
            </a:pPr>
            <a:r>
              <a:rPr sz="825" b="1" i="0">
                <a:solidFill>
                  <a:srgbClr val="AEC1D1"/>
                </a:solidFill>
              </a:rPr>
              <a:t>PATIENT</a:t>
            </a:r>
          </a:p>
        </p:txBody>
      </p:sp>
      <p:sp>
        <p:nvSpPr>
          <p:cNvPr id="19" name="">
            <a:extLst xmlns:a="http://schemas.openxmlformats.org/drawingml/2006/main">
              <a:ext uri="{FF2B5EF4-FFF2-40B4-BE49-F238E27FC236}">
                <a16:creationId xmlns:a16="http://schemas.microsoft.com/office/drawing/2014/main" id="{5B4370F7-FEFD-46FC-A96F-60683F87A695}"/>
              </a:ext>
            </a:extLst>
          </p:cNvPr>
          <p:cNvSpPr>
            <a:spLocks xmlns:a="http://schemas.openxmlformats.org/drawingml/2006/main" noGrp="1"/>
          </p:cNvSpPr>
          <p:nvPr/>
        </p:nvSpPr>
        <p:spPr>
          <a:xfrm xmlns:a="http://schemas.openxmlformats.org/drawingml/2006/main">
            <a:off x="10715625" y="3524250"/>
            <a:ext cx="647700" cy="647700"/>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20" name="">
            <a:extLst xmlns:a="http://schemas.openxmlformats.org/drawingml/2006/main">
              <a:ext uri="{FF2B5EF4-FFF2-40B4-BE49-F238E27FC236}">
                <a16:creationId xmlns:a16="http://schemas.microsoft.com/office/drawing/2014/main" id="{EBD0C732-9C9B-4E4A-A1E4-C141ACD1D85C}"/>
              </a:ext>
            </a:extLst>
          </p:cNvPr>
          <p:cNvSpPr>
            <a:spLocks xmlns:a="http://schemas.openxmlformats.org/drawingml/2006/main" noGrp="1"/>
          </p:cNvSpPr>
          <p:nvPr/>
        </p:nvSpPr>
        <p:spPr>
          <a:xfrm xmlns:a="http://schemas.openxmlformats.org/drawingml/2006/main">
            <a:off x="10877550" y="3600450"/>
            <a:ext cx="323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i="0">
                <a:solidFill>
                  <a:srgbClr val="FFFFFF"/>
                </a:solidFill>
              </a:defRPr>
            </a:pPr>
            <a:r>
              <a:rPr sz="2850" b="1" i="0">
                <a:solidFill>
                  <a:srgbClr val="FFFFFF"/>
                </a:solidFill>
              </a:rPr>
              <a:t>?</a:t>
            </a:r>
          </a:p>
        </p:txBody>
      </p:sp>
      <p:sp>
        <p:nvSpPr>
          <p:cNvPr id="21" name="">
            <a:extLst xmlns:a="http://schemas.openxmlformats.org/drawingml/2006/main">
              <a:ext uri="{FF2B5EF4-FFF2-40B4-BE49-F238E27FC236}">
                <a16:creationId xmlns:a16="http://schemas.microsoft.com/office/drawing/2014/main" id="{85A95842-D2D4-4E6A-85AB-BAEB3E72737F}"/>
              </a:ext>
            </a:extLst>
          </p:cNvPr>
          <p:cNvSpPr>
            <a:spLocks xmlns:a="http://schemas.openxmlformats.org/drawingml/2006/main" noGrp="1"/>
          </p:cNvSpPr>
          <p:nvPr/>
        </p:nvSpPr>
        <p:spPr>
          <a:xfrm xmlns:a="http://schemas.openxmlformats.org/drawingml/2006/main">
            <a:off x="10496550" y="443865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FFFFFF"/>
                </a:solidFill>
              </a:defRPr>
            </a:pPr>
            <a:r>
              <a:rPr sz="975" b="0" i="0">
                <a:solidFill>
                  <a:srgbClr val="FFFFFF"/>
                </a:solidFill>
              </a:rPr>
              <a:t>calling</a:t>
            </a:r>
          </a:p>
          <a:p xmlns:a="http://schemas.openxmlformats.org/drawingml/2006/main">
            <a:pPr algn="ctr">
              <a:defRPr sz="975" b="0" i="0">
                <a:solidFill>
                  <a:srgbClr val="FFFFFF"/>
                </a:solidFill>
              </a:defRPr>
            </a:pPr>
            <a:r>
              <a:rPr sz="975" b="0" i="0">
                <a:solidFill>
                  <a:srgbClr val="FFFFFF"/>
                </a:solidFill>
              </a:rPr>
              <a:t>again</a:t>
            </a:r>
          </a:p>
        </p:txBody>
      </p:sp>
      <p:sp>
        <p:nvSpPr>
          <p:cNvPr id="22" name="">
            <a:extLst xmlns:a="http://schemas.openxmlformats.org/drawingml/2006/main">
              <a:ext uri="{FF2B5EF4-FFF2-40B4-BE49-F238E27FC236}">
                <a16:creationId xmlns:a16="http://schemas.microsoft.com/office/drawing/2014/main" id="{A524BB23-233F-49D4-87E0-3CE59C352266}"/>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Patient-reported experiences point to repeated pharmacy calls during shortage and authorization friction.</a:t>
            </a:r>
          </a:p>
        </p:txBody>
      </p:sp>
      <p:sp>
        <p:nvSpPr>
          <p:cNvPr id="23" name="">
            <a:extLst xmlns:a="http://schemas.openxmlformats.org/drawingml/2006/main">
              <a:ext uri="{FF2B5EF4-FFF2-40B4-BE49-F238E27FC236}">
                <a16:creationId xmlns:a16="http://schemas.microsoft.com/office/drawing/2014/main" id="{1981BE46-C71C-436F-82C3-21989EF181DD}"/>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1592704934"/>
      </p:ext>
    </p:extLst>
  </p:cSld>
</p:sld>
</file>

<file path=ppt/slides/slide3.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4CAF705-06BC-49DF-BCD8-EA7287E73541}"/>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THE MISSING LAYER</a:t>
            </a:r>
          </a:p>
        </p:txBody>
      </p:sp>
      <p:sp>
        <p:nvSpPr>
          <p:cNvPr id="2" name="">
            <a:extLst xmlns:a="http://schemas.openxmlformats.org/drawingml/2006/main">
              <a:ext uri="{FF2B5EF4-FFF2-40B4-BE49-F238E27FC236}">
                <a16:creationId xmlns:a16="http://schemas.microsoft.com/office/drawing/2014/main" id="{B55A1B07-0661-41B5-A86E-B5FED57E46AF}"/>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D80"/>
                </a:solidFill>
              </a:defRPr>
            </a:pPr>
            <a:r>
              <a:rPr sz="750" b="1" i="0">
                <a:solidFill>
                  <a:srgbClr val="5F6D80"/>
                </a:solidFill>
              </a:rPr>
              <a:t>RXRELAY  /  03</a:t>
            </a:r>
          </a:p>
        </p:txBody>
      </p:sp>
      <p:sp>
        <p:nvSpPr>
          <p:cNvPr id="3" name="">
            <a:extLst xmlns:a="http://schemas.openxmlformats.org/drawingml/2006/main">
              <a:ext uri="{FF2B5EF4-FFF2-40B4-BE49-F238E27FC236}">
                <a16:creationId xmlns:a16="http://schemas.microsoft.com/office/drawing/2014/main" id="{DD48FE0D-BD09-45DB-B255-C924E6B267CC}"/>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4" name="title">
            <a:extLst xmlns:a="http://schemas.openxmlformats.org/drawingml/2006/main">
              <a:ext uri="{FF2B5EF4-FFF2-40B4-BE49-F238E27FC236}">
                <a16:creationId xmlns:a16="http://schemas.microsoft.com/office/drawing/2014/main" id="{86780C4D-374A-46F6-8AAE-059C12F79073}"/>
              </a:ext>
            </a:extLst>
          </p:cNvPr>
          <p:cNvSpPr>
            <a:spLocks xmlns:a="http://schemas.openxmlformats.org/drawingml/2006/main" noGrp="1"/>
          </p:cNvSpPr>
          <p:nvPr/>
        </p:nvSpPr>
        <p:spPr>
          <a:xfrm xmlns:a="http://schemas.openxmlformats.org/drawingml/2006/main">
            <a:off x="457200" y="876300"/>
            <a:ext cx="8096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75" b="1" i="0">
                <a:solidFill>
                  <a:srgbClr val="0B1F33"/>
                </a:solidFill>
              </a:defRPr>
            </a:pPr>
            <a:r>
              <a:rPr sz="3975" b="1" i="0">
                <a:solidFill>
                  <a:srgbClr val="0B1F33"/>
                </a:solidFill>
              </a:rPr>
              <a:t>The problem is not finding a phone number.</a:t>
            </a:r>
          </a:p>
        </p:txBody>
      </p:sp>
      <p:sp>
        <p:nvSpPr>
          <p:cNvPr id="5" name="subtitle">
            <a:extLst xmlns:a="http://schemas.openxmlformats.org/drawingml/2006/main">
              <a:ext uri="{FF2B5EF4-FFF2-40B4-BE49-F238E27FC236}">
                <a16:creationId xmlns:a16="http://schemas.microsoft.com/office/drawing/2014/main" id="{5BCCB2D1-ACF4-4E35-B1C6-0BC455791EB5}"/>
              </a:ext>
            </a:extLst>
          </p:cNvPr>
          <p:cNvSpPr>
            <a:spLocks xmlns:a="http://schemas.openxmlformats.org/drawingml/2006/main" noGrp="1"/>
          </p:cNvSpPr>
          <p:nvPr/>
        </p:nvSpPr>
        <p:spPr>
          <a:xfrm xmlns:a="http://schemas.openxmlformats.org/drawingml/2006/main">
            <a:off x="457200" y="2057400"/>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D80"/>
                </a:solidFill>
              </a:defRPr>
            </a:pPr>
            <a:r>
              <a:rPr sz="1350" b="0" i="0">
                <a:solidFill>
                  <a:srgbClr val="5F6D80"/>
                </a:solidFill>
              </a:rPr>
              <a:t>It is closing the loop across institutions—without making the patient prove that every handoff happened.</a:t>
            </a:r>
          </a:p>
        </p:txBody>
      </p:sp>
      <p:sp>
        <p:nvSpPr>
          <p:cNvPr id="6" name="">
            <a:extLst xmlns:a="http://schemas.openxmlformats.org/drawingml/2006/main">
              <a:ext uri="{FF2B5EF4-FFF2-40B4-BE49-F238E27FC236}">
                <a16:creationId xmlns:a16="http://schemas.microsoft.com/office/drawing/2014/main" id="{9362A0A5-4647-44A5-86CD-3BCE22DB26F0}"/>
              </a:ext>
            </a:extLst>
          </p:cNvPr>
          <p:cNvSpPr>
            <a:spLocks xmlns:a="http://schemas.openxmlformats.org/drawingml/2006/main" noGrp="1"/>
          </p:cNvSpPr>
          <p:nvPr/>
        </p:nvSpPr>
        <p:spPr>
          <a:xfrm xmlns:a="http://schemas.openxmlformats.org/drawingml/2006/main">
            <a:off x="457200" y="3190875"/>
            <a:ext cx="5000625" cy="2047875"/>
          </a:xfrm>
          <a:prstGeom xmlns:a="http://schemas.openxmlformats.org/drawingml/2006/main" prst="roundRect">
            <a:avLst>
              <a:gd name="adj" fmla="val 5581"/>
            </a:avLst>
          </a:prstGeom>
          <a:solidFill xmlns:a="http://schemas.openxmlformats.org/drawingml/2006/main">
            <a:srgbClr val="FFFFFF"/>
          </a:solidFill>
          <a:ln xmlns:a="http://schemas.openxmlformats.org/drawingml/2006/main" w="9525">
            <a:solidFill>
              <a:srgbClr val="D8E0E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7E49E41-29B7-40F6-AD43-83F290226730}"/>
              </a:ext>
            </a:extLst>
          </p:cNvPr>
          <p:cNvSpPr>
            <a:spLocks xmlns:a="http://schemas.openxmlformats.org/drawingml/2006/main" noGrp="1"/>
          </p:cNvSpPr>
          <p:nvPr/>
        </p:nvSpPr>
        <p:spPr>
          <a:xfrm xmlns:a="http://schemas.openxmlformats.org/drawingml/2006/main">
            <a:off x="704850" y="3448050"/>
            <a:ext cx="114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D35656"/>
                </a:solidFill>
              </a:defRPr>
            </a:pPr>
            <a:r>
              <a:rPr sz="750" b="1" i="0">
                <a:solidFill>
                  <a:srgbClr val="D35656"/>
                </a:solidFill>
              </a:rPr>
              <a:t>TODAY</a:t>
            </a:r>
          </a:p>
        </p:txBody>
      </p:sp>
      <p:sp>
        <p:nvSpPr>
          <p:cNvPr id="8" name="">
            <a:extLst xmlns:a="http://schemas.openxmlformats.org/drawingml/2006/main">
              <a:ext uri="{FF2B5EF4-FFF2-40B4-BE49-F238E27FC236}">
                <a16:creationId xmlns:a16="http://schemas.microsoft.com/office/drawing/2014/main" id="{8959E750-738A-48D5-AD5F-553FDF0E02E7}"/>
              </a:ext>
            </a:extLst>
          </p:cNvPr>
          <p:cNvSpPr>
            <a:spLocks xmlns:a="http://schemas.openxmlformats.org/drawingml/2006/main" noGrp="1"/>
          </p:cNvSpPr>
          <p:nvPr/>
        </p:nvSpPr>
        <p:spPr>
          <a:xfrm xmlns:a="http://schemas.openxmlformats.org/drawingml/2006/main">
            <a:off x="704850" y="384810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1F33"/>
                </a:solidFill>
              </a:defRPr>
            </a:pPr>
            <a:r>
              <a:rPr sz="2025" b="1" i="0">
                <a:solidFill>
                  <a:srgbClr val="0B1F33"/>
                </a:solidFill>
              </a:rPr>
              <a:t>Call → hold → repeat → hope</a:t>
            </a:r>
          </a:p>
        </p:txBody>
      </p:sp>
      <p:sp>
        <p:nvSpPr>
          <p:cNvPr id="9" name="">
            <a:extLst xmlns:a="http://schemas.openxmlformats.org/drawingml/2006/main">
              <a:ext uri="{FF2B5EF4-FFF2-40B4-BE49-F238E27FC236}">
                <a16:creationId xmlns:a16="http://schemas.microsoft.com/office/drawing/2014/main" id="{A5616EEF-37C6-46AE-8D50-B906F68F34EB}"/>
              </a:ext>
            </a:extLst>
          </p:cNvPr>
          <p:cNvSpPr>
            <a:spLocks xmlns:a="http://schemas.openxmlformats.org/drawingml/2006/main" noGrp="1"/>
          </p:cNvSpPr>
          <p:nvPr/>
        </p:nvSpPr>
        <p:spPr>
          <a:xfrm xmlns:a="http://schemas.openxmlformats.org/drawingml/2006/main">
            <a:off x="704850" y="46863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F6D80"/>
                </a:solidFill>
              </a:defRPr>
            </a:pPr>
            <a:r>
              <a:rPr sz="1125" b="0" i="0">
                <a:solidFill>
                  <a:srgbClr val="5F6D80"/>
                </a:solidFill>
              </a:rPr>
              <a:t>No shared state. No reliable owner. No proof that the next actor actually acted.</a:t>
            </a:r>
          </a:p>
        </p:txBody>
      </p:sp>
      <p:sp>
        <p:nvSpPr>
          <p:cNvPr id="10" name="">
            <a:extLst xmlns:a="http://schemas.openxmlformats.org/drawingml/2006/main">
              <a:ext uri="{FF2B5EF4-FFF2-40B4-BE49-F238E27FC236}">
                <a16:creationId xmlns:a16="http://schemas.microsoft.com/office/drawing/2014/main" id="{0D72C6E0-D3A1-4B51-B00A-581ECB8B359B}"/>
              </a:ext>
            </a:extLst>
          </p:cNvPr>
          <p:cNvSpPr>
            <a:spLocks xmlns:a="http://schemas.openxmlformats.org/drawingml/2006/main" noGrp="1"/>
          </p:cNvSpPr>
          <p:nvPr/>
        </p:nvSpPr>
        <p:spPr>
          <a:xfrm xmlns:a="http://schemas.openxmlformats.org/drawingml/2006/main">
            <a:off x="6257925" y="3190875"/>
            <a:ext cx="5476875" cy="2047875"/>
          </a:xfrm>
          <a:prstGeom xmlns:a="http://schemas.openxmlformats.org/drawingml/2006/main" prst="roundRect">
            <a:avLst>
              <a:gd name="adj" fmla="val 5581"/>
            </a:avLst>
          </a:prstGeom>
          <a:solidFill xmlns:a="http://schemas.openxmlformats.org/drawingml/2006/main">
            <a:srgbClr val="071A2B"/>
          </a:solidFill>
          <a:ln xmlns:a="http://schemas.openxmlformats.org/drawingml/2006/main" w="9525">
            <a:solidFill>
              <a:srgbClr val="071A2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D322452-59A3-4C65-9E68-55BCDF398A99}"/>
              </a:ext>
            </a:extLst>
          </p:cNvPr>
          <p:cNvSpPr>
            <a:spLocks xmlns:a="http://schemas.openxmlformats.org/drawingml/2006/main" noGrp="1"/>
          </p:cNvSpPr>
          <p:nvPr/>
        </p:nvSpPr>
        <p:spPr>
          <a:xfrm xmlns:a="http://schemas.openxmlformats.org/drawingml/2006/main">
            <a:off x="6524625" y="3448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78E6D4"/>
                </a:solidFill>
              </a:defRPr>
            </a:pPr>
            <a:r>
              <a:rPr sz="750" b="1" i="0">
                <a:solidFill>
                  <a:srgbClr val="78E6D4"/>
                </a:solidFill>
              </a:rPr>
              <a:t>WITH RXRELAY</a:t>
            </a:r>
          </a:p>
        </p:txBody>
      </p:sp>
      <p:sp>
        <p:nvSpPr>
          <p:cNvPr id="12" name="">
            <a:extLst xmlns:a="http://schemas.openxmlformats.org/drawingml/2006/main">
              <a:ext uri="{FF2B5EF4-FFF2-40B4-BE49-F238E27FC236}">
                <a16:creationId xmlns:a16="http://schemas.microsoft.com/office/drawing/2014/main" id="{A4F28439-39C2-460B-9CEC-556447EF8E33}"/>
              </a:ext>
            </a:extLst>
          </p:cNvPr>
          <p:cNvSpPr>
            <a:spLocks xmlns:a="http://schemas.openxmlformats.org/drawingml/2006/main" noGrp="1"/>
          </p:cNvSpPr>
          <p:nvPr/>
        </p:nvSpPr>
        <p:spPr>
          <a:xfrm xmlns:a="http://schemas.openxmlformats.org/drawingml/2006/main">
            <a:off x="6524625" y="38481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FFFFFF"/>
                </a:solidFill>
              </a:defRPr>
            </a:pPr>
            <a:r>
              <a:rPr sz="2325" b="1" i="0">
                <a:solidFill>
                  <a:srgbClr val="FFFFFF"/>
                </a:solidFill>
              </a:rPr>
              <a:t>Consent → coordinate → verify</a:t>
            </a:r>
          </a:p>
        </p:txBody>
      </p:sp>
      <p:sp>
        <p:nvSpPr>
          <p:cNvPr id="13" name="">
            <a:extLst xmlns:a="http://schemas.openxmlformats.org/drawingml/2006/main">
              <a:ext uri="{FF2B5EF4-FFF2-40B4-BE49-F238E27FC236}">
                <a16:creationId xmlns:a16="http://schemas.microsoft.com/office/drawing/2014/main" id="{5750B704-E685-4E8F-9105-8151132310B0}"/>
              </a:ext>
            </a:extLst>
          </p:cNvPr>
          <p:cNvSpPr>
            <a:spLocks xmlns:a="http://schemas.openxmlformats.org/drawingml/2006/main" noGrp="1"/>
          </p:cNvSpPr>
          <p:nvPr/>
        </p:nvSpPr>
        <p:spPr>
          <a:xfrm xmlns:a="http://schemas.openxmlformats.org/drawingml/2006/main">
            <a:off x="6524625" y="44577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B8CBDB"/>
                </a:solidFill>
              </a:defRPr>
            </a:pPr>
            <a:r>
              <a:rPr sz="1125" b="0" i="0">
                <a:solidFill>
                  <a:srgbClr val="B8CBDB"/>
                </a:solidFill>
              </a:rPr>
              <a:t>One case owns the handoffs. The patient sees evidence, not a vague assurance.</a:t>
            </a:r>
          </a:p>
        </p:txBody>
      </p:sp>
      <p:sp>
        <p:nvSpPr>
          <p:cNvPr id="14" name="">
            <a:extLst xmlns:a="http://schemas.openxmlformats.org/drawingml/2006/main">
              <a:ext uri="{FF2B5EF4-FFF2-40B4-BE49-F238E27FC236}">
                <a16:creationId xmlns:a16="http://schemas.microsoft.com/office/drawing/2014/main" id="{12329E51-2E0D-433F-9606-F45F259BE5B2}"/>
              </a:ext>
            </a:extLst>
          </p:cNvPr>
          <p:cNvSpPr>
            <a:spLocks xmlns:a="http://schemas.openxmlformats.org/drawingml/2006/main" noGrp="1"/>
          </p:cNvSpPr>
          <p:nvPr/>
        </p:nvSpPr>
        <p:spPr>
          <a:xfrm xmlns:a="http://schemas.openxmlformats.org/drawingml/2006/main">
            <a:off x="457200" y="567690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15" name="">
            <a:extLst xmlns:a="http://schemas.openxmlformats.org/drawingml/2006/main">
              <a:ext uri="{FF2B5EF4-FFF2-40B4-BE49-F238E27FC236}">
                <a16:creationId xmlns:a16="http://schemas.microsoft.com/office/drawing/2014/main" id="{541CFC39-C7B4-4758-A593-EA59873F0C7D}"/>
              </a:ext>
            </a:extLst>
          </p:cNvPr>
          <p:cNvSpPr>
            <a:spLocks xmlns:a="http://schemas.openxmlformats.org/drawingml/2006/main" noGrp="1"/>
          </p:cNvSpPr>
          <p:nvPr/>
        </p:nvSpPr>
        <p:spPr>
          <a:xfrm xmlns:a="http://schemas.openxmlformats.org/drawingml/2006/main">
            <a:off x="457200" y="5924550"/>
            <a:ext cx="1524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THE SHIFT</a:t>
            </a:r>
          </a:p>
        </p:txBody>
      </p:sp>
      <p:sp>
        <p:nvSpPr>
          <p:cNvPr id="16" name="">
            <a:extLst xmlns:a="http://schemas.openxmlformats.org/drawingml/2006/main">
              <a:ext uri="{FF2B5EF4-FFF2-40B4-BE49-F238E27FC236}">
                <a16:creationId xmlns:a16="http://schemas.microsoft.com/office/drawing/2014/main" id="{0E98A60A-060A-4E26-B45C-0D2631C5A37B}"/>
              </a:ext>
            </a:extLst>
          </p:cNvPr>
          <p:cNvSpPr>
            <a:spLocks xmlns:a="http://schemas.openxmlformats.org/drawingml/2006/main" noGrp="1"/>
          </p:cNvSpPr>
          <p:nvPr/>
        </p:nvSpPr>
        <p:spPr>
          <a:xfrm xmlns:a="http://schemas.openxmlformats.org/drawingml/2006/main">
            <a:off x="1981200" y="58864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B1F33"/>
                </a:solidFill>
              </a:defRPr>
            </a:pPr>
            <a:r>
              <a:rPr sz="1275" b="1" i="0">
                <a:solidFill>
                  <a:srgbClr val="0B1F33"/>
                </a:solidFill>
              </a:rPr>
              <a:t>from a conversational agent to an accountable coordination system</a:t>
            </a:r>
          </a:p>
        </p:txBody>
      </p:sp>
      <p:sp>
        <p:nvSpPr>
          <p:cNvPr id="17" name="">
            <a:extLst xmlns:a="http://schemas.openxmlformats.org/drawingml/2006/main">
              <a:ext uri="{FF2B5EF4-FFF2-40B4-BE49-F238E27FC236}">
                <a16:creationId xmlns:a16="http://schemas.microsoft.com/office/drawing/2014/main" id="{C4EC807B-8CEF-4B3D-8619-03EB9817BC3F}"/>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RxRelay automates only the bounded, non-clinical coordination work.</a:t>
            </a:r>
          </a:p>
        </p:txBody>
      </p:sp>
      <p:sp>
        <p:nvSpPr>
          <p:cNvPr id="18" name="">
            <a:extLst xmlns:a="http://schemas.openxmlformats.org/drawingml/2006/main">
              <a:ext uri="{FF2B5EF4-FFF2-40B4-BE49-F238E27FC236}">
                <a16:creationId xmlns:a16="http://schemas.microsoft.com/office/drawing/2014/main" id="{C025B65B-7A5A-47FE-BD81-118F2A47FEBC}"/>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4115527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20F06E9-0F45-4CA4-AE8C-5ABDF1ECB2EA}"/>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THE PRODUCT</a:t>
            </a:r>
          </a:p>
        </p:txBody>
      </p:sp>
      <p:sp>
        <p:nvSpPr>
          <p:cNvPr id="2" name="">
            <a:extLst xmlns:a="http://schemas.openxmlformats.org/drawingml/2006/main">
              <a:ext uri="{FF2B5EF4-FFF2-40B4-BE49-F238E27FC236}">
                <a16:creationId xmlns:a16="http://schemas.microsoft.com/office/drawing/2014/main" id="{6C9840C3-902F-4D26-903D-640A54B37BB9}"/>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D80"/>
                </a:solidFill>
              </a:defRPr>
            </a:pPr>
            <a:r>
              <a:rPr sz="750" b="1" i="0">
                <a:solidFill>
                  <a:srgbClr val="5F6D80"/>
                </a:solidFill>
              </a:rPr>
              <a:t>RXRELAY  /  04</a:t>
            </a:r>
          </a:p>
        </p:txBody>
      </p:sp>
      <p:sp>
        <p:nvSpPr>
          <p:cNvPr id="3" name="">
            <a:extLst xmlns:a="http://schemas.openxmlformats.org/drawingml/2006/main">
              <a:ext uri="{FF2B5EF4-FFF2-40B4-BE49-F238E27FC236}">
                <a16:creationId xmlns:a16="http://schemas.microsoft.com/office/drawing/2014/main" id="{3230D6AB-0FE8-41F6-9F6E-90FA21CD5A2A}"/>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4" name="title">
            <a:extLst xmlns:a="http://schemas.openxmlformats.org/drawingml/2006/main">
              <a:ext uri="{FF2B5EF4-FFF2-40B4-BE49-F238E27FC236}">
                <a16:creationId xmlns:a16="http://schemas.microsoft.com/office/drawing/2014/main" id="{B470358D-F7CF-417B-99BE-91B45ECD33C4}"/>
              </a:ext>
            </a:extLst>
          </p:cNvPr>
          <p:cNvSpPr>
            <a:spLocks xmlns:a="http://schemas.openxmlformats.org/drawingml/2006/main" noGrp="1"/>
          </p:cNvSpPr>
          <p:nvPr/>
        </p:nvSpPr>
        <p:spPr>
          <a:xfrm xmlns:a="http://schemas.openxmlformats.org/drawingml/2006/main">
            <a:off x="457200" y="876300"/>
            <a:ext cx="8096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75" b="1" i="0">
                <a:solidFill>
                  <a:srgbClr val="0B1F33"/>
                </a:solidFill>
              </a:defRPr>
            </a:pPr>
            <a:r>
              <a:rPr sz="3975" b="1" i="0">
                <a:solidFill>
                  <a:srgbClr val="0B1F33"/>
                </a:solidFill>
              </a:rPr>
              <a:t>One consented voice request becomes a case with an owner.</a:t>
            </a:r>
          </a:p>
        </p:txBody>
      </p:sp>
      <p:sp>
        <p:nvSpPr>
          <p:cNvPr id="5" name="subtitle">
            <a:extLst xmlns:a="http://schemas.openxmlformats.org/drawingml/2006/main">
              <a:ext uri="{FF2B5EF4-FFF2-40B4-BE49-F238E27FC236}">
                <a16:creationId xmlns:a16="http://schemas.microsoft.com/office/drawing/2014/main" id="{A0774406-D6DC-4015-947C-923246B147F1}"/>
              </a:ext>
            </a:extLst>
          </p:cNvPr>
          <p:cNvSpPr>
            <a:spLocks xmlns:a="http://schemas.openxmlformats.org/drawingml/2006/main" noGrp="1"/>
          </p:cNvSpPr>
          <p:nvPr/>
        </p:nvSpPr>
        <p:spPr>
          <a:xfrm xmlns:a="http://schemas.openxmlformats.org/drawingml/2006/main">
            <a:off x="457200" y="2057400"/>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D80"/>
                </a:solidFill>
              </a:defRPr>
            </a:pPr>
            <a:r>
              <a:rPr sz="1350" b="0" i="0">
                <a:solidFill>
                  <a:srgbClr val="5F6D80"/>
                </a:solidFill>
              </a:rPr>
              <a:t>RxRelay coordinates status—not medicine—and keeps every participant aligned on the next verified fact.</a:t>
            </a:r>
          </a:p>
        </p:txBody>
      </p:sp>
      <p:sp>
        <p:nvSpPr>
          <p:cNvPr id="6" name="">
            <a:extLst xmlns:a="http://schemas.openxmlformats.org/drawingml/2006/main">
              <a:ext uri="{FF2B5EF4-FFF2-40B4-BE49-F238E27FC236}">
                <a16:creationId xmlns:a16="http://schemas.microsoft.com/office/drawing/2014/main" id="{E14113DB-2828-4503-8706-80B227224AFF}"/>
              </a:ext>
            </a:extLst>
          </p:cNvPr>
          <p:cNvSpPr>
            <a:spLocks xmlns:a="http://schemas.openxmlformats.org/drawingml/2006/main" noGrp="1"/>
          </p:cNvSpPr>
          <p:nvPr/>
        </p:nvSpPr>
        <p:spPr>
          <a:xfrm xmlns:a="http://schemas.openxmlformats.org/drawingml/2006/main">
            <a:off x="457200" y="3352800"/>
            <a:ext cx="3333750" cy="2143125"/>
          </a:xfrm>
          <a:prstGeom xmlns:a="http://schemas.openxmlformats.org/drawingml/2006/main" prst="roundRect">
            <a:avLst>
              <a:gd name="adj" fmla="val 5333"/>
            </a:avLst>
          </a:prstGeom>
          <a:solidFill xmlns:a="http://schemas.openxmlformats.org/drawingml/2006/main">
            <a:srgbClr val="E5F0FF"/>
          </a:solidFill>
          <a:ln xmlns:a="http://schemas.openxmlformats.org/drawingml/2006/main" w="9525">
            <a:solidFill>
              <a:srgbClr val="E5F0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D692F7A-B75E-46C3-90C9-32AEA8872C52}"/>
              </a:ext>
            </a:extLst>
          </p:cNvPr>
          <p:cNvSpPr>
            <a:spLocks xmlns:a="http://schemas.openxmlformats.org/drawingml/2006/main" noGrp="1"/>
          </p:cNvSpPr>
          <p:nvPr/>
        </p:nvSpPr>
        <p:spPr>
          <a:xfrm xmlns:a="http://schemas.openxmlformats.org/drawingml/2006/main">
            <a:off x="676275" y="357187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3D8DFF"/>
                </a:solidFill>
              </a:defRPr>
            </a:pPr>
            <a:r>
              <a:rPr sz="1275" b="1" i="0">
                <a:solidFill>
                  <a:srgbClr val="3D8DFF"/>
                </a:solidFill>
              </a:rPr>
              <a:t>01</a:t>
            </a:r>
          </a:p>
        </p:txBody>
      </p:sp>
      <p:sp>
        <p:nvSpPr>
          <p:cNvPr id="8" name="">
            <a:extLst xmlns:a="http://schemas.openxmlformats.org/drawingml/2006/main">
              <a:ext uri="{FF2B5EF4-FFF2-40B4-BE49-F238E27FC236}">
                <a16:creationId xmlns:a16="http://schemas.microsoft.com/office/drawing/2014/main" id="{5CAAC883-FCCB-46A3-95B7-0A03A2A84280}"/>
              </a:ext>
            </a:extLst>
          </p:cNvPr>
          <p:cNvSpPr>
            <a:spLocks xmlns:a="http://schemas.openxmlformats.org/drawingml/2006/main" noGrp="1"/>
          </p:cNvSpPr>
          <p:nvPr/>
        </p:nvSpPr>
        <p:spPr>
          <a:xfrm xmlns:a="http://schemas.openxmlformats.org/drawingml/2006/main">
            <a:off x="676275" y="40195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1F33"/>
                </a:solidFill>
              </a:defRPr>
            </a:pPr>
            <a:r>
              <a:rPr sz="2025" b="1" i="0">
                <a:solidFill>
                  <a:srgbClr val="0B1F33"/>
                </a:solidFill>
              </a:rPr>
              <a:t>Ask once</a:t>
            </a:r>
          </a:p>
        </p:txBody>
      </p:sp>
      <p:sp>
        <p:nvSpPr>
          <p:cNvPr id="9" name="">
            <a:extLst xmlns:a="http://schemas.openxmlformats.org/drawingml/2006/main">
              <a:ext uri="{FF2B5EF4-FFF2-40B4-BE49-F238E27FC236}">
                <a16:creationId xmlns:a16="http://schemas.microsoft.com/office/drawing/2014/main" id="{D6B9201A-C55F-44AF-81B0-1982D92A2339}"/>
              </a:ext>
            </a:extLst>
          </p:cNvPr>
          <p:cNvSpPr>
            <a:spLocks xmlns:a="http://schemas.openxmlformats.org/drawingml/2006/main" noGrp="1"/>
          </p:cNvSpPr>
          <p:nvPr/>
        </p:nvSpPr>
        <p:spPr>
          <a:xfrm xmlns:a="http://schemas.openxmlformats.org/drawingml/2006/main">
            <a:off x="676275" y="449580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F6D80"/>
                </a:solidFill>
              </a:defRPr>
            </a:pPr>
            <a:r>
              <a:rPr sz="1050" b="0" i="0">
                <a:solidFill>
                  <a:srgbClr val="5F6D80"/>
                </a:solidFill>
              </a:rPr>
              <a:t>Patient speaks naturally. RxRelay captures narrow, explicit coordination consent.</a:t>
            </a:r>
          </a:p>
        </p:txBody>
      </p:sp>
      <p:sp>
        <p:nvSpPr>
          <p:cNvPr id="10" name="">
            <a:extLst xmlns:a="http://schemas.openxmlformats.org/drawingml/2006/main">
              <a:ext uri="{FF2B5EF4-FFF2-40B4-BE49-F238E27FC236}">
                <a16:creationId xmlns:a16="http://schemas.microsoft.com/office/drawing/2014/main" id="{FAC40F92-A957-488C-AD1B-720471B13753}"/>
              </a:ext>
            </a:extLst>
          </p:cNvPr>
          <p:cNvSpPr>
            <a:spLocks xmlns:a="http://schemas.openxmlformats.org/drawingml/2006/main" noGrp="1"/>
          </p:cNvSpPr>
          <p:nvPr/>
        </p:nvSpPr>
        <p:spPr>
          <a:xfrm xmlns:a="http://schemas.openxmlformats.org/drawingml/2006/main">
            <a:off x="3838575" y="42386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0" i="0">
                <a:solidFill>
                  <a:srgbClr val="D8E0E7"/>
                </a:solidFill>
              </a:defRPr>
            </a:pPr>
            <a:r>
              <a:rPr sz="1950" b="0" i="0">
                <a:solidFill>
                  <a:srgbClr val="D8E0E7"/>
                </a:solidFill>
              </a:rPr>
              <a:t>→</a:t>
            </a:r>
          </a:p>
        </p:txBody>
      </p:sp>
      <p:sp>
        <p:nvSpPr>
          <p:cNvPr id="11" name="">
            <a:extLst xmlns:a="http://schemas.openxmlformats.org/drawingml/2006/main">
              <a:ext uri="{FF2B5EF4-FFF2-40B4-BE49-F238E27FC236}">
                <a16:creationId xmlns:a16="http://schemas.microsoft.com/office/drawing/2014/main" id="{24FE58D0-2E85-4F21-9EEC-3A9E59B50147}"/>
              </a:ext>
            </a:extLst>
          </p:cNvPr>
          <p:cNvSpPr>
            <a:spLocks xmlns:a="http://schemas.openxmlformats.org/drawingml/2006/main" noGrp="1"/>
          </p:cNvSpPr>
          <p:nvPr/>
        </p:nvSpPr>
        <p:spPr>
          <a:xfrm xmlns:a="http://schemas.openxmlformats.org/drawingml/2006/main">
            <a:off x="4267200" y="3352800"/>
            <a:ext cx="3333750" cy="2143125"/>
          </a:xfrm>
          <a:prstGeom xmlns:a="http://schemas.openxmlformats.org/drawingml/2006/main" prst="roundRect">
            <a:avLst>
              <a:gd name="adj" fmla="val 5333"/>
            </a:avLst>
          </a:prstGeom>
          <a:solidFill xmlns:a="http://schemas.openxmlformats.org/drawingml/2006/main">
            <a:srgbClr val="FFF1D7"/>
          </a:solidFill>
          <a:ln xmlns:a="http://schemas.openxmlformats.org/drawingml/2006/main" w="9525">
            <a:solidFill>
              <a:srgbClr val="FFF1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95B2BB8C-7A18-4681-BED6-3FDC4EC6D792}"/>
              </a:ext>
            </a:extLst>
          </p:cNvPr>
          <p:cNvSpPr>
            <a:spLocks xmlns:a="http://schemas.openxmlformats.org/drawingml/2006/main" noGrp="1"/>
          </p:cNvSpPr>
          <p:nvPr/>
        </p:nvSpPr>
        <p:spPr>
          <a:xfrm xmlns:a="http://schemas.openxmlformats.org/drawingml/2006/main">
            <a:off x="4486275" y="357187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E6A037"/>
                </a:solidFill>
              </a:defRPr>
            </a:pPr>
            <a:r>
              <a:rPr sz="1275" b="1" i="0">
                <a:solidFill>
                  <a:srgbClr val="E6A037"/>
                </a:solidFill>
              </a:rPr>
              <a:t>02</a:t>
            </a:r>
          </a:p>
        </p:txBody>
      </p:sp>
      <p:sp>
        <p:nvSpPr>
          <p:cNvPr id="13" name="">
            <a:extLst xmlns:a="http://schemas.openxmlformats.org/drawingml/2006/main">
              <a:ext uri="{FF2B5EF4-FFF2-40B4-BE49-F238E27FC236}">
                <a16:creationId xmlns:a16="http://schemas.microsoft.com/office/drawing/2014/main" id="{2755D5A7-D00D-47C3-9CED-345CD7168674}"/>
              </a:ext>
            </a:extLst>
          </p:cNvPr>
          <p:cNvSpPr>
            <a:spLocks xmlns:a="http://schemas.openxmlformats.org/drawingml/2006/main" noGrp="1"/>
          </p:cNvSpPr>
          <p:nvPr/>
        </p:nvSpPr>
        <p:spPr>
          <a:xfrm xmlns:a="http://schemas.openxmlformats.org/drawingml/2006/main">
            <a:off x="4486275" y="40195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1F33"/>
                </a:solidFill>
              </a:defRPr>
            </a:pPr>
            <a:r>
              <a:rPr sz="2025" b="1" i="0">
                <a:solidFill>
                  <a:srgbClr val="0B1F33"/>
                </a:solidFill>
              </a:rPr>
              <a:t>Coordinate</a:t>
            </a:r>
          </a:p>
        </p:txBody>
      </p:sp>
      <p:sp>
        <p:nvSpPr>
          <p:cNvPr id="14" name="">
            <a:extLst xmlns:a="http://schemas.openxmlformats.org/drawingml/2006/main">
              <a:ext uri="{FF2B5EF4-FFF2-40B4-BE49-F238E27FC236}">
                <a16:creationId xmlns:a16="http://schemas.microsoft.com/office/drawing/2014/main" id="{3F2483F2-6120-4DC3-B96A-9DAFEDDCF3D9}"/>
              </a:ext>
            </a:extLst>
          </p:cNvPr>
          <p:cNvSpPr>
            <a:spLocks xmlns:a="http://schemas.openxmlformats.org/drawingml/2006/main" noGrp="1"/>
          </p:cNvSpPr>
          <p:nvPr/>
        </p:nvSpPr>
        <p:spPr>
          <a:xfrm xmlns:a="http://schemas.openxmlformats.org/drawingml/2006/main">
            <a:off x="4486275" y="449580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F6D80"/>
                </a:solidFill>
              </a:defRPr>
            </a:pPr>
            <a:r>
              <a:rPr sz="1050" b="0" i="0">
                <a:solidFill>
                  <a:srgbClr val="5F6D80"/>
                </a:solidFill>
              </a:rPr>
              <a:t>A policy gate permits only non-clinical status follow-up with the pharmacy or clinic.</a:t>
            </a:r>
          </a:p>
        </p:txBody>
      </p:sp>
      <p:sp>
        <p:nvSpPr>
          <p:cNvPr id="15" name="">
            <a:extLst xmlns:a="http://schemas.openxmlformats.org/drawingml/2006/main">
              <a:ext uri="{FF2B5EF4-FFF2-40B4-BE49-F238E27FC236}">
                <a16:creationId xmlns:a16="http://schemas.microsoft.com/office/drawing/2014/main" id="{F1C45CB5-5596-4672-8B01-474AB8CD20FB}"/>
              </a:ext>
            </a:extLst>
          </p:cNvPr>
          <p:cNvSpPr>
            <a:spLocks xmlns:a="http://schemas.openxmlformats.org/drawingml/2006/main" noGrp="1"/>
          </p:cNvSpPr>
          <p:nvPr/>
        </p:nvSpPr>
        <p:spPr>
          <a:xfrm xmlns:a="http://schemas.openxmlformats.org/drawingml/2006/main">
            <a:off x="7648575" y="42386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0" i="0">
                <a:solidFill>
                  <a:srgbClr val="D8E0E7"/>
                </a:solidFill>
              </a:defRPr>
            </a:pPr>
            <a:r>
              <a:rPr sz="1950" b="0" i="0">
                <a:solidFill>
                  <a:srgbClr val="D8E0E7"/>
                </a:solidFill>
              </a:rPr>
              <a:t>→</a:t>
            </a:r>
          </a:p>
        </p:txBody>
      </p:sp>
      <p:sp>
        <p:nvSpPr>
          <p:cNvPr id="16" name="">
            <a:extLst xmlns:a="http://schemas.openxmlformats.org/drawingml/2006/main">
              <a:ext uri="{FF2B5EF4-FFF2-40B4-BE49-F238E27FC236}">
                <a16:creationId xmlns:a16="http://schemas.microsoft.com/office/drawing/2014/main" id="{6BCCB853-8C3D-4CFB-8F6E-856DE5A7DA61}"/>
              </a:ext>
            </a:extLst>
          </p:cNvPr>
          <p:cNvSpPr>
            <a:spLocks xmlns:a="http://schemas.openxmlformats.org/drawingml/2006/main" noGrp="1"/>
          </p:cNvSpPr>
          <p:nvPr/>
        </p:nvSpPr>
        <p:spPr>
          <a:xfrm xmlns:a="http://schemas.openxmlformats.org/drawingml/2006/main">
            <a:off x="8077200" y="3352800"/>
            <a:ext cx="3333750" cy="2143125"/>
          </a:xfrm>
          <a:prstGeom xmlns:a="http://schemas.openxmlformats.org/drawingml/2006/main" prst="roundRect">
            <a:avLst>
              <a:gd name="adj" fmla="val 5333"/>
            </a:avLst>
          </a:prstGeom>
          <a:solidFill xmlns:a="http://schemas.openxmlformats.org/drawingml/2006/main">
            <a:srgbClr val="DCF6F0"/>
          </a:solidFill>
          <a:ln xmlns:a="http://schemas.openxmlformats.org/drawingml/2006/main" w="9525">
            <a:solidFill>
              <a:srgbClr val="DCF6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52CBEF9-BCF8-467A-A760-DF776001651F}"/>
              </a:ext>
            </a:extLst>
          </p:cNvPr>
          <p:cNvSpPr>
            <a:spLocks xmlns:a="http://schemas.openxmlformats.org/drawingml/2006/main" noGrp="1"/>
          </p:cNvSpPr>
          <p:nvPr/>
        </p:nvSpPr>
        <p:spPr>
          <a:xfrm xmlns:a="http://schemas.openxmlformats.org/drawingml/2006/main">
            <a:off x="8296275" y="357187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E9F8E"/>
                </a:solidFill>
              </a:defRPr>
            </a:pPr>
            <a:r>
              <a:rPr sz="1275" b="1" i="0">
                <a:solidFill>
                  <a:srgbClr val="0E9F8E"/>
                </a:solidFill>
              </a:rPr>
              <a:t>03</a:t>
            </a:r>
          </a:p>
        </p:txBody>
      </p:sp>
      <p:sp>
        <p:nvSpPr>
          <p:cNvPr id="18" name="">
            <a:extLst xmlns:a="http://schemas.openxmlformats.org/drawingml/2006/main">
              <a:ext uri="{FF2B5EF4-FFF2-40B4-BE49-F238E27FC236}">
                <a16:creationId xmlns:a16="http://schemas.microsoft.com/office/drawing/2014/main" id="{B2E21971-A2E9-4F17-933E-57F96E7F6E7B}"/>
              </a:ext>
            </a:extLst>
          </p:cNvPr>
          <p:cNvSpPr>
            <a:spLocks xmlns:a="http://schemas.openxmlformats.org/drawingml/2006/main" noGrp="1"/>
          </p:cNvSpPr>
          <p:nvPr/>
        </p:nvSpPr>
        <p:spPr>
          <a:xfrm xmlns:a="http://schemas.openxmlformats.org/drawingml/2006/main">
            <a:off x="8296275" y="40195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1F33"/>
                </a:solidFill>
              </a:defRPr>
            </a:pPr>
            <a:r>
              <a:rPr sz="2025" b="1" i="0">
                <a:solidFill>
                  <a:srgbClr val="0B1F33"/>
                </a:solidFill>
              </a:rPr>
              <a:t>Prove</a:t>
            </a:r>
          </a:p>
        </p:txBody>
      </p:sp>
      <p:sp>
        <p:nvSpPr>
          <p:cNvPr id="19" name="">
            <a:extLst xmlns:a="http://schemas.openxmlformats.org/drawingml/2006/main">
              <a:ext uri="{FF2B5EF4-FFF2-40B4-BE49-F238E27FC236}">
                <a16:creationId xmlns:a16="http://schemas.microsoft.com/office/drawing/2014/main" id="{E9C62F8B-3F86-4EAA-AFC7-38ADDE76EF84}"/>
              </a:ext>
            </a:extLst>
          </p:cNvPr>
          <p:cNvSpPr>
            <a:spLocks xmlns:a="http://schemas.openxmlformats.org/drawingml/2006/main" noGrp="1"/>
          </p:cNvSpPr>
          <p:nvPr/>
        </p:nvSpPr>
        <p:spPr>
          <a:xfrm xmlns:a="http://schemas.openxmlformats.org/drawingml/2006/main">
            <a:off x="8296275" y="449580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F6D80"/>
                </a:solidFill>
              </a:defRPr>
            </a:pPr>
            <a:r>
              <a:rPr sz="1050" b="0" i="0">
                <a:solidFill>
                  <a:srgbClr val="5F6D80"/>
                </a:solidFill>
              </a:rPr>
              <a:t>The case stays open until the final outcome and patient update are recorded.</a:t>
            </a:r>
          </a:p>
        </p:txBody>
      </p:sp>
      <p:sp>
        <p:nvSpPr>
          <p:cNvPr id="20" name="">
            <a:extLst xmlns:a="http://schemas.openxmlformats.org/drawingml/2006/main">
              <a:ext uri="{FF2B5EF4-FFF2-40B4-BE49-F238E27FC236}">
                <a16:creationId xmlns:a16="http://schemas.microsoft.com/office/drawing/2014/main" id="{10FE9426-0C09-4136-A5F6-11D8DBC4C363}"/>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The voice layer earns trust by visibly narrowing its authority.</a:t>
            </a:r>
          </a:p>
        </p:txBody>
      </p:sp>
      <p:sp>
        <p:nvSpPr>
          <p:cNvPr id="21" name="">
            <a:extLst xmlns:a="http://schemas.openxmlformats.org/drawingml/2006/main">
              <a:ext uri="{FF2B5EF4-FFF2-40B4-BE49-F238E27FC236}">
                <a16:creationId xmlns:a16="http://schemas.microsoft.com/office/drawing/2014/main" id="{7C3D7FAB-6B2A-40B4-82E0-541828E8838F}"/>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9096381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CDED6C4-3A52-43C4-B311-C1D9CF8DFD9E}"/>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LIVE IN 100 SECONDS</a:t>
            </a:r>
          </a:p>
        </p:txBody>
      </p:sp>
      <p:sp>
        <p:nvSpPr>
          <p:cNvPr id="2" name="">
            <a:extLst xmlns:a="http://schemas.openxmlformats.org/drawingml/2006/main">
              <a:ext uri="{FF2B5EF4-FFF2-40B4-BE49-F238E27FC236}">
                <a16:creationId xmlns:a16="http://schemas.microsoft.com/office/drawing/2014/main" id="{ED9B25FB-C64D-4936-9F41-F0C3368ECE45}"/>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D80"/>
                </a:solidFill>
              </a:defRPr>
            </a:pPr>
            <a:r>
              <a:rPr sz="750" b="1" i="0">
                <a:solidFill>
                  <a:srgbClr val="5F6D80"/>
                </a:solidFill>
              </a:rPr>
              <a:t>RXRELAY  /  05</a:t>
            </a:r>
          </a:p>
        </p:txBody>
      </p:sp>
      <p:sp>
        <p:nvSpPr>
          <p:cNvPr id="3" name="">
            <a:extLst xmlns:a="http://schemas.openxmlformats.org/drawingml/2006/main">
              <a:ext uri="{FF2B5EF4-FFF2-40B4-BE49-F238E27FC236}">
                <a16:creationId xmlns:a16="http://schemas.microsoft.com/office/drawing/2014/main" id="{27395B65-5BC0-46D6-A387-5227F3C04DD9}"/>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4" name="title">
            <a:extLst xmlns:a="http://schemas.openxmlformats.org/drawingml/2006/main">
              <a:ext uri="{FF2B5EF4-FFF2-40B4-BE49-F238E27FC236}">
                <a16:creationId xmlns:a16="http://schemas.microsoft.com/office/drawing/2014/main" id="{E4D08F25-0F4F-400C-85CA-2F9EF4913F82}"/>
              </a:ext>
            </a:extLst>
          </p:cNvPr>
          <p:cNvSpPr>
            <a:spLocks xmlns:a="http://schemas.openxmlformats.org/drawingml/2006/main" noGrp="1"/>
          </p:cNvSpPr>
          <p:nvPr/>
        </p:nvSpPr>
        <p:spPr>
          <a:xfrm xmlns:a="http://schemas.openxmlformats.org/drawingml/2006/main">
            <a:off x="457200" y="876300"/>
            <a:ext cx="8096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75" b="1" i="0">
                <a:solidFill>
                  <a:srgbClr val="0B1F33"/>
                </a:solidFill>
              </a:defRPr>
            </a:pPr>
            <a:r>
              <a:rPr sz="3675" b="1" i="0">
                <a:solidFill>
                  <a:srgbClr val="0B1F33"/>
                </a:solidFill>
              </a:rPr>
              <a:t>A case turns green</a:t>
            </a:r>
          </a:p>
          <a:p xmlns:a="http://schemas.openxmlformats.org/drawingml/2006/main">
            <a:pPr algn="l">
              <a:defRPr sz="3675" b="1" i="0">
                <a:solidFill>
                  <a:srgbClr val="0B1F33"/>
                </a:solidFill>
              </a:defRPr>
            </a:pPr>
            <a:r>
              <a:rPr sz="3675" b="1" i="0">
                <a:solidFill>
                  <a:srgbClr val="0B1F33"/>
                </a:solidFill>
              </a:rPr>
              <a:t>only when evidence arrives.</a:t>
            </a:r>
          </a:p>
        </p:txBody>
      </p:sp>
      <p:sp>
        <p:nvSpPr>
          <p:cNvPr id="5" name="subtitle">
            <a:extLst xmlns:a="http://schemas.openxmlformats.org/drawingml/2006/main">
              <a:ext uri="{FF2B5EF4-FFF2-40B4-BE49-F238E27FC236}">
                <a16:creationId xmlns:a16="http://schemas.microsoft.com/office/drawing/2014/main" id="{ECDC7DAC-6A1A-4F79-AB90-EDD4B27AED30}"/>
              </a:ext>
            </a:extLst>
          </p:cNvPr>
          <p:cNvSpPr>
            <a:spLocks xmlns:a="http://schemas.openxmlformats.org/drawingml/2006/main" noGrp="1"/>
          </p:cNvSpPr>
          <p:nvPr/>
        </p:nvSpPr>
        <p:spPr>
          <a:xfrm xmlns:a="http://schemas.openxmlformats.org/drawingml/2006/main">
            <a:off x="457200" y="2324100"/>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D80"/>
                </a:solidFill>
              </a:defRPr>
            </a:pPr>
            <a:r>
              <a:rPr sz="1350" b="0" i="0">
                <a:solidFill>
                  <a:srgbClr val="5F6D80"/>
                </a:solidFill>
              </a:rPr>
              <a:t>The judged flow is deterministic, visible, and safe to run end to end in a sandbox.</a:t>
            </a:r>
          </a:p>
        </p:txBody>
      </p:sp>
      <p:sp>
        <p:nvSpPr>
          <p:cNvPr id="6" name="">
            <a:extLst xmlns:a="http://schemas.openxmlformats.org/drawingml/2006/main">
              <a:ext uri="{FF2B5EF4-FFF2-40B4-BE49-F238E27FC236}">
                <a16:creationId xmlns:a16="http://schemas.microsoft.com/office/drawing/2014/main" id="{9F5DA96F-8D1B-4964-8C03-D3BFFF3253F0}"/>
              </a:ext>
            </a:extLst>
          </p:cNvPr>
          <p:cNvSpPr>
            <a:spLocks xmlns:a="http://schemas.openxmlformats.org/drawingml/2006/main" noGrp="1"/>
          </p:cNvSpPr>
          <p:nvPr/>
        </p:nvSpPr>
        <p:spPr>
          <a:xfrm xmlns:a="http://schemas.openxmlformats.org/drawingml/2006/main">
            <a:off x="762000" y="3838575"/>
            <a:ext cx="10668000" cy="2857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7" name="">
            <a:extLst xmlns:a="http://schemas.openxmlformats.org/drawingml/2006/main">
              <a:ext uri="{FF2B5EF4-FFF2-40B4-BE49-F238E27FC236}">
                <a16:creationId xmlns:a16="http://schemas.microsoft.com/office/drawing/2014/main" id="{FBA1126C-6D56-4ED0-9E05-2835CA732996}"/>
              </a:ext>
            </a:extLst>
          </p:cNvPr>
          <p:cNvSpPr>
            <a:spLocks xmlns:a="http://schemas.openxmlformats.org/drawingml/2006/main" noGrp="1"/>
          </p:cNvSpPr>
          <p:nvPr/>
        </p:nvSpPr>
        <p:spPr>
          <a:xfrm xmlns:a="http://schemas.openxmlformats.org/drawingml/2006/main">
            <a:off x="714375" y="3781425"/>
            <a:ext cx="133350" cy="1333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8" name="">
            <a:extLst xmlns:a="http://schemas.openxmlformats.org/drawingml/2006/main">
              <a:ext uri="{FF2B5EF4-FFF2-40B4-BE49-F238E27FC236}">
                <a16:creationId xmlns:a16="http://schemas.microsoft.com/office/drawing/2014/main" id="{38F82C9F-FE59-4C57-BF8A-CA31B43E4532}"/>
              </a:ext>
            </a:extLst>
          </p:cNvPr>
          <p:cNvSpPr>
            <a:spLocks xmlns:a="http://schemas.openxmlformats.org/drawingml/2006/main" noGrp="1"/>
          </p:cNvSpPr>
          <p:nvPr/>
        </p:nvSpPr>
        <p:spPr>
          <a:xfrm xmlns:a="http://schemas.openxmlformats.org/drawingml/2006/main">
            <a:off x="714375" y="317182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D80"/>
                </a:solidFill>
              </a:defRPr>
            </a:pPr>
            <a:r>
              <a:rPr sz="825" b="1" i="0">
                <a:solidFill>
                  <a:srgbClr val="5F6D80"/>
                </a:solidFill>
              </a:rPr>
              <a:t>00:00</a:t>
            </a:r>
          </a:p>
        </p:txBody>
      </p:sp>
      <p:sp>
        <p:nvSpPr>
          <p:cNvPr id="9" name="">
            <a:extLst xmlns:a="http://schemas.openxmlformats.org/drawingml/2006/main">
              <a:ext uri="{FF2B5EF4-FFF2-40B4-BE49-F238E27FC236}">
                <a16:creationId xmlns:a16="http://schemas.microsoft.com/office/drawing/2014/main" id="{0E05C829-8AC0-4461-B1CE-4FC5F1973AD4}"/>
              </a:ext>
            </a:extLst>
          </p:cNvPr>
          <p:cNvSpPr>
            <a:spLocks xmlns:a="http://schemas.openxmlformats.org/drawingml/2006/main" noGrp="1"/>
          </p:cNvSpPr>
          <p:nvPr/>
        </p:nvSpPr>
        <p:spPr>
          <a:xfrm xmlns:a="http://schemas.openxmlformats.org/drawingml/2006/main">
            <a:off x="714375" y="4143375"/>
            <a:ext cx="1714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Consent</a:t>
            </a:r>
          </a:p>
        </p:txBody>
      </p:sp>
      <p:sp>
        <p:nvSpPr>
          <p:cNvPr id="10" name="">
            <a:extLst xmlns:a="http://schemas.openxmlformats.org/drawingml/2006/main">
              <a:ext uri="{FF2B5EF4-FFF2-40B4-BE49-F238E27FC236}">
                <a16:creationId xmlns:a16="http://schemas.microsoft.com/office/drawing/2014/main" id="{BAC924BA-F911-486E-B110-D045C83EEF23}"/>
              </a:ext>
            </a:extLst>
          </p:cNvPr>
          <p:cNvSpPr>
            <a:spLocks xmlns:a="http://schemas.openxmlformats.org/drawingml/2006/main" noGrp="1"/>
          </p:cNvSpPr>
          <p:nvPr/>
        </p:nvSpPr>
        <p:spPr>
          <a:xfrm xmlns:a="http://schemas.openxmlformats.org/drawingml/2006/main">
            <a:off x="714375" y="44577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Patient permits a status follow-up.</a:t>
            </a:r>
          </a:p>
        </p:txBody>
      </p:sp>
      <p:sp>
        <p:nvSpPr>
          <p:cNvPr id="11" name="">
            <a:extLst xmlns:a="http://schemas.openxmlformats.org/drawingml/2006/main">
              <a:ext uri="{FF2B5EF4-FFF2-40B4-BE49-F238E27FC236}">
                <a16:creationId xmlns:a16="http://schemas.microsoft.com/office/drawing/2014/main" id="{9F823949-5860-4B1A-AA8E-C9770AAEEDF2}"/>
              </a:ext>
            </a:extLst>
          </p:cNvPr>
          <p:cNvSpPr>
            <a:spLocks xmlns:a="http://schemas.openxmlformats.org/drawingml/2006/main" noGrp="1"/>
          </p:cNvSpPr>
          <p:nvPr/>
        </p:nvSpPr>
        <p:spPr>
          <a:xfrm xmlns:a="http://schemas.openxmlformats.org/drawingml/2006/main">
            <a:off x="3095625" y="3781425"/>
            <a:ext cx="133350" cy="1333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12" name="">
            <a:extLst xmlns:a="http://schemas.openxmlformats.org/drawingml/2006/main">
              <a:ext uri="{FF2B5EF4-FFF2-40B4-BE49-F238E27FC236}">
                <a16:creationId xmlns:a16="http://schemas.microsoft.com/office/drawing/2014/main" id="{1F1B8911-3F55-462E-AFCF-C9B5620464BC}"/>
              </a:ext>
            </a:extLst>
          </p:cNvPr>
          <p:cNvSpPr>
            <a:spLocks xmlns:a="http://schemas.openxmlformats.org/drawingml/2006/main" noGrp="1"/>
          </p:cNvSpPr>
          <p:nvPr/>
        </p:nvSpPr>
        <p:spPr>
          <a:xfrm xmlns:a="http://schemas.openxmlformats.org/drawingml/2006/main">
            <a:off x="3095625" y="317182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D80"/>
                </a:solidFill>
              </a:defRPr>
            </a:pPr>
            <a:r>
              <a:rPr sz="825" b="1" i="0">
                <a:solidFill>
                  <a:srgbClr val="5F6D80"/>
                </a:solidFill>
              </a:rPr>
              <a:t>00:20</a:t>
            </a:r>
          </a:p>
        </p:txBody>
      </p:sp>
      <p:sp>
        <p:nvSpPr>
          <p:cNvPr id="13" name="">
            <a:extLst xmlns:a="http://schemas.openxmlformats.org/drawingml/2006/main">
              <a:ext uri="{FF2B5EF4-FFF2-40B4-BE49-F238E27FC236}">
                <a16:creationId xmlns:a16="http://schemas.microsoft.com/office/drawing/2014/main" id="{5A16D1C4-F3B7-4D48-92E3-5E48595A89F9}"/>
              </a:ext>
            </a:extLst>
          </p:cNvPr>
          <p:cNvSpPr>
            <a:spLocks xmlns:a="http://schemas.openxmlformats.org/drawingml/2006/main" noGrp="1"/>
          </p:cNvSpPr>
          <p:nvPr/>
        </p:nvSpPr>
        <p:spPr>
          <a:xfrm xmlns:a="http://schemas.openxmlformats.org/drawingml/2006/main">
            <a:off x="3095625" y="4143375"/>
            <a:ext cx="1714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Pharmacy</a:t>
            </a:r>
          </a:p>
        </p:txBody>
      </p:sp>
      <p:sp>
        <p:nvSpPr>
          <p:cNvPr id="14" name="">
            <a:extLst xmlns:a="http://schemas.openxmlformats.org/drawingml/2006/main">
              <a:ext uri="{FF2B5EF4-FFF2-40B4-BE49-F238E27FC236}">
                <a16:creationId xmlns:a16="http://schemas.microsoft.com/office/drawing/2014/main" id="{CA4FD139-0ED3-4737-B825-87CFE6809606}"/>
              </a:ext>
            </a:extLst>
          </p:cNvPr>
          <p:cNvSpPr>
            <a:spLocks xmlns:a="http://schemas.openxmlformats.org/drawingml/2006/main" noGrp="1"/>
          </p:cNvSpPr>
          <p:nvPr/>
        </p:nvSpPr>
        <p:spPr>
          <a:xfrm xmlns:a="http://schemas.openxmlformats.org/drawingml/2006/main">
            <a:off x="3095625" y="44577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Blocker: prior authorization needed.</a:t>
            </a:r>
          </a:p>
        </p:txBody>
      </p:sp>
      <p:sp>
        <p:nvSpPr>
          <p:cNvPr id="15" name="">
            <a:extLst xmlns:a="http://schemas.openxmlformats.org/drawingml/2006/main">
              <a:ext uri="{FF2B5EF4-FFF2-40B4-BE49-F238E27FC236}">
                <a16:creationId xmlns:a16="http://schemas.microsoft.com/office/drawing/2014/main" id="{C4C4D129-7568-4D01-8C4B-B75C71A9BF9B}"/>
              </a:ext>
            </a:extLst>
          </p:cNvPr>
          <p:cNvSpPr>
            <a:spLocks xmlns:a="http://schemas.openxmlformats.org/drawingml/2006/main" noGrp="1"/>
          </p:cNvSpPr>
          <p:nvPr/>
        </p:nvSpPr>
        <p:spPr>
          <a:xfrm xmlns:a="http://schemas.openxmlformats.org/drawingml/2006/main">
            <a:off x="5476875" y="3781425"/>
            <a:ext cx="133350" cy="1333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16" name="">
            <a:extLst xmlns:a="http://schemas.openxmlformats.org/drawingml/2006/main">
              <a:ext uri="{FF2B5EF4-FFF2-40B4-BE49-F238E27FC236}">
                <a16:creationId xmlns:a16="http://schemas.microsoft.com/office/drawing/2014/main" id="{53EF24F2-0CEA-462E-9795-8AF0A9AE6651}"/>
              </a:ext>
            </a:extLst>
          </p:cNvPr>
          <p:cNvSpPr>
            <a:spLocks xmlns:a="http://schemas.openxmlformats.org/drawingml/2006/main" noGrp="1"/>
          </p:cNvSpPr>
          <p:nvPr/>
        </p:nvSpPr>
        <p:spPr>
          <a:xfrm xmlns:a="http://schemas.openxmlformats.org/drawingml/2006/main">
            <a:off x="5476875" y="317182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D80"/>
                </a:solidFill>
              </a:defRPr>
            </a:pPr>
            <a:r>
              <a:rPr sz="825" b="1" i="0">
                <a:solidFill>
                  <a:srgbClr val="5F6D80"/>
                </a:solidFill>
              </a:rPr>
              <a:t>00:45</a:t>
            </a:r>
          </a:p>
        </p:txBody>
      </p:sp>
      <p:sp>
        <p:nvSpPr>
          <p:cNvPr id="17" name="">
            <a:extLst xmlns:a="http://schemas.openxmlformats.org/drawingml/2006/main">
              <a:ext uri="{FF2B5EF4-FFF2-40B4-BE49-F238E27FC236}">
                <a16:creationId xmlns:a16="http://schemas.microsoft.com/office/drawing/2014/main" id="{3E1A2DCC-444A-47AB-BEDF-9BDF8C80738D}"/>
              </a:ext>
            </a:extLst>
          </p:cNvPr>
          <p:cNvSpPr>
            <a:spLocks xmlns:a="http://schemas.openxmlformats.org/drawingml/2006/main" noGrp="1"/>
          </p:cNvSpPr>
          <p:nvPr/>
        </p:nvSpPr>
        <p:spPr>
          <a:xfrm xmlns:a="http://schemas.openxmlformats.org/drawingml/2006/main">
            <a:off x="5476875" y="4143375"/>
            <a:ext cx="1714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Clinic</a:t>
            </a:r>
          </a:p>
        </p:txBody>
      </p:sp>
      <p:sp>
        <p:nvSpPr>
          <p:cNvPr id="18" name="">
            <a:extLst xmlns:a="http://schemas.openxmlformats.org/drawingml/2006/main">
              <a:ext uri="{FF2B5EF4-FFF2-40B4-BE49-F238E27FC236}">
                <a16:creationId xmlns:a16="http://schemas.microsoft.com/office/drawing/2014/main" id="{355E5F47-2F6F-4079-A4E9-F544A3E0848A}"/>
              </a:ext>
            </a:extLst>
          </p:cNvPr>
          <p:cNvSpPr>
            <a:spLocks xmlns:a="http://schemas.openxmlformats.org/drawingml/2006/main" noGrp="1"/>
          </p:cNvSpPr>
          <p:nvPr/>
        </p:nvSpPr>
        <p:spPr>
          <a:xfrm xmlns:a="http://schemas.openxmlformats.org/drawingml/2006/main">
            <a:off x="5476875" y="44577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Required follow-up is submitted.</a:t>
            </a:r>
          </a:p>
        </p:txBody>
      </p:sp>
      <p:sp>
        <p:nvSpPr>
          <p:cNvPr id="19" name="">
            <a:extLst xmlns:a="http://schemas.openxmlformats.org/drawingml/2006/main">
              <a:ext uri="{FF2B5EF4-FFF2-40B4-BE49-F238E27FC236}">
                <a16:creationId xmlns:a16="http://schemas.microsoft.com/office/drawing/2014/main" id="{BE1FAB42-F9E4-40FF-A314-AE26F31BB06C}"/>
              </a:ext>
            </a:extLst>
          </p:cNvPr>
          <p:cNvSpPr>
            <a:spLocks xmlns:a="http://schemas.openxmlformats.org/drawingml/2006/main" noGrp="1"/>
          </p:cNvSpPr>
          <p:nvPr/>
        </p:nvSpPr>
        <p:spPr>
          <a:xfrm xmlns:a="http://schemas.openxmlformats.org/drawingml/2006/main">
            <a:off x="7858125" y="3781425"/>
            <a:ext cx="133350" cy="1333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20" name="">
            <a:extLst xmlns:a="http://schemas.openxmlformats.org/drawingml/2006/main">
              <a:ext uri="{FF2B5EF4-FFF2-40B4-BE49-F238E27FC236}">
                <a16:creationId xmlns:a16="http://schemas.microsoft.com/office/drawing/2014/main" id="{89152CB7-561D-45F4-9F78-7C188F4FF0F9}"/>
              </a:ext>
            </a:extLst>
          </p:cNvPr>
          <p:cNvSpPr>
            <a:spLocks xmlns:a="http://schemas.openxmlformats.org/drawingml/2006/main" noGrp="1"/>
          </p:cNvSpPr>
          <p:nvPr/>
        </p:nvSpPr>
        <p:spPr>
          <a:xfrm xmlns:a="http://schemas.openxmlformats.org/drawingml/2006/main">
            <a:off x="7858125" y="317182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D80"/>
                </a:solidFill>
              </a:defRPr>
            </a:pPr>
            <a:r>
              <a:rPr sz="825" b="1" i="0">
                <a:solidFill>
                  <a:srgbClr val="5F6D80"/>
                </a:solidFill>
              </a:rPr>
              <a:t>01:10</a:t>
            </a:r>
          </a:p>
        </p:txBody>
      </p:sp>
      <p:sp>
        <p:nvSpPr>
          <p:cNvPr id="21" name="">
            <a:extLst xmlns:a="http://schemas.openxmlformats.org/drawingml/2006/main">
              <a:ext uri="{FF2B5EF4-FFF2-40B4-BE49-F238E27FC236}">
                <a16:creationId xmlns:a16="http://schemas.microsoft.com/office/drawing/2014/main" id="{D262EFF7-C823-42B4-94A1-0C5BE0DE9E45}"/>
              </a:ext>
            </a:extLst>
          </p:cNvPr>
          <p:cNvSpPr>
            <a:spLocks xmlns:a="http://schemas.openxmlformats.org/drawingml/2006/main" noGrp="1"/>
          </p:cNvSpPr>
          <p:nvPr/>
        </p:nvSpPr>
        <p:spPr>
          <a:xfrm xmlns:a="http://schemas.openxmlformats.org/drawingml/2006/main">
            <a:off x="7858125" y="4143375"/>
            <a:ext cx="1714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Verify</a:t>
            </a:r>
          </a:p>
        </p:txBody>
      </p:sp>
      <p:sp>
        <p:nvSpPr>
          <p:cNvPr id="22" name="">
            <a:extLst xmlns:a="http://schemas.openxmlformats.org/drawingml/2006/main">
              <a:ext uri="{FF2B5EF4-FFF2-40B4-BE49-F238E27FC236}">
                <a16:creationId xmlns:a16="http://schemas.microsoft.com/office/drawing/2014/main" id="{6DE8B759-5A7A-4E5A-AA53-C5DA9E37299D}"/>
              </a:ext>
            </a:extLst>
          </p:cNvPr>
          <p:cNvSpPr>
            <a:spLocks xmlns:a="http://schemas.openxmlformats.org/drawingml/2006/main" noGrp="1"/>
          </p:cNvSpPr>
          <p:nvPr/>
        </p:nvSpPr>
        <p:spPr>
          <a:xfrm xmlns:a="http://schemas.openxmlformats.org/drawingml/2006/main">
            <a:off x="7858125" y="44577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Pharmacy confirms readiness.</a:t>
            </a:r>
          </a:p>
        </p:txBody>
      </p:sp>
      <p:sp>
        <p:nvSpPr>
          <p:cNvPr id="23" name="">
            <a:extLst xmlns:a="http://schemas.openxmlformats.org/drawingml/2006/main">
              <a:ext uri="{FF2B5EF4-FFF2-40B4-BE49-F238E27FC236}">
                <a16:creationId xmlns:a16="http://schemas.microsoft.com/office/drawing/2014/main" id="{95DDDB2F-66DA-4785-A7EA-427372775160}"/>
              </a:ext>
            </a:extLst>
          </p:cNvPr>
          <p:cNvSpPr>
            <a:spLocks xmlns:a="http://schemas.openxmlformats.org/drawingml/2006/main" noGrp="1"/>
          </p:cNvSpPr>
          <p:nvPr/>
        </p:nvSpPr>
        <p:spPr>
          <a:xfrm xmlns:a="http://schemas.openxmlformats.org/drawingml/2006/main">
            <a:off x="10239375" y="3781425"/>
            <a:ext cx="133350" cy="133350"/>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24" name="">
            <a:extLst xmlns:a="http://schemas.openxmlformats.org/drawingml/2006/main">
              <a:ext uri="{FF2B5EF4-FFF2-40B4-BE49-F238E27FC236}">
                <a16:creationId xmlns:a16="http://schemas.microsoft.com/office/drawing/2014/main" id="{EF11661E-DB22-4A2D-99F5-257CE36C1398}"/>
              </a:ext>
            </a:extLst>
          </p:cNvPr>
          <p:cNvSpPr>
            <a:spLocks xmlns:a="http://schemas.openxmlformats.org/drawingml/2006/main" noGrp="1"/>
          </p:cNvSpPr>
          <p:nvPr/>
        </p:nvSpPr>
        <p:spPr>
          <a:xfrm xmlns:a="http://schemas.openxmlformats.org/drawingml/2006/main">
            <a:off x="10239375" y="317182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D80"/>
                </a:solidFill>
              </a:defRPr>
            </a:pPr>
            <a:r>
              <a:rPr sz="825" b="1" i="0">
                <a:solidFill>
                  <a:srgbClr val="5F6D80"/>
                </a:solidFill>
              </a:rPr>
              <a:t>01:22</a:t>
            </a:r>
          </a:p>
        </p:txBody>
      </p:sp>
      <p:sp>
        <p:nvSpPr>
          <p:cNvPr id="25" name="">
            <a:extLst xmlns:a="http://schemas.openxmlformats.org/drawingml/2006/main">
              <a:ext uri="{FF2B5EF4-FFF2-40B4-BE49-F238E27FC236}">
                <a16:creationId xmlns:a16="http://schemas.microsoft.com/office/drawing/2014/main" id="{959BF714-D2BD-4CB1-938C-2676479A9E51}"/>
              </a:ext>
            </a:extLst>
          </p:cNvPr>
          <p:cNvSpPr>
            <a:spLocks xmlns:a="http://schemas.openxmlformats.org/drawingml/2006/main" noGrp="1"/>
          </p:cNvSpPr>
          <p:nvPr/>
        </p:nvSpPr>
        <p:spPr>
          <a:xfrm xmlns:a="http://schemas.openxmlformats.org/drawingml/2006/main">
            <a:off x="10239375" y="4143375"/>
            <a:ext cx="1714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Update</a:t>
            </a:r>
          </a:p>
        </p:txBody>
      </p:sp>
      <p:sp>
        <p:nvSpPr>
          <p:cNvPr id="26" name="">
            <a:extLst xmlns:a="http://schemas.openxmlformats.org/drawingml/2006/main">
              <a:ext uri="{FF2B5EF4-FFF2-40B4-BE49-F238E27FC236}">
                <a16:creationId xmlns:a16="http://schemas.microsoft.com/office/drawing/2014/main" id="{4A3BEC21-52F2-4172-B913-BE00EB7B2E53}"/>
              </a:ext>
            </a:extLst>
          </p:cNvPr>
          <p:cNvSpPr>
            <a:spLocks xmlns:a="http://schemas.openxmlformats.org/drawingml/2006/main" noGrp="1"/>
          </p:cNvSpPr>
          <p:nvPr/>
        </p:nvSpPr>
        <p:spPr>
          <a:xfrm xmlns:a="http://schemas.openxmlformats.org/drawingml/2006/main">
            <a:off x="10239375" y="44577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Consented patient SMS is sent.</a:t>
            </a:r>
          </a:p>
        </p:txBody>
      </p:sp>
      <p:sp>
        <p:nvSpPr>
          <p:cNvPr id="27" name="">
            <a:extLst xmlns:a="http://schemas.openxmlformats.org/drawingml/2006/main">
              <a:ext uri="{FF2B5EF4-FFF2-40B4-BE49-F238E27FC236}">
                <a16:creationId xmlns:a16="http://schemas.microsoft.com/office/drawing/2014/main" id="{A5F168B4-1730-4E5D-9B2F-ED288BD079A1}"/>
              </a:ext>
            </a:extLst>
          </p:cNvPr>
          <p:cNvSpPr>
            <a:spLocks xmlns:a="http://schemas.openxmlformats.org/drawingml/2006/main" noGrp="1"/>
          </p:cNvSpPr>
          <p:nvPr/>
        </p:nvSpPr>
        <p:spPr>
          <a:xfrm xmlns:a="http://schemas.openxmlformats.org/drawingml/2006/main">
            <a:off x="7353300" y="5372100"/>
            <a:ext cx="4381500" cy="704850"/>
          </a:xfrm>
          <a:prstGeom xmlns:a="http://schemas.openxmlformats.org/drawingml/2006/main" prst="roundRect">
            <a:avLst>
              <a:gd name="adj" fmla="val 16216"/>
            </a:avLst>
          </a:prstGeom>
          <a:solidFill xmlns:a="http://schemas.openxmlformats.org/drawingml/2006/main">
            <a:srgbClr val="DCF6F0"/>
          </a:solidFill>
          <a:ln xmlns:a="http://schemas.openxmlformats.org/drawingml/2006/main" w="9525">
            <a:solidFill>
              <a:srgbClr val="DCF6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602CD6D6-099A-440A-964E-3AF2C0F3EAE5}"/>
              </a:ext>
            </a:extLst>
          </p:cNvPr>
          <p:cNvSpPr>
            <a:spLocks xmlns:a="http://schemas.openxmlformats.org/drawingml/2006/main" noGrp="1"/>
          </p:cNvSpPr>
          <p:nvPr/>
        </p:nvSpPr>
        <p:spPr>
          <a:xfrm xmlns:a="http://schemas.openxmlformats.org/drawingml/2006/main">
            <a:off x="7600950" y="55911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E9F8E"/>
                </a:solidFill>
              </a:defRPr>
            </a:pPr>
            <a:r>
              <a:rPr sz="1350" b="1" i="0">
                <a:solidFill>
                  <a:srgbClr val="0E9F8E"/>
                </a:solidFill>
              </a:rPr>
              <a:t>✓  4/4 proof conditions complete</a:t>
            </a:r>
          </a:p>
        </p:txBody>
      </p:sp>
      <p:sp>
        <p:nvSpPr>
          <p:cNvPr id="29" name="">
            <a:extLst xmlns:a="http://schemas.openxmlformats.org/drawingml/2006/main">
              <a:ext uri="{FF2B5EF4-FFF2-40B4-BE49-F238E27FC236}">
                <a16:creationId xmlns:a16="http://schemas.microsoft.com/office/drawing/2014/main" id="{79C6953D-76D0-4E71-B01E-1D9D7E3F6489}"/>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Every UI action hits the real demo case state machine—no pre-baked animation.</a:t>
            </a:r>
          </a:p>
        </p:txBody>
      </p:sp>
      <p:sp>
        <p:nvSpPr>
          <p:cNvPr id="30" name="">
            <a:extLst xmlns:a="http://schemas.openxmlformats.org/drawingml/2006/main">
              <a:ext uri="{FF2B5EF4-FFF2-40B4-BE49-F238E27FC236}">
                <a16:creationId xmlns:a16="http://schemas.microsoft.com/office/drawing/2014/main" id="{9B5304A5-C665-48FE-AB87-D756E4FF11D7}"/>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1333255362"/>
      </p:ext>
    </p:extLst>
  </p:cSld>
</p:sld>
</file>

<file path=ppt/slides/slide6.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7EF71E8-6152-445F-A856-02ECF08EF619}"/>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THE PROOF BOARD</a:t>
            </a:r>
          </a:p>
        </p:txBody>
      </p:sp>
      <p:sp>
        <p:nvSpPr>
          <p:cNvPr id="2" name="">
            <a:extLst xmlns:a="http://schemas.openxmlformats.org/drawingml/2006/main">
              <a:ext uri="{FF2B5EF4-FFF2-40B4-BE49-F238E27FC236}">
                <a16:creationId xmlns:a16="http://schemas.microsoft.com/office/drawing/2014/main" id="{50A9B832-7C33-4F65-9F42-68C21A5067AB}"/>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D80"/>
                </a:solidFill>
              </a:defRPr>
            </a:pPr>
            <a:r>
              <a:rPr sz="750" b="1" i="0">
                <a:solidFill>
                  <a:srgbClr val="5F6D80"/>
                </a:solidFill>
              </a:rPr>
              <a:t>RXRELAY  /  06</a:t>
            </a:r>
          </a:p>
        </p:txBody>
      </p:sp>
      <p:sp>
        <p:nvSpPr>
          <p:cNvPr id="3" name="">
            <a:extLst xmlns:a="http://schemas.openxmlformats.org/drawingml/2006/main">
              <a:ext uri="{FF2B5EF4-FFF2-40B4-BE49-F238E27FC236}">
                <a16:creationId xmlns:a16="http://schemas.microsoft.com/office/drawing/2014/main" id="{22D614C7-4F89-4E9C-8485-3910D36C54B1}"/>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4" name="title">
            <a:extLst xmlns:a="http://schemas.openxmlformats.org/drawingml/2006/main">
              <a:ext uri="{FF2B5EF4-FFF2-40B4-BE49-F238E27FC236}">
                <a16:creationId xmlns:a16="http://schemas.microsoft.com/office/drawing/2014/main" id="{080035A7-AEBC-4C64-A752-D4167937E8B3}"/>
              </a:ext>
            </a:extLst>
          </p:cNvPr>
          <p:cNvSpPr>
            <a:spLocks xmlns:a="http://schemas.openxmlformats.org/drawingml/2006/main" noGrp="1"/>
          </p:cNvSpPr>
          <p:nvPr/>
        </p:nvSpPr>
        <p:spPr>
          <a:xfrm xmlns:a="http://schemas.openxmlformats.org/drawingml/2006/main">
            <a:off x="457200" y="876300"/>
            <a:ext cx="8096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i="0">
                <a:solidFill>
                  <a:srgbClr val="0B1F33"/>
                </a:solidFill>
              </a:defRPr>
            </a:pPr>
            <a:r>
              <a:rPr sz="3300" b="1" i="0">
                <a:solidFill>
                  <a:srgbClr val="0B1F33"/>
                </a:solidFill>
              </a:rPr>
              <a:t>The interface is designed to make a false “done” impossible.</a:t>
            </a:r>
          </a:p>
        </p:txBody>
      </p:sp>
      <p:sp>
        <p:nvSpPr>
          <p:cNvPr id="5" name="subtitle">
            <a:extLst xmlns:a="http://schemas.openxmlformats.org/drawingml/2006/main">
              <a:ext uri="{FF2B5EF4-FFF2-40B4-BE49-F238E27FC236}">
                <a16:creationId xmlns:a16="http://schemas.microsoft.com/office/drawing/2014/main" id="{D3B8161F-FD7C-433A-B470-3B5E38575CA3}"/>
              </a:ext>
            </a:extLst>
          </p:cNvPr>
          <p:cNvSpPr>
            <a:spLocks xmlns:a="http://schemas.openxmlformats.org/drawingml/2006/main" noGrp="1"/>
          </p:cNvSpPr>
          <p:nvPr/>
        </p:nvSpPr>
        <p:spPr>
          <a:xfrm xmlns:a="http://schemas.openxmlformats.org/drawingml/2006/main">
            <a:off x="457200" y="1809750"/>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D80"/>
                </a:solidFill>
              </a:defRPr>
            </a:pPr>
            <a:r>
              <a:rPr sz="1350" b="0" i="0">
                <a:solidFill>
                  <a:srgbClr val="5F6D80"/>
                </a:solidFill>
              </a:rPr>
              <a:t>Judges can see the exact difference between activity and resolution.</a:t>
            </a:r>
          </a:p>
        </p:txBody>
      </p:sp>
      <p:sp>
        <p:nvSpPr>
          <p:cNvPr id="6" name="">
            <a:extLst xmlns:a="http://schemas.openxmlformats.org/drawingml/2006/main">
              <a:ext uri="{FF2B5EF4-FFF2-40B4-BE49-F238E27FC236}">
                <a16:creationId xmlns:a16="http://schemas.microsoft.com/office/drawing/2014/main" id="{DCBBCE6A-8D0F-48AA-A06A-339AED6D8587}"/>
              </a:ext>
            </a:extLst>
          </p:cNvPr>
          <p:cNvSpPr>
            <a:spLocks xmlns:a="http://schemas.openxmlformats.org/drawingml/2006/main" noGrp="1"/>
          </p:cNvSpPr>
          <p:nvPr/>
        </p:nvSpPr>
        <p:spPr>
          <a:xfrm xmlns:a="http://schemas.openxmlformats.org/drawingml/2006/main">
            <a:off x="457200" y="2847975"/>
            <a:ext cx="112776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8E0E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D61DC22-FDD0-4138-8C59-1F5C817B5CFD}"/>
              </a:ext>
            </a:extLst>
          </p:cNvPr>
          <p:cNvSpPr>
            <a:spLocks xmlns:a="http://schemas.openxmlformats.org/drawingml/2006/main" noGrp="1"/>
          </p:cNvSpPr>
          <p:nvPr/>
        </p:nvSpPr>
        <p:spPr>
          <a:xfrm xmlns:a="http://schemas.openxmlformats.org/drawingml/2006/main">
            <a:off x="723900" y="3105150"/>
            <a:ext cx="485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B1F33"/>
                </a:solidFill>
              </a:defRPr>
            </a:pPr>
            <a:r>
              <a:rPr sz="1200" b="1" i="0">
                <a:solidFill>
                  <a:srgbClr val="0B1F33"/>
                </a:solidFill>
              </a:rPr>
              <a:t>RX-1048 · Demo prescription-access case</a:t>
            </a:r>
          </a:p>
        </p:txBody>
      </p:sp>
      <p:sp>
        <p:nvSpPr>
          <p:cNvPr id="8" name="">
            <a:extLst xmlns:a="http://schemas.openxmlformats.org/drawingml/2006/main">
              <a:ext uri="{FF2B5EF4-FFF2-40B4-BE49-F238E27FC236}">
                <a16:creationId xmlns:a16="http://schemas.microsoft.com/office/drawing/2014/main" id="{41ED224D-08F9-4BB1-B649-207EC5666853}"/>
              </a:ext>
            </a:extLst>
          </p:cNvPr>
          <p:cNvSpPr>
            <a:spLocks xmlns:a="http://schemas.openxmlformats.org/drawingml/2006/main" noGrp="1"/>
          </p:cNvSpPr>
          <p:nvPr/>
        </p:nvSpPr>
        <p:spPr>
          <a:xfrm xmlns:a="http://schemas.openxmlformats.org/drawingml/2006/main">
            <a:off x="9620250" y="3048000"/>
            <a:ext cx="1752600" cy="238125"/>
          </a:xfrm>
          <a:prstGeom xmlns:a="http://schemas.openxmlformats.org/drawingml/2006/main" prst="roundRect">
            <a:avLst>
              <a:gd name="adj" fmla="val 50000"/>
            </a:avLst>
          </a:prstGeom>
          <a:solidFill xmlns:a="http://schemas.openxmlformats.org/drawingml/2006/main">
            <a:srgbClr val="DCF6F0"/>
          </a:solidFill>
          <a:ln xmlns:a="http://schemas.openxmlformats.org/drawingml/2006/main" w="0">
            <a:solidFill>
              <a:srgbClr val="DCF6F0"/>
            </a:solidFill>
            <a:prstDash val="solid"/>
          </a:ln>
        </p:spPr>
      </p:sp>
      <p:sp>
        <p:nvSpPr>
          <p:cNvPr id="9" name="">
            <a:extLst xmlns:a="http://schemas.openxmlformats.org/drawingml/2006/main">
              <a:ext uri="{FF2B5EF4-FFF2-40B4-BE49-F238E27FC236}">
                <a16:creationId xmlns:a16="http://schemas.microsoft.com/office/drawing/2014/main" id="{7AC35219-8ADB-443D-9234-F2C48C1FB006}"/>
              </a:ext>
            </a:extLst>
          </p:cNvPr>
          <p:cNvSpPr>
            <a:spLocks xmlns:a="http://schemas.openxmlformats.org/drawingml/2006/main" noGrp="1"/>
          </p:cNvSpPr>
          <p:nvPr/>
        </p:nvSpPr>
        <p:spPr>
          <a:xfrm xmlns:a="http://schemas.openxmlformats.org/drawingml/2006/main">
            <a:off x="9715500" y="3105150"/>
            <a:ext cx="15621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0E9F8E"/>
                </a:solidFill>
              </a:defRPr>
            </a:pPr>
            <a:r>
              <a:rPr sz="750" b="1" i="0">
                <a:solidFill>
                  <a:srgbClr val="0E9F8E"/>
                </a:solidFill>
              </a:rPr>
              <a:t>RESOLUTION VERIFIED</a:t>
            </a:r>
          </a:p>
        </p:txBody>
      </p:sp>
      <p:sp>
        <p:nvSpPr>
          <p:cNvPr id="10" name="">
            <a:extLst xmlns:a="http://schemas.openxmlformats.org/drawingml/2006/main">
              <a:ext uri="{FF2B5EF4-FFF2-40B4-BE49-F238E27FC236}">
                <a16:creationId xmlns:a16="http://schemas.microsoft.com/office/drawing/2014/main" id="{13573D7B-959F-44F7-9C20-EBC2BC0C067B}"/>
              </a:ext>
            </a:extLst>
          </p:cNvPr>
          <p:cNvSpPr>
            <a:spLocks xmlns:a="http://schemas.openxmlformats.org/drawingml/2006/main" noGrp="1"/>
          </p:cNvSpPr>
          <p:nvPr/>
        </p:nvSpPr>
        <p:spPr>
          <a:xfrm xmlns:a="http://schemas.openxmlformats.org/drawingml/2006/main">
            <a:off x="723900" y="3590925"/>
            <a:ext cx="2076450" cy="1905000"/>
          </a:xfrm>
          <a:prstGeom xmlns:a="http://schemas.openxmlformats.org/drawingml/2006/main" prst="roundRect">
            <a:avLst>
              <a:gd name="adj" fmla="val 6000"/>
            </a:avLst>
          </a:prstGeom>
          <a:solidFill xmlns:a="http://schemas.openxmlformats.org/drawingml/2006/main">
            <a:srgbClr val="E5F0FF"/>
          </a:solidFill>
          <a:ln xmlns:a="http://schemas.openxmlformats.org/drawingml/2006/main" w="9525">
            <a:solidFill>
              <a:srgbClr val="E5F0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B9D8602-8BA9-4CF5-A6EB-71A20502C621}"/>
              </a:ext>
            </a:extLst>
          </p:cNvPr>
          <p:cNvSpPr>
            <a:spLocks xmlns:a="http://schemas.openxmlformats.org/drawingml/2006/main" noGrp="1"/>
          </p:cNvSpPr>
          <p:nvPr/>
        </p:nvSpPr>
        <p:spPr>
          <a:xfrm xmlns:a="http://schemas.openxmlformats.org/drawingml/2006/main">
            <a:off x="885825" y="3800475"/>
            <a:ext cx="16668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3D8DFF"/>
                </a:solidFill>
              </a:defRPr>
            </a:pPr>
            <a:r>
              <a:rPr sz="675" b="1" i="0">
                <a:solidFill>
                  <a:srgbClr val="3D8DFF"/>
                </a:solidFill>
              </a:rPr>
              <a:t>PATIENT</a:t>
            </a:r>
          </a:p>
        </p:txBody>
      </p:sp>
      <p:sp>
        <p:nvSpPr>
          <p:cNvPr id="12" name="">
            <a:extLst xmlns:a="http://schemas.openxmlformats.org/drawingml/2006/main">
              <a:ext uri="{FF2B5EF4-FFF2-40B4-BE49-F238E27FC236}">
                <a16:creationId xmlns:a16="http://schemas.microsoft.com/office/drawing/2014/main" id="{517D5EBB-FEA5-489E-BE4D-9971E36B4174}"/>
              </a:ext>
            </a:extLst>
          </p:cNvPr>
          <p:cNvSpPr>
            <a:spLocks xmlns:a="http://schemas.openxmlformats.org/drawingml/2006/main" noGrp="1"/>
          </p:cNvSpPr>
          <p:nvPr/>
        </p:nvSpPr>
        <p:spPr>
          <a:xfrm xmlns:a="http://schemas.openxmlformats.org/drawingml/2006/main">
            <a:off x="885825" y="4171950"/>
            <a:ext cx="1666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Consent recorded</a:t>
            </a:r>
          </a:p>
        </p:txBody>
      </p:sp>
      <p:sp>
        <p:nvSpPr>
          <p:cNvPr id="13" name="">
            <a:extLst xmlns:a="http://schemas.openxmlformats.org/drawingml/2006/main">
              <a:ext uri="{FF2B5EF4-FFF2-40B4-BE49-F238E27FC236}">
                <a16:creationId xmlns:a16="http://schemas.microsoft.com/office/drawing/2014/main" id="{A76A10C6-FFA8-45E6-8F71-E8D12DD1EED7}"/>
              </a:ext>
            </a:extLst>
          </p:cNvPr>
          <p:cNvSpPr>
            <a:spLocks xmlns:a="http://schemas.openxmlformats.org/drawingml/2006/main" noGrp="1"/>
          </p:cNvSpPr>
          <p:nvPr/>
        </p:nvSpPr>
        <p:spPr>
          <a:xfrm xmlns:a="http://schemas.openxmlformats.org/drawingml/2006/main">
            <a:off x="885825" y="4772025"/>
            <a:ext cx="1714500"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EABFDE7F-FAB4-4A61-BDED-0B3EEEAEE6F3}"/>
              </a:ext>
            </a:extLst>
          </p:cNvPr>
          <p:cNvSpPr>
            <a:spLocks xmlns:a="http://schemas.openxmlformats.org/drawingml/2006/main" noGrp="1"/>
          </p:cNvSpPr>
          <p:nvPr/>
        </p:nvSpPr>
        <p:spPr>
          <a:xfrm xmlns:a="http://schemas.openxmlformats.org/drawingml/2006/main">
            <a:off x="885825" y="497205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Status update sent</a:t>
            </a:r>
          </a:p>
        </p:txBody>
      </p:sp>
      <p:sp>
        <p:nvSpPr>
          <p:cNvPr id="15" name="">
            <a:extLst xmlns:a="http://schemas.openxmlformats.org/drawingml/2006/main">
              <a:ext uri="{FF2B5EF4-FFF2-40B4-BE49-F238E27FC236}">
                <a16:creationId xmlns:a16="http://schemas.microsoft.com/office/drawing/2014/main" id="{32C06E0C-639B-4D9D-BE14-FE947CA745A3}"/>
              </a:ext>
            </a:extLst>
          </p:cNvPr>
          <p:cNvSpPr>
            <a:spLocks xmlns:a="http://schemas.openxmlformats.org/drawingml/2006/main" noGrp="1"/>
          </p:cNvSpPr>
          <p:nvPr/>
        </p:nvSpPr>
        <p:spPr>
          <a:xfrm xmlns:a="http://schemas.openxmlformats.org/drawingml/2006/main">
            <a:off x="3028950" y="3590925"/>
            <a:ext cx="2076450" cy="1905000"/>
          </a:xfrm>
          <a:prstGeom xmlns:a="http://schemas.openxmlformats.org/drawingml/2006/main" prst="roundRect">
            <a:avLst>
              <a:gd name="adj" fmla="val 6000"/>
            </a:avLst>
          </a:prstGeom>
          <a:solidFill xmlns:a="http://schemas.openxmlformats.org/drawingml/2006/main">
            <a:srgbClr val="FFF1D7"/>
          </a:solidFill>
          <a:ln xmlns:a="http://schemas.openxmlformats.org/drawingml/2006/main" w="9525">
            <a:solidFill>
              <a:srgbClr val="FFF1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AFF720BC-CF09-42CA-B6B5-4402D122DB70}"/>
              </a:ext>
            </a:extLst>
          </p:cNvPr>
          <p:cNvSpPr>
            <a:spLocks xmlns:a="http://schemas.openxmlformats.org/drawingml/2006/main" noGrp="1"/>
          </p:cNvSpPr>
          <p:nvPr/>
        </p:nvSpPr>
        <p:spPr>
          <a:xfrm xmlns:a="http://schemas.openxmlformats.org/drawingml/2006/main">
            <a:off x="3190875" y="3800475"/>
            <a:ext cx="16668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E6A037"/>
                </a:solidFill>
              </a:defRPr>
            </a:pPr>
            <a:r>
              <a:rPr sz="675" b="1" i="0">
                <a:solidFill>
                  <a:srgbClr val="E6A037"/>
                </a:solidFill>
              </a:rPr>
              <a:t>PHARMACY</a:t>
            </a:r>
          </a:p>
        </p:txBody>
      </p:sp>
      <p:sp>
        <p:nvSpPr>
          <p:cNvPr id="17" name="">
            <a:extLst xmlns:a="http://schemas.openxmlformats.org/drawingml/2006/main">
              <a:ext uri="{FF2B5EF4-FFF2-40B4-BE49-F238E27FC236}">
                <a16:creationId xmlns:a16="http://schemas.microsoft.com/office/drawing/2014/main" id="{DCED37B0-087A-4BD8-974D-0132E1474388}"/>
              </a:ext>
            </a:extLst>
          </p:cNvPr>
          <p:cNvSpPr>
            <a:spLocks xmlns:a="http://schemas.openxmlformats.org/drawingml/2006/main" noGrp="1"/>
          </p:cNvSpPr>
          <p:nvPr/>
        </p:nvSpPr>
        <p:spPr>
          <a:xfrm xmlns:a="http://schemas.openxmlformats.org/drawingml/2006/main">
            <a:off x="3190875" y="4171950"/>
            <a:ext cx="1666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Ready for pickup</a:t>
            </a:r>
          </a:p>
        </p:txBody>
      </p:sp>
      <p:sp>
        <p:nvSpPr>
          <p:cNvPr id="18" name="">
            <a:extLst xmlns:a="http://schemas.openxmlformats.org/drawingml/2006/main">
              <a:ext uri="{FF2B5EF4-FFF2-40B4-BE49-F238E27FC236}">
                <a16:creationId xmlns:a16="http://schemas.microsoft.com/office/drawing/2014/main" id="{A5E1C64D-8824-4DC8-BA5E-5DD03E860D63}"/>
              </a:ext>
            </a:extLst>
          </p:cNvPr>
          <p:cNvSpPr>
            <a:spLocks xmlns:a="http://schemas.openxmlformats.org/drawingml/2006/main" noGrp="1"/>
          </p:cNvSpPr>
          <p:nvPr/>
        </p:nvSpPr>
        <p:spPr>
          <a:xfrm xmlns:a="http://schemas.openxmlformats.org/drawingml/2006/main">
            <a:off x="3190875" y="4772025"/>
            <a:ext cx="1714500"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 name="">
            <a:extLst xmlns:a="http://schemas.openxmlformats.org/drawingml/2006/main">
              <a:ext uri="{FF2B5EF4-FFF2-40B4-BE49-F238E27FC236}">
                <a16:creationId xmlns:a16="http://schemas.microsoft.com/office/drawing/2014/main" id="{9E51976F-B867-4E63-B212-F234AFA35990}"/>
              </a:ext>
            </a:extLst>
          </p:cNvPr>
          <p:cNvSpPr>
            <a:spLocks xmlns:a="http://schemas.openxmlformats.org/drawingml/2006/main" noGrp="1"/>
          </p:cNvSpPr>
          <p:nvPr/>
        </p:nvSpPr>
        <p:spPr>
          <a:xfrm xmlns:a="http://schemas.openxmlformats.org/drawingml/2006/main">
            <a:off x="3190875" y="497205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Outcome confirmed</a:t>
            </a:r>
          </a:p>
        </p:txBody>
      </p:sp>
      <p:sp>
        <p:nvSpPr>
          <p:cNvPr id="20" name="">
            <a:extLst xmlns:a="http://schemas.openxmlformats.org/drawingml/2006/main">
              <a:ext uri="{FF2B5EF4-FFF2-40B4-BE49-F238E27FC236}">
                <a16:creationId xmlns:a16="http://schemas.microsoft.com/office/drawing/2014/main" id="{15D98AB3-95CC-4C52-9B06-EC86FB761932}"/>
              </a:ext>
            </a:extLst>
          </p:cNvPr>
          <p:cNvSpPr>
            <a:spLocks xmlns:a="http://schemas.openxmlformats.org/drawingml/2006/main" noGrp="1"/>
          </p:cNvSpPr>
          <p:nvPr/>
        </p:nvSpPr>
        <p:spPr>
          <a:xfrm xmlns:a="http://schemas.openxmlformats.org/drawingml/2006/main">
            <a:off x="5334000" y="3590925"/>
            <a:ext cx="2076450" cy="1905000"/>
          </a:xfrm>
          <a:prstGeom xmlns:a="http://schemas.openxmlformats.org/drawingml/2006/main" prst="roundRect">
            <a:avLst>
              <a:gd name="adj" fmla="val 6000"/>
            </a:avLst>
          </a:prstGeom>
          <a:solidFill xmlns:a="http://schemas.openxmlformats.org/drawingml/2006/main">
            <a:srgbClr val="EEE9FF"/>
          </a:solidFill>
          <a:ln xmlns:a="http://schemas.openxmlformats.org/drawingml/2006/main" w="9525">
            <a:solidFill>
              <a:srgbClr val="EEE9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5B30C849-0DA0-4941-BA96-37495F166705}"/>
              </a:ext>
            </a:extLst>
          </p:cNvPr>
          <p:cNvSpPr>
            <a:spLocks xmlns:a="http://schemas.openxmlformats.org/drawingml/2006/main" noGrp="1"/>
          </p:cNvSpPr>
          <p:nvPr/>
        </p:nvSpPr>
        <p:spPr>
          <a:xfrm xmlns:a="http://schemas.openxmlformats.org/drawingml/2006/main">
            <a:off x="5495925" y="3800475"/>
            <a:ext cx="16668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B61D4"/>
                </a:solidFill>
              </a:defRPr>
            </a:pPr>
            <a:r>
              <a:rPr sz="675" b="1" i="0">
                <a:solidFill>
                  <a:srgbClr val="7B61D4"/>
                </a:solidFill>
              </a:rPr>
              <a:t>CLINIC / INSURER</a:t>
            </a:r>
          </a:p>
        </p:txBody>
      </p:sp>
      <p:sp>
        <p:nvSpPr>
          <p:cNvPr id="22" name="">
            <a:extLst xmlns:a="http://schemas.openxmlformats.org/drawingml/2006/main">
              <a:ext uri="{FF2B5EF4-FFF2-40B4-BE49-F238E27FC236}">
                <a16:creationId xmlns:a16="http://schemas.microsoft.com/office/drawing/2014/main" id="{45953AC5-7B12-4444-813B-7CCE815F021E}"/>
              </a:ext>
            </a:extLst>
          </p:cNvPr>
          <p:cNvSpPr>
            <a:spLocks xmlns:a="http://schemas.openxmlformats.org/drawingml/2006/main" noGrp="1"/>
          </p:cNvSpPr>
          <p:nvPr/>
        </p:nvSpPr>
        <p:spPr>
          <a:xfrm xmlns:a="http://schemas.openxmlformats.org/drawingml/2006/main">
            <a:off x="5495925" y="4171950"/>
            <a:ext cx="1666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PA submitted</a:t>
            </a:r>
          </a:p>
        </p:txBody>
      </p:sp>
      <p:sp>
        <p:nvSpPr>
          <p:cNvPr id="23" name="">
            <a:extLst xmlns:a="http://schemas.openxmlformats.org/drawingml/2006/main">
              <a:ext uri="{FF2B5EF4-FFF2-40B4-BE49-F238E27FC236}">
                <a16:creationId xmlns:a16="http://schemas.microsoft.com/office/drawing/2014/main" id="{65CA15DE-A8CA-42CF-A148-ECE4C3DADBF9}"/>
              </a:ext>
            </a:extLst>
          </p:cNvPr>
          <p:cNvSpPr>
            <a:spLocks xmlns:a="http://schemas.openxmlformats.org/drawingml/2006/main" noGrp="1"/>
          </p:cNvSpPr>
          <p:nvPr/>
        </p:nvSpPr>
        <p:spPr>
          <a:xfrm xmlns:a="http://schemas.openxmlformats.org/drawingml/2006/main">
            <a:off x="5495925" y="4772025"/>
            <a:ext cx="1714500"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74F27C29-FA80-4789-BA0C-D56949386D70}"/>
              </a:ext>
            </a:extLst>
          </p:cNvPr>
          <p:cNvSpPr>
            <a:spLocks xmlns:a="http://schemas.openxmlformats.org/drawingml/2006/main" noGrp="1"/>
          </p:cNvSpPr>
          <p:nvPr/>
        </p:nvSpPr>
        <p:spPr>
          <a:xfrm xmlns:a="http://schemas.openxmlformats.org/drawingml/2006/main">
            <a:off x="5495925" y="497205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Follow-up recorded</a:t>
            </a:r>
          </a:p>
        </p:txBody>
      </p:sp>
      <p:sp>
        <p:nvSpPr>
          <p:cNvPr id="25" name="">
            <a:extLst xmlns:a="http://schemas.openxmlformats.org/drawingml/2006/main">
              <a:ext uri="{FF2B5EF4-FFF2-40B4-BE49-F238E27FC236}">
                <a16:creationId xmlns:a16="http://schemas.microsoft.com/office/drawing/2014/main" id="{F972FFA8-E4E5-4AC3-9768-2C7A8A510FBD}"/>
              </a:ext>
            </a:extLst>
          </p:cNvPr>
          <p:cNvSpPr>
            <a:spLocks xmlns:a="http://schemas.openxmlformats.org/drawingml/2006/main" noGrp="1"/>
          </p:cNvSpPr>
          <p:nvPr/>
        </p:nvSpPr>
        <p:spPr>
          <a:xfrm xmlns:a="http://schemas.openxmlformats.org/drawingml/2006/main">
            <a:off x="8029575" y="3590925"/>
            <a:ext cx="3343275" cy="1905000"/>
          </a:xfrm>
          <a:prstGeom xmlns:a="http://schemas.openxmlformats.org/drawingml/2006/main" prst="roundRect">
            <a:avLst>
              <a:gd name="adj" fmla="val 6000"/>
            </a:avLst>
          </a:prstGeom>
          <a:solidFill xmlns:a="http://schemas.openxmlformats.org/drawingml/2006/main">
            <a:srgbClr val="071A2B"/>
          </a:solidFill>
          <a:ln xmlns:a="http://schemas.openxmlformats.org/drawingml/2006/main" w="9525">
            <a:solidFill>
              <a:srgbClr val="071A2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EEF92B72-DD2B-425D-943C-9474EB63D80B}"/>
              </a:ext>
            </a:extLst>
          </p:cNvPr>
          <p:cNvSpPr>
            <a:spLocks xmlns:a="http://schemas.openxmlformats.org/drawingml/2006/main" noGrp="1"/>
          </p:cNvSpPr>
          <p:nvPr/>
        </p:nvSpPr>
        <p:spPr>
          <a:xfrm xmlns:a="http://schemas.openxmlformats.org/drawingml/2006/main">
            <a:off x="8258175" y="3810000"/>
            <a:ext cx="2619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91A9BC"/>
                </a:solidFill>
              </a:defRPr>
            </a:pPr>
            <a:r>
              <a:rPr sz="675" b="1" i="0">
                <a:solidFill>
                  <a:srgbClr val="91A9BC"/>
                </a:solidFill>
              </a:rPr>
              <a:t>DETERMINISTIC CLOSE GATE</a:t>
            </a:r>
          </a:p>
        </p:txBody>
      </p:sp>
      <p:sp>
        <p:nvSpPr>
          <p:cNvPr id="27" name="">
            <a:extLst xmlns:a="http://schemas.openxmlformats.org/drawingml/2006/main">
              <a:ext uri="{FF2B5EF4-FFF2-40B4-BE49-F238E27FC236}">
                <a16:creationId xmlns:a16="http://schemas.microsoft.com/office/drawing/2014/main" id="{C8B21787-3242-4D04-8006-98CF1CAB2C15}"/>
              </a:ext>
            </a:extLst>
          </p:cNvPr>
          <p:cNvSpPr>
            <a:spLocks xmlns:a="http://schemas.openxmlformats.org/drawingml/2006/main" noGrp="1"/>
          </p:cNvSpPr>
          <p:nvPr/>
        </p:nvSpPr>
        <p:spPr>
          <a:xfrm xmlns:a="http://schemas.openxmlformats.org/drawingml/2006/main">
            <a:off x="8258175" y="4229100"/>
            <a:ext cx="161925" cy="16192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28" name="">
            <a:extLst xmlns:a="http://schemas.openxmlformats.org/drawingml/2006/main">
              <a:ext uri="{FF2B5EF4-FFF2-40B4-BE49-F238E27FC236}">
                <a16:creationId xmlns:a16="http://schemas.microsoft.com/office/drawing/2014/main" id="{30253BD7-2602-4C44-BC1C-A80B9BDB9540}"/>
              </a:ext>
            </a:extLst>
          </p:cNvPr>
          <p:cNvSpPr>
            <a:spLocks xmlns:a="http://schemas.openxmlformats.org/drawingml/2006/main" noGrp="1"/>
          </p:cNvSpPr>
          <p:nvPr/>
        </p:nvSpPr>
        <p:spPr>
          <a:xfrm xmlns:a="http://schemas.openxmlformats.org/drawingml/2006/main">
            <a:off x="8286750" y="4248150"/>
            <a:ext cx="10477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1" i="0">
                <a:solidFill>
                  <a:srgbClr val="FFFFFF"/>
                </a:solidFill>
              </a:defRPr>
            </a:pPr>
            <a:r>
              <a:rPr sz="675" b="1" i="0">
                <a:solidFill>
                  <a:srgbClr val="FFFFFF"/>
                </a:solidFill>
              </a:rPr>
              <a:t>✓</a:t>
            </a:r>
          </a:p>
        </p:txBody>
      </p:sp>
      <p:sp>
        <p:nvSpPr>
          <p:cNvPr id="29" name="">
            <a:extLst xmlns:a="http://schemas.openxmlformats.org/drawingml/2006/main">
              <a:ext uri="{FF2B5EF4-FFF2-40B4-BE49-F238E27FC236}">
                <a16:creationId xmlns:a16="http://schemas.microsoft.com/office/drawing/2014/main" id="{F28EA782-C807-4414-B2C0-0CD248A2FF61}"/>
              </a:ext>
            </a:extLst>
          </p:cNvPr>
          <p:cNvSpPr>
            <a:spLocks xmlns:a="http://schemas.openxmlformats.org/drawingml/2006/main" noGrp="1"/>
          </p:cNvSpPr>
          <p:nvPr/>
        </p:nvSpPr>
        <p:spPr>
          <a:xfrm xmlns:a="http://schemas.openxmlformats.org/drawingml/2006/main">
            <a:off x="8486775" y="4248150"/>
            <a:ext cx="1000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FFFF"/>
                </a:solidFill>
              </a:defRPr>
            </a:pPr>
            <a:r>
              <a:rPr sz="825" b="1" i="0">
                <a:solidFill>
                  <a:srgbClr val="FFFFFF"/>
                </a:solidFill>
              </a:rPr>
              <a:t>Consent</a:t>
            </a:r>
          </a:p>
        </p:txBody>
      </p:sp>
      <p:sp>
        <p:nvSpPr>
          <p:cNvPr id="30" name="">
            <a:extLst xmlns:a="http://schemas.openxmlformats.org/drawingml/2006/main">
              <a:ext uri="{FF2B5EF4-FFF2-40B4-BE49-F238E27FC236}">
                <a16:creationId xmlns:a16="http://schemas.microsoft.com/office/drawing/2014/main" id="{70F02D08-625D-4973-BF5E-74F7A1BAD5C9}"/>
              </a:ext>
            </a:extLst>
          </p:cNvPr>
          <p:cNvSpPr>
            <a:spLocks xmlns:a="http://schemas.openxmlformats.org/drawingml/2006/main" noGrp="1"/>
          </p:cNvSpPr>
          <p:nvPr/>
        </p:nvSpPr>
        <p:spPr>
          <a:xfrm xmlns:a="http://schemas.openxmlformats.org/drawingml/2006/main">
            <a:off x="8258175" y="4695825"/>
            <a:ext cx="161925" cy="16192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31" name="">
            <a:extLst xmlns:a="http://schemas.openxmlformats.org/drawingml/2006/main">
              <a:ext uri="{FF2B5EF4-FFF2-40B4-BE49-F238E27FC236}">
                <a16:creationId xmlns:a16="http://schemas.microsoft.com/office/drawing/2014/main" id="{F167E71E-D088-4554-8AF2-6700FA785DA3}"/>
              </a:ext>
            </a:extLst>
          </p:cNvPr>
          <p:cNvSpPr>
            <a:spLocks xmlns:a="http://schemas.openxmlformats.org/drawingml/2006/main" noGrp="1"/>
          </p:cNvSpPr>
          <p:nvPr/>
        </p:nvSpPr>
        <p:spPr>
          <a:xfrm xmlns:a="http://schemas.openxmlformats.org/drawingml/2006/main">
            <a:off x="8286750" y="4714875"/>
            <a:ext cx="10477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1" i="0">
                <a:solidFill>
                  <a:srgbClr val="FFFFFF"/>
                </a:solidFill>
              </a:defRPr>
            </a:pPr>
            <a:r>
              <a:rPr sz="675" b="1" i="0">
                <a:solidFill>
                  <a:srgbClr val="FFFFFF"/>
                </a:solidFill>
              </a:rPr>
              <a:t>✓</a:t>
            </a:r>
          </a:p>
        </p:txBody>
      </p:sp>
      <p:sp>
        <p:nvSpPr>
          <p:cNvPr id="32" name="">
            <a:extLst xmlns:a="http://schemas.openxmlformats.org/drawingml/2006/main">
              <a:ext uri="{FF2B5EF4-FFF2-40B4-BE49-F238E27FC236}">
                <a16:creationId xmlns:a16="http://schemas.microsoft.com/office/drawing/2014/main" id="{54128445-A5FC-46C1-BE7B-4BB896F33E6E}"/>
              </a:ext>
            </a:extLst>
          </p:cNvPr>
          <p:cNvSpPr>
            <a:spLocks xmlns:a="http://schemas.openxmlformats.org/drawingml/2006/main" noGrp="1"/>
          </p:cNvSpPr>
          <p:nvPr/>
        </p:nvSpPr>
        <p:spPr>
          <a:xfrm xmlns:a="http://schemas.openxmlformats.org/drawingml/2006/main">
            <a:off x="8486775" y="4714875"/>
            <a:ext cx="1000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FFFF"/>
                </a:solidFill>
              </a:defRPr>
            </a:pPr>
            <a:r>
              <a:rPr sz="825" b="1" i="0">
                <a:solidFill>
                  <a:srgbClr val="FFFFFF"/>
                </a:solidFill>
              </a:rPr>
              <a:t>Action</a:t>
            </a:r>
          </a:p>
        </p:txBody>
      </p:sp>
      <p:sp>
        <p:nvSpPr>
          <p:cNvPr id="33" name="">
            <a:extLst xmlns:a="http://schemas.openxmlformats.org/drawingml/2006/main">
              <a:ext uri="{FF2B5EF4-FFF2-40B4-BE49-F238E27FC236}">
                <a16:creationId xmlns:a16="http://schemas.microsoft.com/office/drawing/2014/main" id="{7B567A45-F759-4BA8-8E3B-AC8337D357E1}"/>
              </a:ext>
            </a:extLst>
          </p:cNvPr>
          <p:cNvSpPr>
            <a:spLocks xmlns:a="http://schemas.openxmlformats.org/drawingml/2006/main" noGrp="1"/>
          </p:cNvSpPr>
          <p:nvPr/>
        </p:nvSpPr>
        <p:spPr>
          <a:xfrm xmlns:a="http://schemas.openxmlformats.org/drawingml/2006/main">
            <a:off x="9705975" y="4229100"/>
            <a:ext cx="161925" cy="16192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34" name="">
            <a:extLst xmlns:a="http://schemas.openxmlformats.org/drawingml/2006/main">
              <a:ext uri="{FF2B5EF4-FFF2-40B4-BE49-F238E27FC236}">
                <a16:creationId xmlns:a16="http://schemas.microsoft.com/office/drawing/2014/main" id="{24C480AC-0919-4B5C-B831-DD2B534D1A79}"/>
              </a:ext>
            </a:extLst>
          </p:cNvPr>
          <p:cNvSpPr>
            <a:spLocks xmlns:a="http://schemas.openxmlformats.org/drawingml/2006/main" noGrp="1"/>
          </p:cNvSpPr>
          <p:nvPr/>
        </p:nvSpPr>
        <p:spPr>
          <a:xfrm xmlns:a="http://schemas.openxmlformats.org/drawingml/2006/main">
            <a:off x="9734550" y="4248150"/>
            <a:ext cx="10477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1" i="0">
                <a:solidFill>
                  <a:srgbClr val="FFFFFF"/>
                </a:solidFill>
              </a:defRPr>
            </a:pPr>
            <a:r>
              <a:rPr sz="675" b="1" i="0">
                <a:solidFill>
                  <a:srgbClr val="FFFFFF"/>
                </a:solidFill>
              </a:rPr>
              <a:t>✓</a:t>
            </a:r>
          </a:p>
        </p:txBody>
      </p:sp>
      <p:sp>
        <p:nvSpPr>
          <p:cNvPr id="35" name="">
            <a:extLst xmlns:a="http://schemas.openxmlformats.org/drawingml/2006/main">
              <a:ext uri="{FF2B5EF4-FFF2-40B4-BE49-F238E27FC236}">
                <a16:creationId xmlns:a16="http://schemas.microsoft.com/office/drawing/2014/main" id="{E092065B-86CC-4138-AFDD-FC0A69BFD706}"/>
              </a:ext>
            </a:extLst>
          </p:cNvPr>
          <p:cNvSpPr>
            <a:spLocks xmlns:a="http://schemas.openxmlformats.org/drawingml/2006/main" noGrp="1"/>
          </p:cNvSpPr>
          <p:nvPr/>
        </p:nvSpPr>
        <p:spPr>
          <a:xfrm xmlns:a="http://schemas.openxmlformats.org/drawingml/2006/main">
            <a:off x="9934575" y="4248150"/>
            <a:ext cx="1000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FFFF"/>
                </a:solidFill>
              </a:defRPr>
            </a:pPr>
            <a:r>
              <a:rPr sz="825" b="1" i="0">
                <a:solidFill>
                  <a:srgbClr val="FFFFFF"/>
                </a:solidFill>
              </a:rPr>
              <a:t>Outcome</a:t>
            </a:r>
          </a:p>
        </p:txBody>
      </p:sp>
      <p:sp>
        <p:nvSpPr>
          <p:cNvPr id="36" name="">
            <a:extLst xmlns:a="http://schemas.openxmlformats.org/drawingml/2006/main">
              <a:ext uri="{FF2B5EF4-FFF2-40B4-BE49-F238E27FC236}">
                <a16:creationId xmlns:a16="http://schemas.microsoft.com/office/drawing/2014/main" id="{5113BF4E-F7B8-4DD0-9239-71D1CEDD2EA8}"/>
              </a:ext>
            </a:extLst>
          </p:cNvPr>
          <p:cNvSpPr>
            <a:spLocks xmlns:a="http://schemas.openxmlformats.org/drawingml/2006/main" noGrp="1"/>
          </p:cNvSpPr>
          <p:nvPr/>
        </p:nvSpPr>
        <p:spPr>
          <a:xfrm xmlns:a="http://schemas.openxmlformats.org/drawingml/2006/main">
            <a:off x="9705975" y="4695825"/>
            <a:ext cx="161925" cy="16192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37" name="">
            <a:extLst xmlns:a="http://schemas.openxmlformats.org/drawingml/2006/main">
              <a:ext uri="{FF2B5EF4-FFF2-40B4-BE49-F238E27FC236}">
                <a16:creationId xmlns:a16="http://schemas.microsoft.com/office/drawing/2014/main" id="{778C2CE6-7748-4518-AA2B-3152C48F0369}"/>
              </a:ext>
            </a:extLst>
          </p:cNvPr>
          <p:cNvSpPr>
            <a:spLocks xmlns:a="http://schemas.openxmlformats.org/drawingml/2006/main" noGrp="1"/>
          </p:cNvSpPr>
          <p:nvPr/>
        </p:nvSpPr>
        <p:spPr>
          <a:xfrm xmlns:a="http://schemas.openxmlformats.org/drawingml/2006/main">
            <a:off x="9734550" y="4714875"/>
            <a:ext cx="10477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1" i="0">
                <a:solidFill>
                  <a:srgbClr val="FFFFFF"/>
                </a:solidFill>
              </a:defRPr>
            </a:pPr>
            <a:r>
              <a:rPr sz="675" b="1" i="0">
                <a:solidFill>
                  <a:srgbClr val="FFFFFF"/>
                </a:solidFill>
              </a:rPr>
              <a:t>✓</a:t>
            </a:r>
          </a:p>
        </p:txBody>
      </p:sp>
      <p:sp>
        <p:nvSpPr>
          <p:cNvPr id="38" name="">
            <a:extLst xmlns:a="http://schemas.openxmlformats.org/drawingml/2006/main">
              <a:ext uri="{FF2B5EF4-FFF2-40B4-BE49-F238E27FC236}">
                <a16:creationId xmlns:a16="http://schemas.microsoft.com/office/drawing/2014/main" id="{AB44BBE2-E80E-4403-BDE6-2CA9CBCEC00E}"/>
              </a:ext>
            </a:extLst>
          </p:cNvPr>
          <p:cNvSpPr>
            <a:spLocks xmlns:a="http://schemas.openxmlformats.org/drawingml/2006/main" noGrp="1"/>
          </p:cNvSpPr>
          <p:nvPr/>
        </p:nvSpPr>
        <p:spPr>
          <a:xfrm xmlns:a="http://schemas.openxmlformats.org/drawingml/2006/main">
            <a:off x="9934575" y="4714875"/>
            <a:ext cx="1000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FFFF"/>
                </a:solidFill>
              </a:defRPr>
            </a:pPr>
            <a:r>
              <a:rPr sz="825" b="1" i="0">
                <a:solidFill>
                  <a:srgbClr val="FFFFFF"/>
                </a:solidFill>
              </a:rPr>
              <a:t>Notification</a:t>
            </a:r>
          </a:p>
        </p:txBody>
      </p:sp>
      <p:sp>
        <p:nvSpPr>
          <p:cNvPr id="39" name="">
            <a:extLst xmlns:a="http://schemas.openxmlformats.org/drawingml/2006/main">
              <a:ext uri="{FF2B5EF4-FFF2-40B4-BE49-F238E27FC236}">
                <a16:creationId xmlns:a16="http://schemas.microsoft.com/office/drawing/2014/main" id="{1D9906CB-B90A-47ED-A3CB-EA1F4514AC72}"/>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The product language is intentionally evidence-centric: record, confirm, notify, prove.</a:t>
            </a:r>
          </a:p>
        </p:txBody>
      </p:sp>
      <p:sp>
        <p:nvSpPr>
          <p:cNvPr id="40" name="">
            <a:extLst xmlns:a="http://schemas.openxmlformats.org/drawingml/2006/main">
              <a:ext uri="{FF2B5EF4-FFF2-40B4-BE49-F238E27FC236}">
                <a16:creationId xmlns:a16="http://schemas.microsoft.com/office/drawing/2014/main" id="{C0B6F7FB-0F97-4F37-9E31-CB4DEB6DEDBB}"/>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1625616690"/>
      </p:ext>
    </p:extLst>
  </p:cSld>
</p:sld>
</file>

<file path=ppt/slides/slide7.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409F691-8998-4500-8227-9BD4C9E78865}"/>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A8BACB"/>
                </a:solidFill>
              </a:defRPr>
            </a:pPr>
            <a:r>
              <a:rPr sz="750" b="1" i="0">
                <a:solidFill>
                  <a:srgbClr val="A8BACB"/>
                </a:solidFill>
              </a:rPr>
              <a:t>WHY PAVO</a:t>
            </a:r>
          </a:p>
        </p:txBody>
      </p:sp>
      <p:sp>
        <p:nvSpPr>
          <p:cNvPr id="2" name="">
            <a:extLst xmlns:a="http://schemas.openxmlformats.org/drawingml/2006/main">
              <a:ext uri="{FF2B5EF4-FFF2-40B4-BE49-F238E27FC236}">
                <a16:creationId xmlns:a16="http://schemas.microsoft.com/office/drawing/2014/main" id="{413F907A-99A1-44FF-951D-32D067D7A128}"/>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A8BACB"/>
                </a:solidFill>
              </a:defRPr>
            </a:pPr>
            <a:r>
              <a:rPr sz="750" b="1" i="0">
                <a:solidFill>
                  <a:srgbClr val="A8BACB"/>
                </a:solidFill>
              </a:rPr>
              <a:t>RXRELAY  /  07</a:t>
            </a:r>
          </a:p>
        </p:txBody>
      </p:sp>
      <p:sp>
        <p:nvSpPr>
          <p:cNvPr id="3" name="">
            <a:extLst xmlns:a="http://schemas.openxmlformats.org/drawingml/2006/main">
              <a:ext uri="{FF2B5EF4-FFF2-40B4-BE49-F238E27FC236}">
                <a16:creationId xmlns:a16="http://schemas.microsoft.com/office/drawing/2014/main" id="{B1144A6D-3861-474B-A406-1ADCD78D4D5A}"/>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294257"/>
          </a:solidFill>
          <a:ln xmlns:a="http://schemas.openxmlformats.org/drawingml/2006/main" w="0">
            <a:solidFill>
              <a:srgbClr val="294257"/>
            </a:solidFill>
            <a:prstDash val="solid"/>
          </a:ln>
        </p:spPr>
      </p:sp>
      <p:sp>
        <p:nvSpPr>
          <p:cNvPr id="4" name="title">
            <a:extLst xmlns:a="http://schemas.openxmlformats.org/drawingml/2006/main">
              <a:ext uri="{FF2B5EF4-FFF2-40B4-BE49-F238E27FC236}">
                <a16:creationId xmlns:a16="http://schemas.microsoft.com/office/drawing/2014/main" id="{DE96613C-13E0-448C-92DF-41DD8B46DB2A}"/>
              </a:ext>
            </a:extLst>
          </p:cNvPr>
          <p:cNvSpPr>
            <a:spLocks xmlns:a="http://schemas.openxmlformats.org/drawingml/2006/main" noGrp="1"/>
          </p:cNvSpPr>
          <p:nvPr/>
        </p:nvSpPr>
        <p:spPr>
          <a:xfrm xmlns:a="http://schemas.openxmlformats.org/drawingml/2006/main">
            <a:off x="457200" y="8763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FFFFF"/>
                </a:solidFill>
              </a:defRPr>
            </a:pPr>
            <a:r>
              <a:rPr sz="3750" b="1" i="0">
                <a:solidFill>
                  <a:srgbClr val="FFFFFF"/>
                </a:solidFill>
              </a:rPr>
              <a:t>When the audio gets risky,</a:t>
            </a:r>
          </a:p>
          <a:p xmlns:a="http://schemas.openxmlformats.org/drawingml/2006/main">
            <a:pPr algn="l">
              <a:defRPr sz="3750" b="1" i="0">
                <a:solidFill>
                  <a:srgbClr val="FFFFFF"/>
                </a:solidFill>
              </a:defRPr>
            </a:pPr>
            <a:r>
              <a:rPr sz="3750" b="1" i="0">
                <a:solidFill>
                  <a:srgbClr val="FFFFFF"/>
                </a:solidFill>
              </a:rPr>
              <a:t>upgrade the whole pipeline.</a:t>
            </a:r>
          </a:p>
        </p:txBody>
      </p:sp>
      <p:sp>
        <p:nvSpPr>
          <p:cNvPr id="5" name="subtitle">
            <a:extLst xmlns:a="http://schemas.openxmlformats.org/drawingml/2006/main">
              <a:ext uri="{FF2B5EF4-FFF2-40B4-BE49-F238E27FC236}">
                <a16:creationId xmlns:a16="http://schemas.microsoft.com/office/drawing/2014/main" id="{18E38536-4A07-4189-A252-6A252A9E7912}"/>
              </a:ext>
            </a:extLst>
          </p:cNvPr>
          <p:cNvSpPr>
            <a:spLocks xmlns:a="http://schemas.openxmlformats.org/drawingml/2006/main" noGrp="1"/>
          </p:cNvSpPr>
          <p:nvPr/>
        </p:nvSpPr>
        <p:spPr>
          <a:xfrm xmlns:a="http://schemas.openxmlformats.org/drawingml/2006/main">
            <a:off x="457200" y="1990725"/>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B7C9D9"/>
                </a:solidFill>
              </a:defRPr>
            </a:pPr>
            <a:r>
              <a:rPr sz="1350" b="0" i="0">
                <a:solidFill>
                  <a:srgbClr val="B7C9D9"/>
                </a:solidFill>
              </a:rPr>
              <a:t>A stronger LLM cannot repair a misheard authorization number.</a:t>
            </a:r>
          </a:p>
        </p:txBody>
      </p:sp>
      <p:sp>
        <p:nvSpPr>
          <p:cNvPr id="6" name="">
            <a:extLst xmlns:a="http://schemas.openxmlformats.org/drawingml/2006/main">
              <a:ext uri="{FF2B5EF4-FFF2-40B4-BE49-F238E27FC236}">
                <a16:creationId xmlns:a16="http://schemas.microsoft.com/office/drawing/2014/main" id="{99F5E335-421B-4F88-AD9E-23B1F4AAC272}"/>
              </a:ext>
            </a:extLst>
          </p:cNvPr>
          <p:cNvSpPr>
            <a:spLocks xmlns:a="http://schemas.openxmlformats.org/drawingml/2006/main" noGrp="1"/>
          </p:cNvSpPr>
          <p:nvPr/>
        </p:nvSpPr>
        <p:spPr>
          <a:xfrm xmlns:a="http://schemas.openxmlformats.org/drawingml/2006/main">
            <a:off x="457200" y="3476625"/>
            <a:ext cx="2571750" cy="1762125"/>
          </a:xfrm>
          <a:prstGeom xmlns:a="http://schemas.openxmlformats.org/drawingml/2006/main" prst="roundRect">
            <a:avLst>
              <a:gd name="adj" fmla="val 6486"/>
            </a:avLst>
          </a:prstGeom>
          <a:solidFill xmlns:a="http://schemas.openxmlformats.org/drawingml/2006/main">
            <a:srgbClr val="274A64"/>
          </a:solidFill>
          <a:ln xmlns:a="http://schemas.openxmlformats.org/drawingml/2006/main" w="9525">
            <a:solidFill>
              <a:srgbClr val="274A6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2564038-BFC9-4378-93A7-D001C6ACF8F6}"/>
              </a:ext>
            </a:extLst>
          </p:cNvPr>
          <p:cNvSpPr>
            <a:spLocks xmlns:a="http://schemas.openxmlformats.org/drawingml/2006/main" noGrp="1"/>
          </p:cNvSpPr>
          <p:nvPr/>
        </p:nvSpPr>
        <p:spPr>
          <a:xfrm xmlns:a="http://schemas.openxmlformats.org/drawingml/2006/main">
            <a:off x="638175" y="37147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6E3EE"/>
                </a:solidFill>
              </a:defRPr>
            </a:pPr>
            <a:r>
              <a:rPr sz="825" b="1" i="0">
                <a:solidFill>
                  <a:srgbClr val="D6E3EE"/>
                </a:solidFill>
              </a:rPr>
              <a:t>FAST</a:t>
            </a:r>
          </a:p>
        </p:txBody>
      </p:sp>
      <p:sp>
        <p:nvSpPr>
          <p:cNvPr id="8" name="">
            <a:extLst xmlns:a="http://schemas.openxmlformats.org/drawingml/2006/main">
              <a:ext uri="{FF2B5EF4-FFF2-40B4-BE49-F238E27FC236}">
                <a16:creationId xmlns:a16="http://schemas.microsoft.com/office/drawing/2014/main" id="{5101620F-60A2-4017-9565-A0641F288D32}"/>
              </a:ext>
            </a:extLst>
          </p:cNvPr>
          <p:cNvSpPr>
            <a:spLocks xmlns:a="http://schemas.openxmlformats.org/drawingml/2006/main" noGrp="1"/>
          </p:cNvSpPr>
          <p:nvPr/>
        </p:nvSpPr>
        <p:spPr>
          <a:xfrm xmlns:a="http://schemas.openxmlformats.org/drawingml/2006/main">
            <a:off x="638175" y="406717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Greetings / yes-no</a:t>
            </a:r>
          </a:p>
        </p:txBody>
      </p:sp>
      <p:sp>
        <p:nvSpPr>
          <p:cNvPr id="9" name="">
            <a:extLst xmlns:a="http://schemas.openxmlformats.org/drawingml/2006/main">
              <a:ext uri="{FF2B5EF4-FFF2-40B4-BE49-F238E27FC236}">
                <a16:creationId xmlns:a16="http://schemas.microsoft.com/office/drawing/2014/main" id="{80690717-9A39-452C-934B-F8342B7960FF}"/>
              </a:ext>
            </a:extLst>
          </p:cNvPr>
          <p:cNvSpPr>
            <a:spLocks xmlns:a="http://schemas.openxmlformats.org/drawingml/2006/main" noGrp="1"/>
          </p:cNvSpPr>
          <p:nvPr/>
        </p:nvSpPr>
        <p:spPr>
          <a:xfrm xmlns:a="http://schemas.openxmlformats.org/drawingml/2006/main">
            <a:off x="638175" y="4629150"/>
            <a:ext cx="2095500"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8497E578-D5FC-4568-ACC7-FB1B6C193690}"/>
              </a:ext>
            </a:extLst>
          </p:cNvPr>
          <p:cNvSpPr>
            <a:spLocks xmlns:a="http://schemas.openxmlformats.org/drawingml/2006/main" noGrp="1"/>
          </p:cNvSpPr>
          <p:nvPr/>
        </p:nvSpPr>
        <p:spPr>
          <a:xfrm xmlns:a="http://schemas.openxmlformats.org/drawingml/2006/main">
            <a:off x="638175" y="482917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FFFFFF"/>
                </a:solidFill>
              </a:defRPr>
            </a:pPr>
            <a:r>
              <a:rPr sz="825" b="0" i="0">
                <a:solidFill>
                  <a:srgbClr val="FFFFFF"/>
                </a:solidFill>
              </a:rPr>
              <a:t>Fast ASR → compact reasoning</a:t>
            </a:r>
          </a:p>
        </p:txBody>
      </p:sp>
      <p:sp>
        <p:nvSpPr>
          <p:cNvPr id="11" name="">
            <a:extLst xmlns:a="http://schemas.openxmlformats.org/drawingml/2006/main">
              <a:ext uri="{FF2B5EF4-FFF2-40B4-BE49-F238E27FC236}">
                <a16:creationId xmlns:a16="http://schemas.microsoft.com/office/drawing/2014/main" id="{452ED8FD-D9CD-49A9-9A1D-1F9225A7C353}"/>
              </a:ext>
            </a:extLst>
          </p:cNvPr>
          <p:cNvSpPr>
            <a:spLocks xmlns:a="http://schemas.openxmlformats.org/drawingml/2006/main" noGrp="1"/>
          </p:cNvSpPr>
          <p:nvPr/>
        </p:nvSpPr>
        <p:spPr>
          <a:xfrm xmlns:a="http://schemas.openxmlformats.org/drawingml/2006/main">
            <a:off x="3314700" y="3476625"/>
            <a:ext cx="2571750" cy="1762125"/>
          </a:xfrm>
          <a:prstGeom xmlns:a="http://schemas.openxmlformats.org/drawingml/2006/main" prst="roundRect">
            <a:avLst>
              <a:gd name="adj" fmla="val 6486"/>
            </a:avLst>
          </a:prstGeom>
          <a:solidFill xmlns:a="http://schemas.openxmlformats.org/drawingml/2006/main">
            <a:srgbClr val="2E6075"/>
          </a:solidFill>
          <a:ln xmlns:a="http://schemas.openxmlformats.org/drawingml/2006/main" w="9525">
            <a:solidFill>
              <a:srgbClr val="2E607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C9605B1-1D9B-4A6F-BBFC-5BB59F9E6FDB}"/>
              </a:ext>
            </a:extLst>
          </p:cNvPr>
          <p:cNvSpPr>
            <a:spLocks xmlns:a="http://schemas.openxmlformats.org/drawingml/2006/main" noGrp="1"/>
          </p:cNvSpPr>
          <p:nvPr/>
        </p:nvSpPr>
        <p:spPr>
          <a:xfrm xmlns:a="http://schemas.openxmlformats.org/drawingml/2006/main">
            <a:off x="3495675" y="37147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6F0F2"/>
                </a:solidFill>
              </a:defRPr>
            </a:pPr>
            <a:r>
              <a:rPr sz="825" b="1" i="0">
                <a:solidFill>
                  <a:srgbClr val="D6F0F2"/>
                </a:solidFill>
              </a:rPr>
              <a:t>BALANCED</a:t>
            </a:r>
          </a:p>
        </p:txBody>
      </p:sp>
      <p:sp>
        <p:nvSpPr>
          <p:cNvPr id="13" name="">
            <a:extLst xmlns:a="http://schemas.openxmlformats.org/drawingml/2006/main">
              <a:ext uri="{FF2B5EF4-FFF2-40B4-BE49-F238E27FC236}">
                <a16:creationId xmlns:a16="http://schemas.microsoft.com/office/drawing/2014/main" id="{29D97940-BE09-4DD6-B3C2-4E8F56DC6C26}"/>
              </a:ext>
            </a:extLst>
          </p:cNvPr>
          <p:cNvSpPr>
            <a:spLocks xmlns:a="http://schemas.openxmlformats.org/drawingml/2006/main" noGrp="1"/>
          </p:cNvSpPr>
          <p:nvPr/>
        </p:nvSpPr>
        <p:spPr>
          <a:xfrm xmlns:a="http://schemas.openxmlformats.org/drawingml/2006/main">
            <a:off x="3495675" y="406717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Routine coordination</a:t>
            </a:r>
          </a:p>
        </p:txBody>
      </p:sp>
      <p:sp>
        <p:nvSpPr>
          <p:cNvPr id="14" name="">
            <a:extLst xmlns:a="http://schemas.openxmlformats.org/drawingml/2006/main">
              <a:ext uri="{FF2B5EF4-FFF2-40B4-BE49-F238E27FC236}">
                <a16:creationId xmlns:a16="http://schemas.microsoft.com/office/drawing/2014/main" id="{A0708935-9766-4EF3-BED0-704C6665FD00}"/>
              </a:ext>
            </a:extLst>
          </p:cNvPr>
          <p:cNvSpPr>
            <a:spLocks xmlns:a="http://schemas.openxmlformats.org/drawingml/2006/main" noGrp="1"/>
          </p:cNvSpPr>
          <p:nvPr/>
        </p:nvSpPr>
        <p:spPr>
          <a:xfrm xmlns:a="http://schemas.openxmlformats.org/drawingml/2006/main">
            <a:off x="3495675" y="4629150"/>
            <a:ext cx="2095500"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2A98C401-EABA-4E5A-98F3-0E9A98A6D649}"/>
              </a:ext>
            </a:extLst>
          </p:cNvPr>
          <p:cNvSpPr>
            <a:spLocks xmlns:a="http://schemas.openxmlformats.org/drawingml/2006/main" noGrp="1"/>
          </p:cNvSpPr>
          <p:nvPr/>
        </p:nvSpPr>
        <p:spPr>
          <a:xfrm xmlns:a="http://schemas.openxmlformats.org/drawingml/2006/main">
            <a:off x="3495675" y="482917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FFFFFF"/>
                </a:solidFill>
              </a:defRPr>
            </a:pPr>
            <a:r>
              <a:rPr sz="825" b="0" i="0">
                <a:solidFill>
                  <a:srgbClr val="FFFFFF"/>
                </a:solidFill>
              </a:rPr>
              <a:t>Reliable ASR → tools</a:t>
            </a:r>
          </a:p>
        </p:txBody>
      </p:sp>
      <p:sp>
        <p:nvSpPr>
          <p:cNvPr id="16" name="">
            <a:extLst xmlns:a="http://schemas.openxmlformats.org/drawingml/2006/main">
              <a:ext uri="{FF2B5EF4-FFF2-40B4-BE49-F238E27FC236}">
                <a16:creationId xmlns:a16="http://schemas.microsoft.com/office/drawing/2014/main" id="{5640B5E0-0FDD-484A-8FE4-E248A1A65A9C}"/>
              </a:ext>
            </a:extLst>
          </p:cNvPr>
          <p:cNvSpPr>
            <a:spLocks xmlns:a="http://schemas.openxmlformats.org/drawingml/2006/main" noGrp="1"/>
          </p:cNvSpPr>
          <p:nvPr/>
        </p:nvSpPr>
        <p:spPr>
          <a:xfrm xmlns:a="http://schemas.openxmlformats.org/drawingml/2006/main">
            <a:off x="6172200" y="3476625"/>
            <a:ext cx="2571750" cy="1762125"/>
          </a:xfrm>
          <a:prstGeom xmlns:a="http://schemas.openxmlformats.org/drawingml/2006/main" prst="roundRect">
            <a:avLst>
              <a:gd name="adj" fmla="val 6486"/>
            </a:avLst>
          </a:prstGeom>
          <a:solidFill xmlns:a="http://schemas.openxmlformats.org/drawingml/2006/main">
            <a:srgbClr val="0E9F8E"/>
          </a:solidFill>
          <a:ln xmlns:a="http://schemas.openxmlformats.org/drawingml/2006/main" w="9525">
            <a:solidFill>
              <a:srgbClr val="0E9F8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BD1327A-77DA-4EBE-A471-B0216333491E}"/>
              </a:ext>
            </a:extLst>
          </p:cNvPr>
          <p:cNvSpPr>
            <a:spLocks xmlns:a="http://schemas.openxmlformats.org/drawingml/2006/main" noGrp="1"/>
          </p:cNvSpPr>
          <p:nvPr/>
        </p:nvSpPr>
        <p:spPr>
          <a:xfrm xmlns:a="http://schemas.openxmlformats.org/drawingml/2006/main">
            <a:off x="6353175" y="37147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FFFF"/>
                </a:solidFill>
              </a:defRPr>
            </a:pPr>
            <a:r>
              <a:rPr sz="825" b="1" i="0">
                <a:solidFill>
                  <a:srgbClr val="FFFFFF"/>
                </a:solidFill>
              </a:rPr>
              <a:t>VERIFIED</a:t>
            </a:r>
          </a:p>
        </p:txBody>
      </p:sp>
      <p:sp>
        <p:nvSpPr>
          <p:cNvPr id="18" name="">
            <a:extLst xmlns:a="http://schemas.openxmlformats.org/drawingml/2006/main">
              <a:ext uri="{FF2B5EF4-FFF2-40B4-BE49-F238E27FC236}">
                <a16:creationId xmlns:a16="http://schemas.microsoft.com/office/drawing/2014/main" id="{14FC2A72-0D86-488F-8D99-81BC1BFE106F}"/>
              </a:ext>
            </a:extLst>
          </p:cNvPr>
          <p:cNvSpPr>
            <a:spLocks xmlns:a="http://schemas.openxmlformats.org/drawingml/2006/main" noGrp="1"/>
          </p:cNvSpPr>
          <p:nvPr/>
        </p:nvSpPr>
        <p:spPr>
          <a:xfrm xmlns:a="http://schemas.openxmlformats.org/drawingml/2006/main">
            <a:off x="6353175" y="406717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Names · dates · prior auth · noise</a:t>
            </a:r>
          </a:p>
        </p:txBody>
      </p:sp>
      <p:sp>
        <p:nvSpPr>
          <p:cNvPr id="19" name="">
            <a:extLst xmlns:a="http://schemas.openxmlformats.org/drawingml/2006/main">
              <a:ext uri="{FF2B5EF4-FFF2-40B4-BE49-F238E27FC236}">
                <a16:creationId xmlns:a16="http://schemas.microsoft.com/office/drawing/2014/main" id="{7E9FBD4C-93FC-4B56-9A5A-12370DF0E0C7}"/>
              </a:ext>
            </a:extLst>
          </p:cNvPr>
          <p:cNvSpPr>
            <a:spLocks xmlns:a="http://schemas.openxmlformats.org/drawingml/2006/main" noGrp="1"/>
          </p:cNvSpPr>
          <p:nvPr/>
        </p:nvSpPr>
        <p:spPr>
          <a:xfrm xmlns:a="http://schemas.openxmlformats.org/drawingml/2006/main">
            <a:off x="6353175" y="4629150"/>
            <a:ext cx="2095500"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62497F8A-BD5A-43A4-90C3-7DCCECFCACE7}"/>
              </a:ext>
            </a:extLst>
          </p:cNvPr>
          <p:cNvSpPr>
            <a:spLocks xmlns:a="http://schemas.openxmlformats.org/drawingml/2006/main" noGrp="1"/>
          </p:cNvSpPr>
          <p:nvPr/>
        </p:nvSpPr>
        <p:spPr>
          <a:xfrm xmlns:a="http://schemas.openxmlformats.org/drawingml/2006/main">
            <a:off x="6353175" y="482917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FFFFFF"/>
                </a:solidFill>
              </a:defRPr>
            </a:pPr>
            <a:r>
              <a:rPr sz="825" b="0" i="0">
                <a:solidFill>
                  <a:srgbClr val="FFFFFF"/>
                </a:solidFill>
              </a:rPr>
              <a:t>High-accuracy ASR → structured verifier</a:t>
            </a:r>
          </a:p>
        </p:txBody>
      </p:sp>
      <p:sp>
        <p:nvSpPr>
          <p:cNvPr id="21" name="">
            <a:extLst xmlns:a="http://schemas.openxmlformats.org/drawingml/2006/main">
              <a:ext uri="{FF2B5EF4-FFF2-40B4-BE49-F238E27FC236}">
                <a16:creationId xmlns:a16="http://schemas.microsoft.com/office/drawing/2014/main" id="{D7BC9390-98B0-4411-AD59-CA60EBB6A903}"/>
              </a:ext>
            </a:extLst>
          </p:cNvPr>
          <p:cNvSpPr>
            <a:spLocks xmlns:a="http://schemas.openxmlformats.org/drawingml/2006/main" noGrp="1"/>
          </p:cNvSpPr>
          <p:nvPr/>
        </p:nvSpPr>
        <p:spPr>
          <a:xfrm xmlns:a="http://schemas.openxmlformats.org/drawingml/2006/main">
            <a:off x="9029700" y="3476625"/>
            <a:ext cx="2571750" cy="1762125"/>
          </a:xfrm>
          <a:prstGeom xmlns:a="http://schemas.openxmlformats.org/drawingml/2006/main" prst="roundRect">
            <a:avLst>
              <a:gd name="adj" fmla="val 6486"/>
            </a:avLst>
          </a:prstGeom>
          <a:solidFill xmlns:a="http://schemas.openxmlformats.org/drawingml/2006/main">
            <a:srgbClr val="A04C50"/>
          </a:solidFill>
          <a:ln xmlns:a="http://schemas.openxmlformats.org/drawingml/2006/main" w="9525">
            <a:solidFill>
              <a:srgbClr val="A04C5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4B2FE34-02E9-4874-B7C5-B38C233F54D9}"/>
              </a:ext>
            </a:extLst>
          </p:cNvPr>
          <p:cNvSpPr>
            <a:spLocks xmlns:a="http://schemas.openxmlformats.org/drawingml/2006/main" noGrp="1"/>
          </p:cNvSpPr>
          <p:nvPr/>
        </p:nvSpPr>
        <p:spPr>
          <a:xfrm xmlns:a="http://schemas.openxmlformats.org/drawingml/2006/main">
            <a:off x="9210675" y="37147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FFFF"/>
                </a:solidFill>
              </a:defRPr>
            </a:pPr>
            <a:r>
              <a:rPr sz="825" b="1" i="0">
                <a:solidFill>
                  <a:srgbClr val="FFFFFF"/>
                </a:solidFill>
              </a:rPr>
              <a:t>SAFE STOP</a:t>
            </a:r>
          </a:p>
        </p:txBody>
      </p:sp>
      <p:sp>
        <p:nvSpPr>
          <p:cNvPr id="23" name="">
            <a:extLst xmlns:a="http://schemas.openxmlformats.org/drawingml/2006/main">
              <a:ext uri="{FF2B5EF4-FFF2-40B4-BE49-F238E27FC236}">
                <a16:creationId xmlns:a16="http://schemas.microsoft.com/office/drawing/2014/main" id="{E12C595A-3BA5-4B38-A8CF-FA5AC4A6839F}"/>
              </a:ext>
            </a:extLst>
          </p:cNvPr>
          <p:cNvSpPr>
            <a:spLocks xmlns:a="http://schemas.openxmlformats.org/drawingml/2006/main" noGrp="1"/>
          </p:cNvSpPr>
          <p:nvPr/>
        </p:nvSpPr>
        <p:spPr>
          <a:xfrm xmlns:a="http://schemas.openxmlformats.org/drawingml/2006/main">
            <a:off x="9210675" y="406717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Clinical or unsafe request</a:t>
            </a:r>
          </a:p>
        </p:txBody>
      </p:sp>
      <p:sp>
        <p:nvSpPr>
          <p:cNvPr id="24" name="">
            <a:extLst xmlns:a="http://schemas.openxmlformats.org/drawingml/2006/main">
              <a:ext uri="{FF2B5EF4-FFF2-40B4-BE49-F238E27FC236}">
                <a16:creationId xmlns:a16="http://schemas.microsoft.com/office/drawing/2014/main" id="{1765DC0F-B90D-4C33-9E60-FE31A62A4A15}"/>
              </a:ext>
            </a:extLst>
          </p:cNvPr>
          <p:cNvSpPr>
            <a:spLocks xmlns:a="http://schemas.openxmlformats.org/drawingml/2006/main" noGrp="1"/>
          </p:cNvSpPr>
          <p:nvPr/>
        </p:nvSpPr>
        <p:spPr>
          <a:xfrm xmlns:a="http://schemas.openxmlformats.org/drawingml/2006/main">
            <a:off x="9210675" y="4629150"/>
            <a:ext cx="2095500"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5" name="">
            <a:extLst xmlns:a="http://schemas.openxmlformats.org/drawingml/2006/main">
              <a:ext uri="{FF2B5EF4-FFF2-40B4-BE49-F238E27FC236}">
                <a16:creationId xmlns:a16="http://schemas.microsoft.com/office/drawing/2014/main" id="{B266CC9C-B196-43E0-80F7-36F59A5F99D7}"/>
              </a:ext>
            </a:extLst>
          </p:cNvPr>
          <p:cNvSpPr>
            <a:spLocks xmlns:a="http://schemas.openxmlformats.org/drawingml/2006/main" noGrp="1"/>
          </p:cNvSpPr>
          <p:nvPr/>
        </p:nvSpPr>
        <p:spPr>
          <a:xfrm xmlns:a="http://schemas.openxmlformats.org/drawingml/2006/main">
            <a:off x="9210675" y="482917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FFFFFF"/>
                </a:solidFill>
              </a:defRPr>
            </a:pPr>
            <a:r>
              <a:rPr sz="825" b="0" i="0">
                <a:solidFill>
                  <a:srgbClr val="FFFFFF"/>
                </a:solidFill>
              </a:rPr>
              <a:t>No action → safe script → human</a:t>
            </a:r>
          </a:p>
        </p:txBody>
      </p:sp>
      <p:sp>
        <p:nvSpPr>
          <p:cNvPr id="26" name="">
            <a:extLst xmlns:a="http://schemas.openxmlformats.org/drawingml/2006/main">
              <a:ext uri="{FF2B5EF4-FFF2-40B4-BE49-F238E27FC236}">
                <a16:creationId xmlns:a16="http://schemas.microsoft.com/office/drawing/2014/main" id="{4609A22E-68FE-4218-B932-2990231B78B2}"/>
              </a:ext>
            </a:extLst>
          </p:cNvPr>
          <p:cNvSpPr>
            <a:spLocks xmlns:a="http://schemas.openxmlformats.org/drawingml/2006/main" noGrp="1"/>
          </p:cNvSpPr>
          <p:nvPr/>
        </p:nvSpPr>
        <p:spPr>
          <a:xfrm xmlns:a="http://schemas.openxmlformats.org/drawingml/2006/main">
            <a:off x="457200" y="5781675"/>
            <a:ext cx="10001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8AA4B8"/>
                </a:solidFill>
              </a:defRPr>
            </a:pPr>
            <a:r>
              <a:rPr sz="750" b="1" i="0">
                <a:solidFill>
                  <a:srgbClr val="8AA4B8"/>
                </a:solidFill>
              </a:rPr>
              <a:t>DEMAND-CONDITIONED ROUTING  •  CONFIDENCE  •  NOISE  •  CRITICAL ENTITIES  •  ACTION RISK</a:t>
            </a:r>
          </a:p>
        </p:txBody>
      </p:sp>
      <p:sp>
        <p:nvSpPr>
          <p:cNvPr id="27" name="">
            <a:extLst xmlns:a="http://schemas.openxmlformats.org/drawingml/2006/main">
              <a:ext uri="{FF2B5EF4-FFF2-40B4-BE49-F238E27FC236}">
                <a16:creationId xmlns:a16="http://schemas.microsoft.com/office/drawing/2014/main" id="{87762488-0AEB-427B-9F6A-227969F3BF91}"/>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BA1B5"/>
                </a:solidFill>
              </a:defRPr>
            </a:pPr>
            <a:r>
              <a:rPr sz="675" b="0" i="0">
                <a:solidFill>
                  <a:srgbClr val="8BA1B5"/>
                </a:solidFill>
              </a:rPr>
              <a:t>PAVO-inspired routing keeps fast turns fast—and raises assurance only when needed.</a:t>
            </a:r>
          </a:p>
        </p:txBody>
      </p:sp>
      <p:sp>
        <p:nvSpPr>
          <p:cNvPr id="28" name="">
            <a:extLst xmlns:a="http://schemas.openxmlformats.org/drawingml/2006/main">
              <a:ext uri="{FF2B5EF4-FFF2-40B4-BE49-F238E27FC236}">
                <a16:creationId xmlns:a16="http://schemas.microsoft.com/office/drawing/2014/main" id="{C628FD58-0630-4364-9956-130A351BFE38}"/>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BA1B5"/>
                </a:solidFill>
              </a:defRPr>
            </a:pPr>
            <a:r>
              <a:rPr sz="675" b="0" i="0">
                <a:solidFill>
                  <a:srgbClr val="8BA1B5"/>
                </a:solidFill>
              </a:rPr>
              <a:t>A1MOBILE VOICE AI HACKATHON · 2026</a:t>
            </a:r>
          </a:p>
        </p:txBody>
      </p:sp>
    </p:spTree>
    <p:extLst>
      <p:ext uri="{BB962C8B-B14F-4D97-AF65-F5344CB8AC3E}">
        <p14:creationId xmlns:p14="http://schemas.microsoft.com/office/powerpoint/2010/main" val="261496127"/>
      </p:ext>
    </p:extLst>
  </p:cSld>
</p:sld>
</file>

<file path=ppt/slides/slide8.xml><?xml version="1.0" encoding="utf-8"?>
<p:sld xmlns:p="http://schemas.openxmlformats.org/presentationml/2006/main">
  <p:cSld>
    <p:bg>
      <p:bgPr>
        <a:solidFill xmlns:a="http://schemas.openxmlformats.org/drawingml/2006/main">
          <a:srgbClr val="071829"/>
        </a:solidFill>
      </p:bgPr>
    </p:bg>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D118F98F-3508-42CE-8972-7913AB5783C2}"/>
              </a:ext>
            </a:extLst>
          </p:cNvPr>
          <p:cNvSpPr>
            <a:spLocks xmlns:a="http://schemas.openxmlformats.org/drawingml/2006/main" noGrp="1"/>
          </p:cNvSpPr>
          <p:nvPr/>
        </p:nvSpPr>
        <p:spPr>
          <a:xfrm xmlns:a="http://schemas.openxmlformats.org/drawingml/2006/main">
            <a:off x="457200" y="266700"/>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7CE7D5"/>
                </a:solidFill>
              </a:defRPr>
            </a:pPr>
            <a:r>
              <a:rPr sz="750" b="1" i="0">
                <a:solidFill>
                  <a:srgbClr val="7CE7D5"/>
                </a:solidFill>
              </a:rPr>
              <a:t>ARCHITECTURE</a:t>
            </a:r>
          </a:p>
        </p:txBody>
      </p:sp>
      <p:sp>
        <p:nvSpPr>
          <p:cNvPr id="2" name="">
            <a:extLst xmlns:a="http://schemas.openxmlformats.org/drawingml/2006/main">
              <a:ext uri="{FF2B5EF4-FFF2-40B4-BE49-F238E27FC236}">
                <a16:creationId xmlns:a16="http://schemas.microsoft.com/office/drawing/2014/main" id="{7339D150-53DD-435B-9817-2BFBC7736301}"/>
              </a:ext>
            </a:extLst>
          </p:cNvPr>
          <p:cNvSpPr>
            <a:spLocks xmlns:a="http://schemas.openxmlformats.org/drawingml/2006/main" noGrp="1"/>
          </p:cNvSpPr>
          <p:nvPr/>
        </p:nvSpPr>
        <p:spPr>
          <a:xfrm xmlns:a="http://schemas.openxmlformats.org/drawingml/2006/main">
            <a:off x="9639300" y="266700"/>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BA1B5"/>
                </a:solidFill>
              </a:defRPr>
            </a:pPr>
            <a:r>
              <a:rPr sz="750" b="1" i="0">
                <a:solidFill>
                  <a:srgbClr val="8BA1B5"/>
                </a:solidFill>
              </a:rPr>
              <a:t>RXRELAY  /  08</a:t>
            </a:r>
          </a:p>
        </p:txBody>
      </p:sp>
      <p:sp>
        <p:nvSpPr>
          <p:cNvPr id="3" name="">
            <a:extLst xmlns:a="http://schemas.openxmlformats.org/drawingml/2006/main">
              <a:ext uri="{FF2B5EF4-FFF2-40B4-BE49-F238E27FC236}">
                <a16:creationId xmlns:a16="http://schemas.microsoft.com/office/drawing/2014/main" id="{AC5EB5E2-1DA0-4DEC-9C3B-20F64D52A03D}"/>
              </a:ext>
            </a:extLst>
          </p:cNvPr>
          <p:cNvSpPr>
            <a:spLocks xmlns:a="http://schemas.openxmlformats.org/drawingml/2006/main" noGrp="1"/>
          </p:cNvSpPr>
          <p:nvPr/>
        </p:nvSpPr>
        <p:spPr>
          <a:xfrm xmlns:a="http://schemas.openxmlformats.org/drawingml/2006/main">
            <a:off x="457200" y="4953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FFFFFF"/>
                </a:solidFill>
              </a:defRPr>
            </a:pPr>
            <a:r>
              <a:rPr sz="2100" b="1" i="0">
                <a:solidFill>
                  <a:srgbClr val="FFFFFF"/>
                </a:solidFill>
              </a:rPr>
              <a:t>A voice agent with a real trust boundary.</a:t>
            </a:r>
          </a:p>
        </p:txBody>
      </p:sp>
      <p:sp>
        <p:nvSpPr>
          <p:cNvPr id="4" name="">
            <a:extLst xmlns:a="http://schemas.openxmlformats.org/drawingml/2006/main">
              <a:ext uri="{FF2B5EF4-FFF2-40B4-BE49-F238E27FC236}">
                <a16:creationId xmlns:a16="http://schemas.microsoft.com/office/drawing/2014/main" id="{FDAA40B4-11E4-4505-BD23-1EC7056453F1}"/>
              </a:ext>
            </a:extLst>
          </p:cNvPr>
          <p:cNvSpPr>
            <a:spLocks xmlns:a="http://schemas.openxmlformats.org/drawingml/2006/main" noGrp="1"/>
          </p:cNvSpPr>
          <p:nvPr/>
        </p:nvSpPr>
        <p:spPr>
          <a:xfrm xmlns:a="http://schemas.openxmlformats.org/drawingml/2006/main">
            <a:off x="457200" y="85725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A8BACB"/>
                </a:solidFill>
              </a:defRPr>
            </a:pPr>
            <a:r>
              <a:rPr sz="975" b="0" i="0">
                <a:solidFill>
                  <a:srgbClr val="A8BACB"/>
                </a:solidFill>
              </a:rPr>
              <a:t>LLM proposes language. Deterministic policy + evidence decide what may happen. Public tunnel never reaches the dashboard.</a:t>
            </a:r>
          </a:p>
        </p:txBody>
      </p:sp>
      <p:sp>
        <p:nvSpPr>
          <p:cNvPr id="5" name="">
            <a:extLst xmlns:a="http://schemas.openxmlformats.org/drawingml/2006/main">
              <a:ext uri="{FF2B5EF4-FFF2-40B4-BE49-F238E27FC236}">
                <a16:creationId xmlns:a16="http://schemas.microsoft.com/office/drawing/2014/main" id="{D00DA2AB-0412-450E-8B4E-57BEDA0CA7AF}"/>
              </a:ext>
            </a:extLst>
          </p:cNvPr>
          <p:cNvSpPr>
            <a:spLocks xmlns:a="http://schemas.openxmlformats.org/drawingml/2006/main" noGrp="1"/>
          </p:cNvSpPr>
          <p:nvPr/>
        </p:nvSpPr>
        <p:spPr>
          <a:xfrm xmlns:a="http://schemas.openxmlformats.org/drawingml/2006/main">
            <a:off x="457200" y="1257300"/>
            <a:ext cx="1524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PUBLIC EDGE</a:t>
            </a:r>
          </a:p>
        </p:txBody>
      </p:sp>
      <p:sp>
        <p:nvSpPr>
          <p:cNvPr id="6" name="">
            <a:extLst xmlns:a="http://schemas.openxmlformats.org/drawingml/2006/main">
              <a:ext uri="{FF2B5EF4-FFF2-40B4-BE49-F238E27FC236}">
                <a16:creationId xmlns:a16="http://schemas.microsoft.com/office/drawing/2014/main" id="{B36DD898-CD68-4BE1-B70D-7473671320A6}"/>
              </a:ext>
            </a:extLst>
          </p:cNvPr>
          <p:cNvSpPr>
            <a:spLocks xmlns:a="http://schemas.openxmlformats.org/drawingml/2006/main" noGrp="1"/>
          </p:cNvSpPr>
          <p:nvPr/>
        </p:nvSpPr>
        <p:spPr>
          <a:xfrm xmlns:a="http://schemas.openxmlformats.org/drawingml/2006/main">
            <a:off x="2667000" y="1257300"/>
            <a:ext cx="1524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VOICE PROCESS</a:t>
            </a:r>
          </a:p>
        </p:txBody>
      </p:sp>
      <p:sp>
        <p:nvSpPr>
          <p:cNvPr id="7" name="">
            <a:extLst xmlns:a="http://schemas.openxmlformats.org/drawingml/2006/main">
              <a:ext uri="{FF2B5EF4-FFF2-40B4-BE49-F238E27FC236}">
                <a16:creationId xmlns:a16="http://schemas.microsoft.com/office/drawing/2014/main" id="{E700FCF4-FF61-4750-9D96-516B902B0AB8}"/>
              </a:ext>
            </a:extLst>
          </p:cNvPr>
          <p:cNvSpPr>
            <a:spLocks xmlns:a="http://schemas.openxmlformats.org/drawingml/2006/main" noGrp="1"/>
          </p:cNvSpPr>
          <p:nvPr/>
        </p:nvSpPr>
        <p:spPr>
          <a:xfrm xmlns:a="http://schemas.openxmlformats.org/drawingml/2006/main">
            <a:off x="4953000" y="1257300"/>
            <a:ext cx="1524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SHARED CORE</a:t>
            </a:r>
          </a:p>
        </p:txBody>
      </p:sp>
      <p:sp>
        <p:nvSpPr>
          <p:cNvPr id="8" name="">
            <a:extLst xmlns:a="http://schemas.openxmlformats.org/drawingml/2006/main">
              <a:ext uri="{FF2B5EF4-FFF2-40B4-BE49-F238E27FC236}">
                <a16:creationId xmlns:a16="http://schemas.microsoft.com/office/drawing/2014/main" id="{FCED61F3-B82A-46EE-861D-07525FFB3065}"/>
              </a:ext>
            </a:extLst>
          </p:cNvPr>
          <p:cNvSpPr>
            <a:spLocks xmlns:a="http://schemas.openxmlformats.org/drawingml/2006/main" noGrp="1"/>
          </p:cNvSpPr>
          <p:nvPr/>
        </p:nvSpPr>
        <p:spPr>
          <a:xfrm xmlns:a="http://schemas.openxmlformats.org/drawingml/2006/main">
            <a:off x="7429500" y="1257300"/>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DASHBOARD / MCP</a:t>
            </a:r>
          </a:p>
        </p:txBody>
      </p:sp>
      <p:sp>
        <p:nvSpPr>
          <p:cNvPr id="9" name="">
            <a:extLst xmlns:a="http://schemas.openxmlformats.org/drawingml/2006/main">
              <a:ext uri="{FF2B5EF4-FFF2-40B4-BE49-F238E27FC236}">
                <a16:creationId xmlns:a16="http://schemas.microsoft.com/office/drawing/2014/main" id="{41C2D3DF-9C8E-4255-8ADE-66B7CE09BE21}"/>
              </a:ext>
            </a:extLst>
          </p:cNvPr>
          <p:cNvSpPr>
            <a:spLocks xmlns:a="http://schemas.openxmlformats.org/drawingml/2006/main" noGrp="1"/>
          </p:cNvSpPr>
          <p:nvPr/>
        </p:nvSpPr>
        <p:spPr>
          <a:xfrm xmlns:a="http://schemas.openxmlformats.org/drawingml/2006/main">
            <a:off x="9906000" y="1257300"/>
            <a:ext cx="1524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COUNTERPARTS</a:t>
            </a:r>
          </a:p>
        </p:txBody>
      </p:sp>
      <p:sp>
        <p:nvSpPr>
          <p:cNvPr id="10" name="Caller">
            <a:extLst xmlns:a="http://schemas.openxmlformats.org/drawingml/2006/main">
              <a:ext uri="{FF2B5EF4-FFF2-40B4-BE49-F238E27FC236}">
                <a16:creationId xmlns:a16="http://schemas.microsoft.com/office/drawing/2014/main" id="{D9727470-DCC0-483E-ACF2-805C9750CF4D}"/>
              </a:ext>
            </a:extLst>
          </p:cNvPr>
          <p:cNvSpPr>
            <a:spLocks xmlns:a="http://schemas.openxmlformats.org/drawingml/2006/main" noGrp="1"/>
          </p:cNvSpPr>
          <p:nvPr/>
        </p:nvSpPr>
        <p:spPr>
          <a:xfrm xmlns:a="http://schemas.openxmlformats.org/drawingml/2006/main">
            <a:off x="381000" y="1524000"/>
            <a:ext cx="1905000" cy="742950"/>
          </a:xfrm>
          <a:prstGeom xmlns:a="http://schemas.openxmlformats.org/drawingml/2006/main" prst="roundRect">
            <a:avLst>
              <a:gd name="adj" fmla="val 15385"/>
            </a:avLst>
          </a:prstGeom>
          <a:solidFill xmlns:a="http://schemas.openxmlformats.org/drawingml/2006/main">
            <a:srgbClr val="12324A"/>
          </a:solidFill>
          <a:ln xmlns:a="http://schemas.openxmlformats.org/drawingml/2006/main" w="9525">
            <a:solidFill>
              <a:srgbClr val="1232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E556FBD-D6A1-49E3-BA14-0CCD00BD12FF}"/>
              </a:ext>
            </a:extLst>
          </p:cNvPr>
          <p:cNvSpPr>
            <a:spLocks xmlns:a="http://schemas.openxmlformats.org/drawingml/2006/main" noGrp="1"/>
          </p:cNvSpPr>
          <p:nvPr/>
        </p:nvSpPr>
        <p:spPr>
          <a:xfrm xmlns:a="http://schemas.openxmlformats.org/drawingml/2006/main">
            <a:off x="523875" y="1657350"/>
            <a:ext cx="1619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CALLER</a:t>
            </a:r>
          </a:p>
        </p:txBody>
      </p:sp>
      <p:sp>
        <p:nvSpPr>
          <p:cNvPr id="12" name="">
            <a:extLst xmlns:a="http://schemas.openxmlformats.org/drawingml/2006/main">
              <a:ext uri="{FF2B5EF4-FFF2-40B4-BE49-F238E27FC236}">
                <a16:creationId xmlns:a16="http://schemas.microsoft.com/office/drawing/2014/main" id="{436B807E-327F-41B8-9B5F-1DAFEB2C642F}"/>
              </a:ext>
            </a:extLst>
          </p:cNvPr>
          <p:cNvSpPr>
            <a:spLocks xmlns:a="http://schemas.openxmlformats.org/drawingml/2006/main" noGrp="1"/>
          </p:cNvSpPr>
          <p:nvPr/>
        </p:nvSpPr>
        <p:spPr>
          <a:xfrm xmlns:a="http://schemas.openxmlformats.org/drawingml/2006/main">
            <a:off x="523875" y="1885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OTP-verified phone</a:t>
            </a:r>
          </a:p>
          <a:p xmlns:a="http://schemas.openxmlformats.org/drawingml/2006/main">
            <a:pPr algn="l">
              <a:defRPr sz="900" b="1" i="0">
                <a:solidFill>
                  <a:srgbClr val="0B1F33"/>
                </a:solidFill>
              </a:defRPr>
            </a:pPr>
            <a:r>
              <a:rPr sz="900" b="1" i="0">
                <a:solidFill>
                  <a:srgbClr val="0B1F33"/>
                </a:solidFill>
              </a:rPr>
              <a:t>consented speech</a:t>
            </a:r>
          </a:p>
        </p:txBody>
      </p:sp>
      <p:sp>
        <p:nvSpPr>
          <p:cNvPr id="13" name="Quick tunnel">
            <a:extLst xmlns:a="http://schemas.openxmlformats.org/drawingml/2006/main">
              <a:ext uri="{FF2B5EF4-FFF2-40B4-BE49-F238E27FC236}">
                <a16:creationId xmlns:a16="http://schemas.microsoft.com/office/drawing/2014/main" id="{36BCAFA9-47C3-4962-906F-AE81E8213926}"/>
              </a:ext>
            </a:extLst>
          </p:cNvPr>
          <p:cNvSpPr>
            <a:spLocks xmlns:a="http://schemas.openxmlformats.org/drawingml/2006/main" noGrp="1"/>
          </p:cNvSpPr>
          <p:nvPr/>
        </p:nvSpPr>
        <p:spPr>
          <a:xfrm xmlns:a="http://schemas.openxmlformats.org/drawingml/2006/main">
            <a:off x="381000" y="2476500"/>
            <a:ext cx="1905000" cy="742950"/>
          </a:xfrm>
          <a:prstGeom xmlns:a="http://schemas.openxmlformats.org/drawingml/2006/main" prst="roundRect">
            <a:avLst>
              <a:gd name="adj" fmla="val 15385"/>
            </a:avLst>
          </a:prstGeom>
          <a:solidFill xmlns:a="http://schemas.openxmlformats.org/drawingml/2006/main">
            <a:srgbClr val="12324A"/>
          </a:solidFill>
          <a:ln xmlns:a="http://schemas.openxmlformats.org/drawingml/2006/main" w="9525">
            <a:solidFill>
              <a:srgbClr val="1232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F53A99E-2CCC-44F6-8D5C-3B07B5DDFC7F}"/>
              </a:ext>
            </a:extLst>
          </p:cNvPr>
          <p:cNvSpPr>
            <a:spLocks xmlns:a="http://schemas.openxmlformats.org/drawingml/2006/main" noGrp="1"/>
          </p:cNvSpPr>
          <p:nvPr/>
        </p:nvSpPr>
        <p:spPr>
          <a:xfrm xmlns:a="http://schemas.openxmlformats.org/drawingml/2006/main">
            <a:off x="523875" y="2609850"/>
            <a:ext cx="1619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QUICK TUNNEL</a:t>
            </a:r>
          </a:p>
        </p:txBody>
      </p:sp>
      <p:sp>
        <p:nvSpPr>
          <p:cNvPr id="15" name="">
            <a:extLst xmlns:a="http://schemas.openxmlformats.org/drawingml/2006/main">
              <a:ext uri="{FF2B5EF4-FFF2-40B4-BE49-F238E27FC236}">
                <a16:creationId xmlns:a16="http://schemas.microsoft.com/office/drawing/2014/main" id="{7B5A4F98-C55E-44FB-BB8E-6CFEF9871460}"/>
              </a:ext>
            </a:extLst>
          </p:cNvPr>
          <p:cNvSpPr>
            <a:spLocks xmlns:a="http://schemas.openxmlformats.org/drawingml/2006/main" noGrp="1"/>
          </p:cNvSpPr>
          <p:nvPr/>
        </p:nvSpPr>
        <p:spPr>
          <a:xfrm xmlns:a="http://schemas.openxmlformats.org/drawingml/2006/main">
            <a:off x="523875" y="28384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Cloudflare → :3001 only</a:t>
            </a:r>
          </a:p>
          <a:p xmlns:a="http://schemas.openxmlformats.org/drawingml/2006/main">
            <a:pPr algn="l">
              <a:defRPr sz="900" b="1" i="0">
                <a:solidFill>
                  <a:srgbClr val="0B1F33"/>
                </a:solidFill>
              </a:defRPr>
            </a:pPr>
            <a:r>
              <a:rPr sz="900" b="1" i="0">
                <a:solidFill>
                  <a:srgbClr val="0B1F33"/>
                </a:solidFill>
              </a:rPr>
              <a:t>never exposes dashboard</a:t>
            </a:r>
          </a:p>
        </p:txBody>
      </p:sp>
      <p:sp>
        <p:nvSpPr>
          <p:cNvPr id="16" name="a1mobile / Telnyx">
            <a:extLst xmlns:a="http://schemas.openxmlformats.org/drawingml/2006/main">
              <a:ext uri="{FF2B5EF4-FFF2-40B4-BE49-F238E27FC236}">
                <a16:creationId xmlns:a16="http://schemas.microsoft.com/office/drawing/2014/main" id="{33FF6C86-B2E6-4610-AA21-9425309DD0EB}"/>
              </a:ext>
            </a:extLst>
          </p:cNvPr>
          <p:cNvSpPr>
            <a:spLocks xmlns:a="http://schemas.openxmlformats.org/drawingml/2006/main" noGrp="1"/>
          </p:cNvSpPr>
          <p:nvPr/>
        </p:nvSpPr>
        <p:spPr>
          <a:xfrm xmlns:a="http://schemas.openxmlformats.org/drawingml/2006/main">
            <a:off x="381000" y="3429000"/>
            <a:ext cx="1905000" cy="742950"/>
          </a:xfrm>
          <a:prstGeom xmlns:a="http://schemas.openxmlformats.org/drawingml/2006/main" prst="roundRect">
            <a:avLst>
              <a:gd name="adj" fmla="val 15385"/>
            </a:avLst>
          </a:prstGeom>
          <a:solidFill xmlns:a="http://schemas.openxmlformats.org/drawingml/2006/main">
            <a:srgbClr val="12324A"/>
          </a:solidFill>
          <a:ln xmlns:a="http://schemas.openxmlformats.org/drawingml/2006/main" w="9525">
            <a:solidFill>
              <a:srgbClr val="1232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44B3906-C904-4E5F-9270-30A6F4A1038F}"/>
              </a:ext>
            </a:extLst>
          </p:cNvPr>
          <p:cNvSpPr>
            <a:spLocks xmlns:a="http://schemas.openxmlformats.org/drawingml/2006/main" noGrp="1"/>
          </p:cNvSpPr>
          <p:nvPr/>
        </p:nvSpPr>
        <p:spPr>
          <a:xfrm xmlns:a="http://schemas.openxmlformats.org/drawingml/2006/main">
            <a:off x="523875" y="3562350"/>
            <a:ext cx="1619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A1MOBILE / TELNYX</a:t>
            </a:r>
          </a:p>
        </p:txBody>
      </p:sp>
      <p:sp>
        <p:nvSpPr>
          <p:cNvPr id="18" name="">
            <a:extLst xmlns:a="http://schemas.openxmlformats.org/drawingml/2006/main">
              <a:ext uri="{FF2B5EF4-FFF2-40B4-BE49-F238E27FC236}">
                <a16:creationId xmlns:a16="http://schemas.microsoft.com/office/drawing/2014/main" id="{278A1853-4E83-4298-80CE-6B1785349B65}"/>
              </a:ext>
            </a:extLst>
          </p:cNvPr>
          <p:cNvSpPr>
            <a:spLocks xmlns:a="http://schemas.openxmlformats.org/drawingml/2006/main" noGrp="1"/>
          </p:cNvSpPr>
          <p:nvPr/>
        </p:nvSpPr>
        <p:spPr>
          <a:xfrm xmlns:a="http://schemas.openxmlformats.org/drawingml/2006/main">
            <a:off x="523875" y="3790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TeXML Gather + SpeechResult</a:t>
            </a:r>
          </a:p>
          <a:p xmlns:a="http://schemas.openxmlformats.org/drawingml/2006/main">
            <a:pPr algn="l">
              <a:defRPr sz="900" b="1" i="0">
                <a:solidFill>
                  <a:srgbClr val="0B1F33"/>
                </a:solidFill>
              </a:defRPr>
            </a:pPr>
            <a:r>
              <a:rPr sz="900" b="1" i="0">
                <a:solidFill>
                  <a:srgbClr val="0B1F33"/>
                </a:solidFill>
              </a:rPr>
              <a:t>claim · point · SMS APIs</a:t>
            </a:r>
          </a:p>
        </p:txBody>
      </p:sp>
      <p:sp>
        <p:nvSpPr>
          <p:cNvPr id="19" name="voice-server.mjs">
            <a:extLst xmlns:a="http://schemas.openxmlformats.org/drawingml/2006/main">
              <a:ext uri="{FF2B5EF4-FFF2-40B4-BE49-F238E27FC236}">
                <a16:creationId xmlns:a16="http://schemas.microsoft.com/office/drawing/2014/main" id="{015F482D-B3CA-4FD6-B482-603F11209DF5}"/>
              </a:ext>
            </a:extLst>
          </p:cNvPr>
          <p:cNvSpPr>
            <a:spLocks xmlns:a="http://schemas.openxmlformats.org/drawingml/2006/main" noGrp="1"/>
          </p:cNvSpPr>
          <p:nvPr/>
        </p:nvSpPr>
        <p:spPr>
          <a:xfrm xmlns:a="http://schemas.openxmlformats.org/drawingml/2006/main">
            <a:off x="2571750" y="1524000"/>
            <a:ext cx="2000250" cy="1047750"/>
          </a:xfrm>
          <a:prstGeom xmlns:a="http://schemas.openxmlformats.org/drawingml/2006/main" prst="roundRect">
            <a:avLst>
              <a:gd name="adj" fmla="val 10909"/>
            </a:avLst>
          </a:prstGeom>
          <a:solidFill xmlns:a="http://schemas.openxmlformats.org/drawingml/2006/main">
            <a:srgbClr val="0E4A44"/>
          </a:solidFill>
          <a:ln xmlns:a="http://schemas.openxmlformats.org/drawingml/2006/main" w="9525">
            <a:solidFill>
              <a:srgbClr val="0E4A4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2F0B0CE6-B657-43B4-BA76-FACD0C3F9094}"/>
              </a:ext>
            </a:extLst>
          </p:cNvPr>
          <p:cNvSpPr>
            <a:spLocks xmlns:a="http://schemas.openxmlformats.org/drawingml/2006/main" noGrp="1"/>
          </p:cNvSpPr>
          <p:nvPr/>
        </p:nvSpPr>
        <p:spPr>
          <a:xfrm xmlns:a="http://schemas.openxmlformats.org/drawingml/2006/main">
            <a:off x="2714625" y="1657350"/>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VOICE-SERVER.MJS</a:t>
            </a:r>
          </a:p>
        </p:txBody>
      </p:sp>
      <p:sp>
        <p:nvSpPr>
          <p:cNvPr id="21" name="">
            <a:extLst xmlns:a="http://schemas.openxmlformats.org/drawingml/2006/main">
              <a:ext uri="{FF2B5EF4-FFF2-40B4-BE49-F238E27FC236}">
                <a16:creationId xmlns:a16="http://schemas.microsoft.com/office/drawing/2014/main" id="{1EF74D7B-6875-4CD6-9358-0944E3DBBE69}"/>
              </a:ext>
            </a:extLst>
          </p:cNvPr>
          <p:cNvSpPr>
            <a:spLocks xmlns:a="http://schemas.openxmlformats.org/drawingml/2006/main" noGrp="1"/>
          </p:cNvSpPr>
          <p:nvPr/>
        </p:nvSpPr>
        <p:spPr>
          <a:xfrm xmlns:a="http://schemas.openxmlformats.org/drawingml/2006/main">
            <a:off x="2714625" y="18859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/voice · /voice/turn · /health</a:t>
            </a:r>
          </a:p>
          <a:p xmlns:a="http://schemas.openxmlformats.org/drawingml/2006/main">
            <a:pPr algn="l">
              <a:defRPr sz="900" b="1" i="0">
                <a:solidFill>
                  <a:srgbClr val="0B1F33"/>
                </a:solidFill>
              </a:defRPr>
            </a:pPr>
            <a:r>
              <a:rPr sz="900" b="1" i="0">
                <a:solidFill>
                  <a:srgbClr val="0B1F33"/>
                </a:solidFill>
              </a:rPr>
              <a:t>token-gated TeXML only</a:t>
            </a:r>
          </a:p>
        </p:txBody>
      </p:sp>
      <p:sp>
        <p:nvSpPr>
          <p:cNvPr id="22" name="Consent parse">
            <a:extLst xmlns:a="http://schemas.openxmlformats.org/drawingml/2006/main">
              <a:ext uri="{FF2B5EF4-FFF2-40B4-BE49-F238E27FC236}">
                <a16:creationId xmlns:a16="http://schemas.microsoft.com/office/drawing/2014/main" id="{CCA074C9-5ADD-4061-A5FF-280B2033190C}"/>
              </a:ext>
            </a:extLst>
          </p:cNvPr>
          <p:cNvSpPr>
            <a:spLocks xmlns:a="http://schemas.openxmlformats.org/drawingml/2006/main" noGrp="1"/>
          </p:cNvSpPr>
          <p:nvPr/>
        </p:nvSpPr>
        <p:spPr>
          <a:xfrm xmlns:a="http://schemas.openxmlformats.org/drawingml/2006/main">
            <a:off x="2571750" y="2809875"/>
            <a:ext cx="2000250" cy="904875"/>
          </a:xfrm>
          <a:prstGeom xmlns:a="http://schemas.openxmlformats.org/drawingml/2006/main" prst="roundRect">
            <a:avLst>
              <a:gd name="adj" fmla="val 12632"/>
            </a:avLst>
          </a:prstGeom>
          <a:solidFill xmlns:a="http://schemas.openxmlformats.org/drawingml/2006/main">
            <a:srgbClr val="3A1F24"/>
          </a:solidFill>
          <a:ln xmlns:a="http://schemas.openxmlformats.org/drawingml/2006/main" w="9525">
            <a:solidFill>
              <a:srgbClr val="3A1F2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10F8CA9-B1CF-4C4B-B075-2CE6CCBBA93F}"/>
              </a:ext>
            </a:extLst>
          </p:cNvPr>
          <p:cNvSpPr>
            <a:spLocks xmlns:a="http://schemas.openxmlformats.org/drawingml/2006/main" noGrp="1"/>
          </p:cNvSpPr>
          <p:nvPr/>
        </p:nvSpPr>
        <p:spPr>
          <a:xfrm xmlns:a="http://schemas.openxmlformats.org/drawingml/2006/main">
            <a:off x="2714625" y="29432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F0A0A0"/>
                </a:solidFill>
              </a:defRPr>
            </a:pPr>
            <a:r>
              <a:rPr sz="675" b="1" i="0">
                <a:solidFill>
                  <a:srgbClr val="F0A0A0"/>
                </a:solidFill>
              </a:rPr>
              <a:t>CONSENT PARSE</a:t>
            </a:r>
          </a:p>
        </p:txBody>
      </p:sp>
      <p:sp>
        <p:nvSpPr>
          <p:cNvPr id="24" name="">
            <a:extLst xmlns:a="http://schemas.openxmlformats.org/drawingml/2006/main">
              <a:ext uri="{FF2B5EF4-FFF2-40B4-BE49-F238E27FC236}">
                <a16:creationId xmlns:a16="http://schemas.microsoft.com/office/drawing/2014/main" id="{E72F4632-2AB0-4388-84BC-89EBE2AC402F}"/>
              </a:ext>
            </a:extLst>
          </p:cNvPr>
          <p:cNvSpPr>
            <a:spLocks xmlns:a="http://schemas.openxmlformats.org/drawingml/2006/main" noGrp="1"/>
          </p:cNvSpPr>
          <p:nvPr/>
        </p:nvSpPr>
        <p:spPr>
          <a:xfrm xmlns:a="http://schemas.openxmlformats.org/drawingml/2006/main">
            <a:off x="2714625" y="3171825"/>
            <a:ext cx="1714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explicit phrase + scope</a:t>
            </a:r>
          </a:p>
          <a:p xmlns:a="http://schemas.openxmlformats.org/drawingml/2006/main">
            <a:pPr algn="l">
              <a:defRPr sz="900" b="1" i="0">
                <a:solidFill>
                  <a:srgbClr val="0B1F33"/>
                </a:solidFill>
              </a:defRPr>
            </a:pPr>
            <a:r>
              <a:rPr sz="900" b="1" i="0">
                <a:solidFill>
                  <a:srgbClr val="0B1F33"/>
                </a:solidFill>
              </a:rPr>
              <a:t>vague “yes” rejected</a:t>
            </a:r>
          </a:p>
        </p:txBody>
      </p:sp>
      <p:sp>
        <p:nvSpPr>
          <p:cNvPr id="25" name="Safe stop">
            <a:extLst xmlns:a="http://schemas.openxmlformats.org/drawingml/2006/main">
              <a:ext uri="{FF2B5EF4-FFF2-40B4-BE49-F238E27FC236}">
                <a16:creationId xmlns:a16="http://schemas.microsoft.com/office/drawing/2014/main" id="{F4F926CE-C39D-4A2F-812D-B3BD7D73079E}"/>
              </a:ext>
            </a:extLst>
          </p:cNvPr>
          <p:cNvSpPr>
            <a:spLocks xmlns:a="http://schemas.openxmlformats.org/drawingml/2006/main" noGrp="1"/>
          </p:cNvSpPr>
          <p:nvPr/>
        </p:nvSpPr>
        <p:spPr>
          <a:xfrm xmlns:a="http://schemas.openxmlformats.org/drawingml/2006/main">
            <a:off x="2571750" y="3952875"/>
            <a:ext cx="2000250" cy="904875"/>
          </a:xfrm>
          <a:prstGeom xmlns:a="http://schemas.openxmlformats.org/drawingml/2006/main" prst="roundRect">
            <a:avLst>
              <a:gd name="adj" fmla="val 12632"/>
            </a:avLst>
          </a:prstGeom>
          <a:solidFill xmlns:a="http://schemas.openxmlformats.org/drawingml/2006/main">
            <a:srgbClr val="3A1F24"/>
          </a:solidFill>
          <a:ln xmlns:a="http://schemas.openxmlformats.org/drawingml/2006/main" w="9525">
            <a:solidFill>
              <a:srgbClr val="3A1F2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9B25904B-8408-4E6F-908B-D6889329CE4A}"/>
              </a:ext>
            </a:extLst>
          </p:cNvPr>
          <p:cNvSpPr>
            <a:spLocks xmlns:a="http://schemas.openxmlformats.org/drawingml/2006/main" noGrp="1"/>
          </p:cNvSpPr>
          <p:nvPr/>
        </p:nvSpPr>
        <p:spPr>
          <a:xfrm xmlns:a="http://schemas.openxmlformats.org/drawingml/2006/main">
            <a:off x="2714625" y="40862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F0A0A0"/>
                </a:solidFill>
              </a:defRPr>
            </a:pPr>
            <a:r>
              <a:rPr sz="675" b="1" i="0">
                <a:solidFill>
                  <a:srgbClr val="F0A0A0"/>
                </a:solidFill>
              </a:rPr>
              <a:t>SAFE STOP</a:t>
            </a:r>
          </a:p>
        </p:txBody>
      </p:sp>
      <p:sp>
        <p:nvSpPr>
          <p:cNvPr id="27" name="">
            <a:extLst xmlns:a="http://schemas.openxmlformats.org/drawingml/2006/main">
              <a:ext uri="{FF2B5EF4-FFF2-40B4-BE49-F238E27FC236}">
                <a16:creationId xmlns:a16="http://schemas.microsoft.com/office/drawing/2014/main" id="{4D58A4ED-07A8-497E-A60D-017CBD49BFA4}"/>
              </a:ext>
            </a:extLst>
          </p:cNvPr>
          <p:cNvSpPr>
            <a:spLocks xmlns:a="http://schemas.openxmlformats.org/drawingml/2006/main" noGrp="1"/>
          </p:cNvSpPr>
          <p:nvPr/>
        </p:nvSpPr>
        <p:spPr>
          <a:xfrm xmlns:a="http://schemas.openxmlformats.org/drawingml/2006/main">
            <a:off x="2714625" y="4314825"/>
            <a:ext cx="1714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clinical / emergency / Rx change</a:t>
            </a:r>
          </a:p>
          <a:p xmlns:a="http://schemas.openxmlformats.org/drawingml/2006/main">
            <a:pPr algn="l">
              <a:defRPr sz="900" b="1" i="0">
                <a:solidFill>
                  <a:srgbClr val="0B1F33"/>
                </a:solidFill>
              </a:defRPr>
            </a:pPr>
            <a:r>
              <a:rPr sz="900" b="1" i="0">
                <a:solidFill>
                  <a:srgbClr val="0B1F33"/>
                </a:solidFill>
              </a:rPr>
              <a:t>→ human review, no action</a:t>
            </a:r>
          </a:p>
        </p:txBody>
      </p:sp>
      <p:sp>
        <p:nvSpPr>
          <p:cNvPr id="28" name="PAVO router">
            <a:extLst xmlns:a="http://schemas.openxmlformats.org/drawingml/2006/main">
              <a:ext uri="{FF2B5EF4-FFF2-40B4-BE49-F238E27FC236}">
                <a16:creationId xmlns:a16="http://schemas.microsoft.com/office/drawing/2014/main" id="{D806E611-C2DB-44E2-8CB4-1BA515A03BAA}"/>
              </a:ext>
            </a:extLst>
          </p:cNvPr>
          <p:cNvSpPr>
            <a:spLocks xmlns:a="http://schemas.openxmlformats.org/drawingml/2006/main" noGrp="1"/>
          </p:cNvSpPr>
          <p:nvPr/>
        </p:nvSpPr>
        <p:spPr>
          <a:xfrm xmlns:a="http://schemas.openxmlformats.org/drawingml/2006/main">
            <a:off x="4857750" y="1524000"/>
            <a:ext cx="2190750" cy="952500"/>
          </a:xfrm>
          <a:prstGeom xmlns:a="http://schemas.openxmlformats.org/drawingml/2006/main" prst="roundRect">
            <a:avLst>
              <a:gd name="adj" fmla="val 12000"/>
            </a:avLst>
          </a:prstGeom>
          <a:solidFill xmlns:a="http://schemas.openxmlformats.org/drawingml/2006/main">
            <a:srgbClr val="0E4A44"/>
          </a:solidFill>
          <a:ln xmlns:a="http://schemas.openxmlformats.org/drawingml/2006/main" w="9525">
            <a:solidFill>
              <a:srgbClr val="0E4A4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030AA6A9-3A42-47A1-84D7-13FA42B8BF03}"/>
              </a:ext>
            </a:extLst>
          </p:cNvPr>
          <p:cNvSpPr>
            <a:spLocks xmlns:a="http://schemas.openxmlformats.org/drawingml/2006/main" noGrp="1"/>
          </p:cNvSpPr>
          <p:nvPr/>
        </p:nvSpPr>
        <p:spPr>
          <a:xfrm xmlns:a="http://schemas.openxmlformats.org/drawingml/2006/main">
            <a:off x="5000625" y="1657350"/>
            <a:ext cx="1905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PAVO ROUTER</a:t>
            </a:r>
          </a:p>
        </p:txBody>
      </p:sp>
      <p:sp>
        <p:nvSpPr>
          <p:cNvPr id="30" name="">
            <a:extLst xmlns:a="http://schemas.openxmlformats.org/drawingml/2006/main">
              <a:ext uri="{FF2B5EF4-FFF2-40B4-BE49-F238E27FC236}">
                <a16:creationId xmlns:a16="http://schemas.microsoft.com/office/drawing/2014/main" id="{AE1E407E-2695-42A6-B3A9-729B52B67FFC}"/>
              </a:ext>
            </a:extLst>
          </p:cNvPr>
          <p:cNvSpPr>
            <a:spLocks xmlns:a="http://schemas.openxmlformats.org/drawingml/2006/main" noGrp="1"/>
          </p:cNvSpPr>
          <p:nvPr/>
        </p:nvSpPr>
        <p:spPr>
          <a:xfrm xmlns:a="http://schemas.openxmlformats.org/drawingml/2006/main">
            <a:off x="5000625" y="1885950"/>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confidence · noise · entities</a:t>
            </a:r>
          </a:p>
          <a:p xmlns:a="http://schemas.openxmlformats.org/drawingml/2006/main">
            <a:pPr algn="l">
              <a:defRPr sz="900" b="1" i="0">
                <a:solidFill>
                  <a:srgbClr val="0B1F33"/>
                </a:solidFill>
              </a:defRPr>
            </a:pPr>
            <a:r>
              <a:rPr sz="900" b="1" i="0">
                <a:solidFill>
                  <a:srgbClr val="0B1F33"/>
                </a:solidFill>
              </a:rPr>
              <a:t>fast / balanced / verified / stop</a:t>
            </a:r>
          </a:p>
        </p:txBody>
      </p:sp>
      <p:sp>
        <p:nvSpPr>
          <p:cNvPr id="31" name="Inference">
            <a:extLst xmlns:a="http://schemas.openxmlformats.org/drawingml/2006/main">
              <a:ext uri="{FF2B5EF4-FFF2-40B4-BE49-F238E27FC236}">
                <a16:creationId xmlns:a16="http://schemas.microsoft.com/office/drawing/2014/main" id="{F01599C4-732B-40E8-A7FE-6C2619A973CA}"/>
              </a:ext>
            </a:extLst>
          </p:cNvPr>
          <p:cNvSpPr>
            <a:spLocks xmlns:a="http://schemas.openxmlformats.org/drawingml/2006/main" noGrp="1"/>
          </p:cNvSpPr>
          <p:nvPr/>
        </p:nvSpPr>
        <p:spPr>
          <a:xfrm xmlns:a="http://schemas.openxmlformats.org/drawingml/2006/main">
            <a:off x="4857750" y="2686050"/>
            <a:ext cx="2190750" cy="857250"/>
          </a:xfrm>
          <a:prstGeom xmlns:a="http://schemas.openxmlformats.org/drawingml/2006/main" prst="roundRect">
            <a:avLst>
              <a:gd name="adj" fmla="val 13333"/>
            </a:avLst>
          </a:prstGeom>
          <a:solidFill xmlns:a="http://schemas.openxmlformats.org/drawingml/2006/main">
            <a:srgbClr val="12324A"/>
          </a:solidFill>
          <a:ln xmlns:a="http://schemas.openxmlformats.org/drawingml/2006/main" w="9525">
            <a:solidFill>
              <a:srgbClr val="1232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DE56E2B7-68E8-4245-9753-8F439E6443DD}"/>
              </a:ext>
            </a:extLst>
          </p:cNvPr>
          <p:cNvSpPr>
            <a:spLocks xmlns:a="http://schemas.openxmlformats.org/drawingml/2006/main" noGrp="1"/>
          </p:cNvSpPr>
          <p:nvPr/>
        </p:nvSpPr>
        <p:spPr>
          <a:xfrm xmlns:a="http://schemas.openxmlformats.org/drawingml/2006/main">
            <a:off x="5000625" y="2819400"/>
            <a:ext cx="1905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9FB6C9"/>
                </a:solidFill>
              </a:defRPr>
            </a:pPr>
            <a:r>
              <a:rPr sz="675" b="1" i="0">
                <a:solidFill>
                  <a:srgbClr val="9FB6C9"/>
                </a:solidFill>
              </a:rPr>
              <a:t>INFERENCE</a:t>
            </a:r>
          </a:p>
        </p:txBody>
      </p:sp>
      <p:sp>
        <p:nvSpPr>
          <p:cNvPr id="33" name="">
            <a:extLst xmlns:a="http://schemas.openxmlformats.org/drawingml/2006/main">
              <a:ext uri="{FF2B5EF4-FFF2-40B4-BE49-F238E27FC236}">
                <a16:creationId xmlns:a16="http://schemas.microsoft.com/office/drawing/2014/main" id="{FE06A4EA-6D50-47FB-9CA5-2020060CF58B}"/>
              </a:ext>
            </a:extLst>
          </p:cNvPr>
          <p:cNvSpPr>
            <a:spLocks xmlns:a="http://schemas.openxmlformats.org/drawingml/2006/main" noGrp="1"/>
          </p:cNvSpPr>
          <p:nvPr/>
        </p:nvSpPr>
        <p:spPr>
          <a:xfrm xmlns:a="http://schemas.openxmlformats.org/drawingml/2006/main">
            <a:off x="5000625" y="30480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a1 Responses gateway</a:t>
            </a:r>
          </a:p>
          <a:p xmlns:a="http://schemas.openxmlformats.org/drawingml/2006/main">
            <a:pPr algn="l">
              <a:defRPr sz="900" b="1" i="0">
                <a:solidFill>
                  <a:srgbClr val="0B1F33"/>
                </a:solidFill>
              </a:defRPr>
            </a:pPr>
            <a:r>
              <a:rPr sz="900" b="1" i="0">
                <a:solidFill>
                  <a:srgbClr val="0B1F33"/>
                </a:solidFill>
              </a:rPr>
              <a:t>+ local safe fallback</a:t>
            </a:r>
          </a:p>
        </p:txBody>
      </p:sp>
      <p:sp>
        <p:nvSpPr>
          <p:cNvPr id="34" name="CaseStore + proof gate">
            <a:extLst xmlns:a="http://schemas.openxmlformats.org/drawingml/2006/main">
              <a:ext uri="{FF2B5EF4-FFF2-40B4-BE49-F238E27FC236}">
                <a16:creationId xmlns:a16="http://schemas.microsoft.com/office/drawing/2014/main" id="{F2684045-CE9C-47E8-A5A1-7D06E6F0DFA4}"/>
              </a:ext>
            </a:extLst>
          </p:cNvPr>
          <p:cNvSpPr>
            <a:spLocks xmlns:a="http://schemas.openxmlformats.org/drawingml/2006/main" noGrp="1"/>
          </p:cNvSpPr>
          <p:nvPr/>
        </p:nvSpPr>
        <p:spPr>
          <a:xfrm xmlns:a="http://schemas.openxmlformats.org/drawingml/2006/main">
            <a:off x="4857750" y="3733800"/>
            <a:ext cx="2190750" cy="1123950"/>
          </a:xfrm>
          <a:prstGeom xmlns:a="http://schemas.openxmlformats.org/drawingml/2006/main" prst="roundRect">
            <a:avLst>
              <a:gd name="adj" fmla="val 10169"/>
            </a:avLst>
          </a:prstGeom>
          <a:solidFill xmlns:a="http://schemas.openxmlformats.org/drawingml/2006/main">
            <a:srgbClr val="1B3A5C"/>
          </a:solidFill>
          <a:ln xmlns:a="http://schemas.openxmlformats.org/drawingml/2006/main" w="9525">
            <a:solidFill>
              <a:srgbClr val="1B3A5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BA4BDA9D-7180-4299-A09E-AB86E0E7F220}"/>
              </a:ext>
            </a:extLst>
          </p:cNvPr>
          <p:cNvSpPr>
            <a:spLocks xmlns:a="http://schemas.openxmlformats.org/drawingml/2006/main" noGrp="1"/>
          </p:cNvSpPr>
          <p:nvPr/>
        </p:nvSpPr>
        <p:spPr>
          <a:xfrm xmlns:a="http://schemas.openxmlformats.org/drawingml/2006/main">
            <a:off x="5000625" y="3867150"/>
            <a:ext cx="1905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CASESTORE + PROOF GATE</a:t>
            </a:r>
          </a:p>
        </p:txBody>
      </p:sp>
      <p:sp>
        <p:nvSpPr>
          <p:cNvPr id="36" name="">
            <a:extLst xmlns:a="http://schemas.openxmlformats.org/drawingml/2006/main">
              <a:ext uri="{FF2B5EF4-FFF2-40B4-BE49-F238E27FC236}">
                <a16:creationId xmlns:a16="http://schemas.microsoft.com/office/drawing/2014/main" id="{9B3F967B-6606-48E8-ACBC-3A2D95D8FFB8}"/>
              </a:ext>
            </a:extLst>
          </p:cNvPr>
          <p:cNvSpPr>
            <a:spLocks xmlns:a="http://schemas.openxmlformats.org/drawingml/2006/main" noGrp="1"/>
          </p:cNvSpPr>
          <p:nvPr/>
        </p:nvSpPr>
        <p:spPr>
          <a:xfrm xmlns:a="http://schemas.openxmlformats.org/drawingml/2006/main">
            <a:off x="5000625" y="409575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consent ∧ action ∧ outcome ∧ update</a:t>
            </a:r>
          </a:p>
          <a:p xmlns:a="http://schemas.openxmlformats.org/drawingml/2006/main">
            <a:pPr algn="l">
              <a:defRPr sz="900" b="1" i="0">
                <a:solidFill>
                  <a:srgbClr val="0B1F33"/>
                </a:solidFill>
              </a:defRPr>
            </a:pPr>
            <a:r>
              <a:rPr sz="900" b="1" i="0">
                <a:solidFill>
                  <a:srgbClr val="0B1F33"/>
                </a:solidFill>
              </a:rPr>
              <a:t>persist → data/cases.json</a:t>
            </a:r>
          </a:p>
        </p:txBody>
      </p:sp>
      <p:sp>
        <p:nvSpPr>
          <p:cNvPr id="37" name="Proof board">
            <a:extLst xmlns:a="http://schemas.openxmlformats.org/drawingml/2006/main">
              <a:ext uri="{FF2B5EF4-FFF2-40B4-BE49-F238E27FC236}">
                <a16:creationId xmlns:a16="http://schemas.microsoft.com/office/drawing/2014/main" id="{C6FCB570-AE13-42CE-9A4A-AD057A19C08B}"/>
              </a:ext>
            </a:extLst>
          </p:cNvPr>
          <p:cNvSpPr>
            <a:spLocks xmlns:a="http://schemas.openxmlformats.org/drawingml/2006/main" noGrp="1"/>
          </p:cNvSpPr>
          <p:nvPr/>
        </p:nvSpPr>
        <p:spPr>
          <a:xfrm xmlns:a="http://schemas.openxmlformats.org/drawingml/2006/main">
            <a:off x="7334250" y="1524000"/>
            <a:ext cx="2190750" cy="904875"/>
          </a:xfrm>
          <a:prstGeom xmlns:a="http://schemas.openxmlformats.org/drawingml/2006/main" prst="roundRect">
            <a:avLst>
              <a:gd name="adj" fmla="val 12632"/>
            </a:avLst>
          </a:prstGeom>
          <a:solidFill xmlns:a="http://schemas.openxmlformats.org/drawingml/2006/main">
            <a:srgbClr val="12324A"/>
          </a:solidFill>
          <a:ln xmlns:a="http://schemas.openxmlformats.org/drawingml/2006/main" w="9525">
            <a:solidFill>
              <a:srgbClr val="1232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B531DA5B-EFD3-4A19-AADD-DC6451E91FC9}"/>
              </a:ext>
            </a:extLst>
          </p:cNvPr>
          <p:cNvSpPr>
            <a:spLocks xmlns:a="http://schemas.openxmlformats.org/drawingml/2006/main" noGrp="1"/>
          </p:cNvSpPr>
          <p:nvPr/>
        </p:nvSpPr>
        <p:spPr>
          <a:xfrm xmlns:a="http://schemas.openxmlformats.org/drawingml/2006/main">
            <a:off x="7477125" y="1657350"/>
            <a:ext cx="1905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9FB6C9"/>
                </a:solidFill>
              </a:defRPr>
            </a:pPr>
            <a:r>
              <a:rPr sz="675" b="1" i="0">
                <a:solidFill>
                  <a:srgbClr val="9FB6C9"/>
                </a:solidFill>
              </a:rPr>
              <a:t>PROOF BOARD</a:t>
            </a:r>
          </a:p>
        </p:txBody>
      </p:sp>
      <p:sp>
        <p:nvSpPr>
          <p:cNvPr id="39" name="">
            <a:extLst xmlns:a="http://schemas.openxmlformats.org/drawingml/2006/main">
              <a:ext uri="{FF2B5EF4-FFF2-40B4-BE49-F238E27FC236}">
                <a16:creationId xmlns:a16="http://schemas.microsoft.com/office/drawing/2014/main" id="{54863D4D-8FFB-4054-81B8-BFFCB9E649C9}"/>
              </a:ext>
            </a:extLst>
          </p:cNvPr>
          <p:cNvSpPr>
            <a:spLocks xmlns:a="http://schemas.openxmlformats.org/drawingml/2006/main" noGrp="1"/>
          </p:cNvSpPr>
          <p:nvPr/>
        </p:nvSpPr>
        <p:spPr>
          <a:xfrm xmlns:a="http://schemas.openxmlformats.org/drawingml/2006/main">
            <a:off x="7477125" y="1885950"/>
            <a:ext cx="1905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lanes · timeline · 4/4 gate</a:t>
            </a:r>
          </a:p>
          <a:p xmlns:a="http://schemas.openxmlformats.org/drawingml/2006/main">
            <a:pPr algn="l">
              <a:defRPr sz="900" b="1" i="0">
                <a:solidFill>
                  <a:srgbClr val="0B1F33"/>
                </a:solidFill>
              </a:defRPr>
            </a:pPr>
            <a:r>
              <a:rPr sz="900" b="1" i="0">
                <a:solidFill>
                  <a:srgbClr val="0B1F33"/>
                </a:solidFill>
              </a:rPr>
              <a:t>public/ on :3000</a:t>
            </a:r>
          </a:p>
        </p:txBody>
      </p:sp>
      <p:sp>
        <p:nvSpPr>
          <p:cNvPr id="40" name="MCP /api">
            <a:extLst xmlns:a="http://schemas.openxmlformats.org/drawingml/2006/main">
              <a:ext uri="{FF2B5EF4-FFF2-40B4-BE49-F238E27FC236}">
                <a16:creationId xmlns:a16="http://schemas.microsoft.com/office/drawing/2014/main" id="{13B8838E-8B01-437B-8724-67BC0C6842C1}"/>
              </a:ext>
            </a:extLst>
          </p:cNvPr>
          <p:cNvSpPr>
            <a:spLocks xmlns:a="http://schemas.openxmlformats.org/drawingml/2006/main" noGrp="1"/>
          </p:cNvSpPr>
          <p:nvPr/>
        </p:nvSpPr>
        <p:spPr>
          <a:xfrm xmlns:a="http://schemas.openxmlformats.org/drawingml/2006/main">
            <a:off x="7334250" y="2619375"/>
            <a:ext cx="2190750" cy="904875"/>
          </a:xfrm>
          <a:prstGeom xmlns:a="http://schemas.openxmlformats.org/drawingml/2006/main" prst="roundRect">
            <a:avLst>
              <a:gd name="adj" fmla="val 12632"/>
            </a:avLst>
          </a:prstGeom>
          <a:solidFill xmlns:a="http://schemas.openxmlformats.org/drawingml/2006/main">
            <a:srgbClr val="12324A"/>
          </a:solidFill>
          <a:ln xmlns:a="http://schemas.openxmlformats.org/drawingml/2006/main" w="9525">
            <a:solidFill>
              <a:srgbClr val="12324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07D9908A-BD10-4C4F-B33B-9C87DC4A5B0D}"/>
              </a:ext>
            </a:extLst>
          </p:cNvPr>
          <p:cNvSpPr>
            <a:spLocks xmlns:a="http://schemas.openxmlformats.org/drawingml/2006/main" noGrp="1"/>
          </p:cNvSpPr>
          <p:nvPr/>
        </p:nvSpPr>
        <p:spPr>
          <a:xfrm xmlns:a="http://schemas.openxmlformats.org/drawingml/2006/main">
            <a:off x="7477125" y="2752725"/>
            <a:ext cx="1905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9FB6C9"/>
                </a:solidFill>
              </a:defRPr>
            </a:pPr>
            <a:r>
              <a:rPr sz="675" b="1" i="0">
                <a:solidFill>
                  <a:srgbClr val="9FB6C9"/>
                </a:solidFill>
              </a:rPr>
              <a:t>MCP /API</a:t>
            </a:r>
          </a:p>
        </p:txBody>
      </p:sp>
      <p:sp>
        <p:nvSpPr>
          <p:cNvPr id="42" name="">
            <a:extLst xmlns:a="http://schemas.openxmlformats.org/drawingml/2006/main">
              <a:ext uri="{FF2B5EF4-FFF2-40B4-BE49-F238E27FC236}">
                <a16:creationId xmlns:a16="http://schemas.microsoft.com/office/drawing/2014/main" id="{46C4C675-9B3E-4CFE-8D00-81CC59CA433C}"/>
              </a:ext>
            </a:extLst>
          </p:cNvPr>
          <p:cNvSpPr>
            <a:spLocks xmlns:a="http://schemas.openxmlformats.org/drawingml/2006/main" noGrp="1"/>
          </p:cNvSpPr>
          <p:nvPr/>
        </p:nvSpPr>
        <p:spPr>
          <a:xfrm xmlns:a="http://schemas.openxmlformats.org/drawingml/2006/main">
            <a:off x="7477125" y="2981325"/>
            <a:ext cx="1905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create · consent · coordinate</a:t>
            </a:r>
          </a:p>
          <a:p xmlns:a="http://schemas.openxmlformats.org/drawingml/2006/main">
            <a:pPr algn="l">
              <a:defRPr sz="900" b="1" i="0">
                <a:solidFill>
                  <a:srgbClr val="0B1F33"/>
                </a:solidFill>
              </a:defRPr>
            </a:pPr>
            <a:r>
              <a:rPr sz="900" b="1" i="0">
                <a:solidFill>
                  <a:srgbClr val="0B1F33"/>
                </a:solidFill>
              </a:rPr>
              <a:t>outcome · brief — same gate</a:t>
            </a:r>
          </a:p>
        </p:txBody>
      </p:sp>
      <p:sp>
        <p:nvSpPr>
          <p:cNvPr id="43" name="telephony.mjs">
            <a:extLst xmlns:a="http://schemas.openxmlformats.org/drawingml/2006/main">
              <a:ext uri="{FF2B5EF4-FFF2-40B4-BE49-F238E27FC236}">
                <a16:creationId xmlns:a16="http://schemas.microsoft.com/office/drawing/2014/main" id="{BE5B5909-B795-4C45-BD3D-281A6FAABB41}"/>
              </a:ext>
            </a:extLst>
          </p:cNvPr>
          <p:cNvSpPr>
            <a:spLocks xmlns:a="http://schemas.openxmlformats.org/drawingml/2006/main" noGrp="1"/>
          </p:cNvSpPr>
          <p:nvPr/>
        </p:nvSpPr>
        <p:spPr>
          <a:xfrm xmlns:a="http://schemas.openxmlformats.org/drawingml/2006/main">
            <a:off x="7334250" y="3714750"/>
            <a:ext cx="2190750" cy="1143000"/>
          </a:xfrm>
          <a:prstGeom xmlns:a="http://schemas.openxmlformats.org/drawingml/2006/main" prst="roundRect">
            <a:avLst>
              <a:gd name="adj" fmla="val 10000"/>
            </a:avLst>
          </a:prstGeom>
          <a:solidFill xmlns:a="http://schemas.openxmlformats.org/drawingml/2006/main">
            <a:srgbClr val="3A2A12"/>
          </a:solidFill>
          <a:ln xmlns:a="http://schemas.openxmlformats.org/drawingml/2006/main" w="9525">
            <a:solidFill>
              <a:srgbClr val="3A2A1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4" name="">
            <a:extLst xmlns:a="http://schemas.openxmlformats.org/drawingml/2006/main">
              <a:ext uri="{FF2B5EF4-FFF2-40B4-BE49-F238E27FC236}">
                <a16:creationId xmlns:a16="http://schemas.microsoft.com/office/drawing/2014/main" id="{15A7D81D-BE23-4495-AF75-DFDAF2E9B57E}"/>
              </a:ext>
            </a:extLst>
          </p:cNvPr>
          <p:cNvSpPr>
            <a:spLocks xmlns:a="http://schemas.openxmlformats.org/drawingml/2006/main" noGrp="1"/>
          </p:cNvSpPr>
          <p:nvPr/>
        </p:nvSpPr>
        <p:spPr>
          <a:xfrm xmlns:a="http://schemas.openxmlformats.org/drawingml/2006/main">
            <a:off x="7477125" y="3848100"/>
            <a:ext cx="1905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E6A037"/>
                </a:solidFill>
              </a:defRPr>
            </a:pPr>
            <a:r>
              <a:rPr sz="675" b="1" i="0">
                <a:solidFill>
                  <a:srgbClr val="E6A037"/>
                </a:solidFill>
              </a:rPr>
              <a:t>TELEPHONY.MJS</a:t>
            </a:r>
          </a:p>
        </p:txBody>
      </p:sp>
      <p:sp>
        <p:nvSpPr>
          <p:cNvPr id="45" name="">
            <a:extLst xmlns:a="http://schemas.openxmlformats.org/drawingml/2006/main">
              <a:ext uri="{FF2B5EF4-FFF2-40B4-BE49-F238E27FC236}">
                <a16:creationId xmlns:a16="http://schemas.microsoft.com/office/drawing/2014/main" id="{F4B1799E-B9A0-4309-B19F-31E96FBD634E}"/>
              </a:ext>
            </a:extLst>
          </p:cNvPr>
          <p:cNvSpPr>
            <a:spLocks xmlns:a="http://schemas.openxmlformats.org/drawingml/2006/main" noGrp="1"/>
          </p:cNvSpPr>
          <p:nvPr/>
        </p:nvSpPr>
        <p:spPr>
          <a:xfrm xmlns:a="http://schemas.openxmlformats.org/drawingml/2006/main">
            <a:off x="7477125" y="407670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sandbox adapter by default</a:t>
            </a:r>
          </a:p>
          <a:p xmlns:a="http://schemas.openxmlformats.org/drawingml/2006/main">
            <a:pPr algn="l">
              <a:defRPr sz="900" b="1" i="0">
                <a:solidFill>
                  <a:srgbClr val="0B1F33"/>
                </a:solidFill>
              </a:defRPr>
            </a:pPr>
            <a:r>
              <a:rPr sz="900" b="1" i="0">
                <a:solidFill>
                  <a:srgbClr val="0B1F33"/>
                </a:solidFill>
              </a:rPr>
              <a:t>live fails closed without</a:t>
            </a:r>
          </a:p>
          <a:p xmlns:a="http://schemas.openxmlformats.org/drawingml/2006/main">
            <a:pPr algn="l">
              <a:defRPr sz="900" b="1" i="0">
                <a:solidFill>
                  <a:srgbClr val="0B1F33"/>
                </a:solidFill>
              </a:defRPr>
            </a:pPr>
            <a:r>
              <a:rPr sz="900" b="1" i="0">
                <a:solidFill>
                  <a:srgbClr val="0B1F33"/>
                </a:solidFill>
              </a:rPr>
              <a:t>OTP allowlist + provider id</a:t>
            </a:r>
          </a:p>
        </p:txBody>
      </p:sp>
      <p:sp>
        <p:nvSpPr>
          <p:cNvPr id="46" name="Pharmacy">
            <a:extLst xmlns:a="http://schemas.openxmlformats.org/drawingml/2006/main">
              <a:ext uri="{FF2B5EF4-FFF2-40B4-BE49-F238E27FC236}">
                <a16:creationId xmlns:a16="http://schemas.microsoft.com/office/drawing/2014/main" id="{7466620B-614F-4144-8C68-6EEEDB0F895F}"/>
              </a:ext>
            </a:extLst>
          </p:cNvPr>
          <p:cNvSpPr>
            <a:spLocks xmlns:a="http://schemas.openxmlformats.org/drawingml/2006/main" noGrp="1"/>
          </p:cNvSpPr>
          <p:nvPr/>
        </p:nvSpPr>
        <p:spPr>
          <a:xfrm xmlns:a="http://schemas.openxmlformats.org/drawingml/2006/main">
            <a:off x="9810750" y="1524000"/>
            <a:ext cx="2000250" cy="857250"/>
          </a:xfrm>
          <a:prstGeom xmlns:a="http://schemas.openxmlformats.org/drawingml/2006/main" prst="roundRect">
            <a:avLst>
              <a:gd name="adj" fmla="val 13333"/>
            </a:avLst>
          </a:prstGeom>
          <a:solidFill xmlns:a="http://schemas.openxmlformats.org/drawingml/2006/main">
            <a:srgbClr val="3A2A12"/>
          </a:solidFill>
          <a:ln xmlns:a="http://schemas.openxmlformats.org/drawingml/2006/main" w="9525">
            <a:solidFill>
              <a:srgbClr val="3A2A1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7" name="">
            <a:extLst xmlns:a="http://schemas.openxmlformats.org/drawingml/2006/main">
              <a:ext uri="{FF2B5EF4-FFF2-40B4-BE49-F238E27FC236}">
                <a16:creationId xmlns:a16="http://schemas.microsoft.com/office/drawing/2014/main" id="{5DB6AE27-B6D9-4EDB-B71B-1E2BC5EFF177}"/>
              </a:ext>
            </a:extLst>
          </p:cNvPr>
          <p:cNvSpPr>
            <a:spLocks xmlns:a="http://schemas.openxmlformats.org/drawingml/2006/main" noGrp="1"/>
          </p:cNvSpPr>
          <p:nvPr/>
        </p:nvSpPr>
        <p:spPr>
          <a:xfrm xmlns:a="http://schemas.openxmlformats.org/drawingml/2006/main">
            <a:off x="9953625" y="1657350"/>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E6A037"/>
                </a:solidFill>
              </a:defRPr>
            </a:pPr>
            <a:r>
              <a:rPr sz="675" b="1" i="0">
                <a:solidFill>
                  <a:srgbClr val="E6A037"/>
                </a:solidFill>
              </a:rPr>
              <a:t>PHARMACY</a:t>
            </a:r>
          </a:p>
        </p:txBody>
      </p:sp>
      <p:sp>
        <p:nvSpPr>
          <p:cNvPr id="48" name="">
            <a:extLst xmlns:a="http://schemas.openxmlformats.org/drawingml/2006/main">
              <a:ext uri="{FF2B5EF4-FFF2-40B4-BE49-F238E27FC236}">
                <a16:creationId xmlns:a16="http://schemas.microsoft.com/office/drawing/2014/main" id="{A518866C-52FC-41B5-A509-707FD0BDD6F7}"/>
              </a:ext>
            </a:extLst>
          </p:cNvPr>
          <p:cNvSpPr>
            <a:spLocks xmlns:a="http://schemas.openxmlformats.org/drawingml/2006/main" noGrp="1"/>
          </p:cNvSpPr>
          <p:nvPr/>
        </p:nvSpPr>
        <p:spPr>
          <a:xfrm xmlns:a="http://schemas.openxmlformats.org/drawingml/2006/main">
            <a:off x="9953625" y="18859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status / blocker / ready</a:t>
            </a:r>
          </a:p>
          <a:p xmlns:a="http://schemas.openxmlformats.org/drawingml/2006/main">
            <a:pPr algn="l">
              <a:defRPr sz="900" b="1" i="0">
                <a:solidFill>
                  <a:srgbClr val="0B1F33"/>
                </a:solidFill>
              </a:defRPr>
            </a:pPr>
            <a:r>
              <a:rPr sz="900" b="1" i="0">
                <a:solidFill>
                  <a:srgbClr val="0B1F33"/>
                </a:solidFill>
              </a:rPr>
              <a:t>sandbox or live action</a:t>
            </a:r>
          </a:p>
        </p:txBody>
      </p:sp>
      <p:sp>
        <p:nvSpPr>
          <p:cNvPr id="49" name="Clinic / insurer">
            <a:extLst xmlns:a="http://schemas.openxmlformats.org/drawingml/2006/main">
              <a:ext uri="{FF2B5EF4-FFF2-40B4-BE49-F238E27FC236}">
                <a16:creationId xmlns:a16="http://schemas.microsoft.com/office/drawing/2014/main" id="{1D9A1B9A-B5BC-4BD2-AA72-EFCBE56091F5}"/>
              </a:ext>
            </a:extLst>
          </p:cNvPr>
          <p:cNvSpPr>
            <a:spLocks xmlns:a="http://schemas.openxmlformats.org/drawingml/2006/main" noGrp="1"/>
          </p:cNvSpPr>
          <p:nvPr/>
        </p:nvSpPr>
        <p:spPr>
          <a:xfrm xmlns:a="http://schemas.openxmlformats.org/drawingml/2006/main">
            <a:off x="9810750" y="2619375"/>
            <a:ext cx="2000250" cy="857250"/>
          </a:xfrm>
          <a:prstGeom xmlns:a="http://schemas.openxmlformats.org/drawingml/2006/main" prst="roundRect">
            <a:avLst>
              <a:gd name="adj" fmla="val 13333"/>
            </a:avLst>
          </a:prstGeom>
          <a:solidFill xmlns:a="http://schemas.openxmlformats.org/drawingml/2006/main">
            <a:srgbClr val="1B3A5C"/>
          </a:solidFill>
          <a:ln xmlns:a="http://schemas.openxmlformats.org/drawingml/2006/main" w="9525">
            <a:solidFill>
              <a:srgbClr val="1B3A5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
            <a:extLst xmlns:a="http://schemas.openxmlformats.org/drawingml/2006/main">
              <a:ext uri="{FF2B5EF4-FFF2-40B4-BE49-F238E27FC236}">
                <a16:creationId xmlns:a16="http://schemas.microsoft.com/office/drawing/2014/main" id="{03E1AE94-2605-4C6F-A496-AD9DD0E322B5}"/>
              </a:ext>
            </a:extLst>
          </p:cNvPr>
          <p:cNvSpPr>
            <a:spLocks xmlns:a="http://schemas.openxmlformats.org/drawingml/2006/main" noGrp="1"/>
          </p:cNvSpPr>
          <p:nvPr/>
        </p:nvSpPr>
        <p:spPr>
          <a:xfrm xmlns:a="http://schemas.openxmlformats.org/drawingml/2006/main">
            <a:off x="9953625" y="275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3D8DFF"/>
                </a:solidFill>
              </a:defRPr>
            </a:pPr>
            <a:r>
              <a:rPr sz="675" b="1" i="0">
                <a:solidFill>
                  <a:srgbClr val="3D8DFF"/>
                </a:solidFill>
              </a:rPr>
              <a:t>CLINIC / INSURER</a:t>
            </a:r>
          </a:p>
        </p:txBody>
      </p:sp>
      <p:sp>
        <p:nvSpPr>
          <p:cNvPr id="51" name="">
            <a:extLst xmlns:a="http://schemas.openxmlformats.org/drawingml/2006/main">
              <a:ext uri="{FF2B5EF4-FFF2-40B4-BE49-F238E27FC236}">
                <a16:creationId xmlns:a16="http://schemas.microsoft.com/office/drawing/2014/main" id="{990A26F8-C39D-4C00-A5D2-9BD471F8B990}"/>
              </a:ext>
            </a:extLst>
          </p:cNvPr>
          <p:cNvSpPr>
            <a:spLocks xmlns:a="http://schemas.openxmlformats.org/drawingml/2006/main" noGrp="1"/>
          </p:cNvSpPr>
          <p:nvPr/>
        </p:nvSpPr>
        <p:spPr>
          <a:xfrm xmlns:a="http://schemas.openxmlformats.org/drawingml/2006/main">
            <a:off x="9953625" y="29813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PA / follow-up recorded</a:t>
            </a:r>
          </a:p>
          <a:p xmlns:a="http://schemas.openxmlformats.org/drawingml/2006/main">
            <a:pPr algn="l">
              <a:defRPr sz="900" b="1" i="0">
                <a:solidFill>
                  <a:srgbClr val="0B1F33"/>
                </a:solidFill>
              </a:defRPr>
            </a:pPr>
            <a:r>
              <a:rPr sz="900" b="1" i="0">
                <a:solidFill>
                  <a:srgbClr val="0B1F33"/>
                </a:solidFill>
              </a:rPr>
              <a:t>as counterpart outcome</a:t>
            </a:r>
          </a:p>
        </p:txBody>
      </p:sp>
      <p:sp>
        <p:nvSpPr>
          <p:cNvPr id="52" name="Patient SMS">
            <a:extLst xmlns:a="http://schemas.openxmlformats.org/drawingml/2006/main">
              <a:ext uri="{FF2B5EF4-FFF2-40B4-BE49-F238E27FC236}">
                <a16:creationId xmlns:a16="http://schemas.microsoft.com/office/drawing/2014/main" id="{5A34E32B-FCE4-4779-9796-7F41BFFD3482}"/>
              </a:ext>
            </a:extLst>
          </p:cNvPr>
          <p:cNvSpPr>
            <a:spLocks xmlns:a="http://schemas.openxmlformats.org/drawingml/2006/main" noGrp="1"/>
          </p:cNvSpPr>
          <p:nvPr/>
        </p:nvSpPr>
        <p:spPr>
          <a:xfrm xmlns:a="http://schemas.openxmlformats.org/drawingml/2006/main">
            <a:off x="9810750" y="3714750"/>
            <a:ext cx="2000250" cy="857250"/>
          </a:xfrm>
          <a:prstGeom xmlns:a="http://schemas.openxmlformats.org/drawingml/2006/main" prst="roundRect">
            <a:avLst>
              <a:gd name="adj" fmla="val 13333"/>
            </a:avLst>
          </a:prstGeom>
          <a:solidFill xmlns:a="http://schemas.openxmlformats.org/drawingml/2006/main">
            <a:srgbClr val="0E4A44"/>
          </a:solidFill>
          <a:ln xmlns:a="http://schemas.openxmlformats.org/drawingml/2006/main" w="9525">
            <a:solidFill>
              <a:srgbClr val="0E4A4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54B50ED9-1E45-46FB-AF29-23234F30BCAB}"/>
              </a:ext>
            </a:extLst>
          </p:cNvPr>
          <p:cNvSpPr>
            <a:spLocks xmlns:a="http://schemas.openxmlformats.org/drawingml/2006/main" noGrp="1"/>
          </p:cNvSpPr>
          <p:nvPr/>
        </p:nvSpPr>
        <p:spPr>
          <a:xfrm xmlns:a="http://schemas.openxmlformats.org/drawingml/2006/main">
            <a:off x="9953625" y="3848100"/>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7CE7D5"/>
                </a:solidFill>
              </a:defRPr>
            </a:pPr>
            <a:r>
              <a:rPr sz="675" b="1" i="0">
                <a:solidFill>
                  <a:srgbClr val="7CE7D5"/>
                </a:solidFill>
              </a:rPr>
              <a:t>PATIENT SMS</a:t>
            </a:r>
          </a:p>
        </p:txBody>
      </p:sp>
      <p:sp>
        <p:nvSpPr>
          <p:cNvPr id="54" name="">
            <a:extLst xmlns:a="http://schemas.openxmlformats.org/drawingml/2006/main">
              <a:ext uri="{FF2B5EF4-FFF2-40B4-BE49-F238E27FC236}">
                <a16:creationId xmlns:a16="http://schemas.microsoft.com/office/drawing/2014/main" id="{DFD5F827-A0A2-4649-B747-20AEBB75F633}"/>
              </a:ext>
            </a:extLst>
          </p:cNvPr>
          <p:cNvSpPr>
            <a:spLocks xmlns:a="http://schemas.openxmlformats.org/drawingml/2006/main" noGrp="1"/>
          </p:cNvSpPr>
          <p:nvPr/>
        </p:nvSpPr>
        <p:spPr>
          <a:xfrm xmlns:a="http://schemas.openxmlformats.org/drawingml/2006/main">
            <a:off x="9953625" y="40767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only after proof path</a:t>
            </a:r>
          </a:p>
          <a:p xmlns:a="http://schemas.openxmlformats.org/drawingml/2006/main">
            <a:pPr algn="l">
              <a:defRPr sz="900" b="1" i="0">
                <a:solidFill>
                  <a:srgbClr val="0B1F33"/>
                </a:solidFill>
              </a:defRPr>
            </a:pPr>
            <a:r>
              <a:rPr sz="900" b="1" i="0">
                <a:solidFill>
                  <a:srgbClr val="0B1F33"/>
                </a:solidFill>
              </a:rPr>
              <a:t>OTP-verified recipient</a:t>
            </a:r>
          </a:p>
        </p:txBody>
      </p:sp>
      <p:sp>
        <p:nvSpPr>
          <p:cNvPr id="55" name="Human owner">
            <a:extLst xmlns:a="http://schemas.openxmlformats.org/drawingml/2006/main">
              <a:ext uri="{FF2B5EF4-FFF2-40B4-BE49-F238E27FC236}">
                <a16:creationId xmlns:a16="http://schemas.microsoft.com/office/drawing/2014/main" id="{E31CE74C-6FE5-40FF-96C1-0F1B5DED4D5E}"/>
              </a:ext>
            </a:extLst>
          </p:cNvPr>
          <p:cNvSpPr>
            <a:spLocks xmlns:a="http://schemas.openxmlformats.org/drawingml/2006/main" noGrp="1"/>
          </p:cNvSpPr>
          <p:nvPr/>
        </p:nvSpPr>
        <p:spPr>
          <a:xfrm xmlns:a="http://schemas.openxmlformats.org/drawingml/2006/main">
            <a:off x="9810750" y="4810125"/>
            <a:ext cx="2000250" cy="742950"/>
          </a:xfrm>
          <a:prstGeom xmlns:a="http://schemas.openxmlformats.org/drawingml/2006/main" prst="roundRect">
            <a:avLst>
              <a:gd name="adj" fmla="val 15385"/>
            </a:avLst>
          </a:prstGeom>
          <a:solidFill xmlns:a="http://schemas.openxmlformats.org/drawingml/2006/main">
            <a:srgbClr val="3A1F24"/>
          </a:solidFill>
          <a:ln xmlns:a="http://schemas.openxmlformats.org/drawingml/2006/main" w="9525">
            <a:solidFill>
              <a:srgbClr val="3A1F2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6" name="">
            <a:extLst xmlns:a="http://schemas.openxmlformats.org/drawingml/2006/main">
              <a:ext uri="{FF2B5EF4-FFF2-40B4-BE49-F238E27FC236}">
                <a16:creationId xmlns:a16="http://schemas.microsoft.com/office/drawing/2014/main" id="{9B3AB308-96A0-490E-A3E9-60D5C15E7160}"/>
              </a:ext>
            </a:extLst>
          </p:cNvPr>
          <p:cNvSpPr>
            <a:spLocks xmlns:a="http://schemas.openxmlformats.org/drawingml/2006/main" noGrp="1"/>
          </p:cNvSpPr>
          <p:nvPr/>
        </p:nvSpPr>
        <p:spPr>
          <a:xfrm xmlns:a="http://schemas.openxmlformats.org/drawingml/2006/main">
            <a:off x="9953625" y="494347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1" i="0">
                <a:solidFill>
                  <a:srgbClr val="F0A0A0"/>
                </a:solidFill>
              </a:defRPr>
            </a:pPr>
            <a:r>
              <a:rPr sz="675" b="1" i="0">
                <a:solidFill>
                  <a:srgbClr val="F0A0A0"/>
                </a:solidFill>
              </a:rPr>
              <a:t>HUMAN OWNER</a:t>
            </a:r>
          </a:p>
        </p:txBody>
      </p:sp>
      <p:sp>
        <p:nvSpPr>
          <p:cNvPr id="57" name="">
            <a:extLst xmlns:a="http://schemas.openxmlformats.org/drawingml/2006/main">
              <a:ext uri="{FF2B5EF4-FFF2-40B4-BE49-F238E27FC236}">
                <a16:creationId xmlns:a16="http://schemas.microsoft.com/office/drawing/2014/main" id="{B5535E3F-5A96-481B-9C4B-CC5A9785EEFC}"/>
              </a:ext>
            </a:extLst>
          </p:cNvPr>
          <p:cNvSpPr>
            <a:spLocks xmlns:a="http://schemas.openxmlformats.org/drawingml/2006/main" noGrp="1"/>
          </p:cNvSpPr>
          <p:nvPr/>
        </p:nvSpPr>
        <p:spPr>
          <a:xfrm xmlns:a="http://schemas.openxmlformats.org/drawingml/2006/main">
            <a:off x="9953625" y="51720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B1F33"/>
                </a:solidFill>
              </a:defRPr>
            </a:pPr>
            <a:r>
              <a:rPr sz="900" b="1" i="0">
                <a:solidFill>
                  <a:srgbClr val="0B1F33"/>
                </a:solidFill>
              </a:rPr>
              <a:t>escalation queue</a:t>
            </a:r>
          </a:p>
          <a:p xmlns:a="http://schemas.openxmlformats.org/drawingml/2006/main">
            <a:pPr algn="l">
              <a:defRPr sz="900" b="1" i="0">
                <a:solidFill>
                  <a:srgbClr val="0B1F33"/>
                </a:solidFill>
              </a:defRPr>
            </a:pPr>
            <a:r>
              <a:rPr sz="900" b="1" i="0">
                <a:solidFill>
                  <a:srgbClr val="0B1F33"/>
                </a:solidFill>
              </a:rPr>
              <a:t>ambiguous / urgent / clinical</a:t>
            </a:r>
          </a:p>
        </p:txBody>
      </p:sp>
      <p:cxnSp>
        <p:nvCxnSpPr>
          <p:cNvPr id="133" name=""/>
          <p:cNvCxnSpPr>
            <a:stCxn xmlns:a="http://schemas.openxmlformats.org/drawingml/2006/main" id="10" idx="2"/>
            <a:endCxn xmlns:a="http://schemas.openxmlformats.org/drawingml/2006/main" id="13" idx="0"/>
          </p:cNvCxnSpPr>
          <p:nvPr/>
        </p:nvCxnSpPr>
        <p:spPr>
          <a:xfrm xmlns:a="http://schemas.openxmlformats.org/drawingml/2006/main">
            <a:off x="1333500" y="2266950"/>
            <a:ext cx="0" cy="209550"/>
          </a:xfrm>
          <a:prstGeom xmlns:a="http://schemas.openxmlformats.org/drawingml/2006/main" prst="straightConnector1">
            <a:avLst/>
          </a:prstGeom>
          <a:ln xmlns:a="http://schemas.openxmlformats.org/drawingml/2006/main" w="19050">
            <a:solidFill>
              <a:srgbClr val="7CE7D5"/>
            </a:solidFill>
            <a:prstDash val="solid"/>
            <a:headEnd type="arrow" w="sm" len="sm"/>
          </a:ln>
        </p:spPr>
      </p:cxnSp>
      <p:cxnSp>
        <p:nvCxnSpPr>
          <p:cNvPr id="134" name=""/>
          <p:cNvCxnSpPr>
            <a:stCxn xmlns:a="http://schemas.openxmlformats.org/drawingml/2006/main" id="13" idx="3"/>
            <a:endCxn xmlns:a="http://schemas.openxmlformats.org/drawingml/2006/main" id="19" idx="1"/>
          </p:cNvCxnSpPr>
          <p:nvPr/>
        </p:nvCxnSpPr>
        <p:spPr>
          <a:xfrm xmlns:a="http://schemas.openxmlformats.org/drawingml/2006/main" flipV="1">
            <a:off x="2286000" y="2047875"/>
            <a:ext cx="285750" cy="800100"/>
          </a:xfrm>
          <a:prstGeom xmlns:a="http://schemas.openxmlformats.org/drawingml/2006/main" prst="bentConnector3">
            <a:avLst>
              <a:gd name="adj1" fmla="val 50000"/>
            </a:avLst>
          </a:prstGeom>
          <a:ln xmlns:a="http://schemas.openxmlformats.org/drawingml/2006/main" w="19050">
            <a:solidFill>
              <a:srgbClr val="7CE7D5"/>
            </a:solidFill>
            <a:prstDash val="solid"/>
            <a:headEnd type="arrow" w="sm" len="sm"/>
          </a:ln>
        </p:spPr>
      </p:cxnSp>
      <p:cxnSp>
        <p:nvCxnSpPr>
          <p:cNvPr id="135" name=""/>
          <p:cNvCxnSpPr>
            <a:stCxn xmlns:a="http://schemas.openxmlformats.org/drawingml/2006/main" id="16" idx="0"/>
            <a:endCxn xmlns:a="http://schemas.openxmlformats.org/drawingml/2006/main" id="13" idx="2"/>
          </p:cNvCxnSpPr>
          <p:nvPr/>
        </p:nvCxnSpPr>
        <p:spPr>
          <a:xfrm xmlns:a="http://schemas.openxmlformats.org/drawingml/2006/main" flipV="1">
            <a:off x="1333500" y="3219450"/>
            <a:ext cx="0" cy="209550"/>
          </a:xfrm>
          <a:prstGeom xmlns:a="http://schemas.openxmlformats.org/drawingml/2006/main" prst="straightConnector1">
            <a:avLst/>
          </a:prstGeom>
          <a:ln xmlns:a="http://schemas.openxmlformats.org/drawingml/2006/main" w="19050">
            <a:solidFill>
              <a:srgbClr val="5F6D80"/>
            </a:solidFill>
            <a:prstDash val="solid"/>
            <a:headEnd type="arrow" w="sm" len="sm"/>
          </a:ln>
        </p:spPr>
      </p:cxnSp>
      <p:cxnSp>
        <p:nvCxnSpPr>
          <p:cNvPr id="136" name=""/>
          <p:cNvCxnSpPr>
            <a:stCxn xmlns:a="http://schemas.openxmlformats.org/drawingml/2006/main" id="19" idx="2"/>
            <a:endCxn xmlns:a="http://schemas.openxmlformats.org/drawingml/2006/main" id="22" idx="0"/>
          </p:cNvCxnSpPr>
          <p:nvPr/>
        </p:nvCxnSpPr>
        <p:spPr>
          <a:xfrm xmlns:a="http://schemas.openxmlformats.org/drawingml/2006/main">
            <a:off x="3571875" y="2571750"/>
            <a:ext cx="0" cy="238125"/>
          </a:xfrm>
          <a:prstGeom xmlns:a="http://schemas.openxmlformats.org/drawingml/2006/main" prst="straightConnector1">
            <a:avLst/>
          </a:prstGeom>
          <a:ln xmlns:a="http://schemas.openxmlformats.org/drawingml/2006/main" w="19050">
            <a:solidFill>
              <a:srgbClr val="F0A0A0"/>
            </a:solidFill>
            <a:prstDash val="solid"/>
            <a:headEnd type="arrow" w="sm" len="sm"/>
          </a:ln>
        </p:spPr>
      </p:cxnSp>
      <p:cxnSp>
        <p:nvCxnSpPr>
          <p:cNvPr id="137" name=""/>
          <p:cNvCxnSpPr>
            <a:stCxn xmlns:a="http://schemas.openxmlformats.org/drawingml/2006/main" id="19" idx="3"/>
            <a:endCxn xmlns:a="http://schemas.openxmlformats.org/drawingml/2006/main" id="28" idx="1"/>
          </p:cNvCxnSpPr>
          <p:nvPr/>
        </p:nvCxnSpPr>
        <p:spPr>
          <a:xfrm xmlns:a="http://schemas.openxmlformats.org/drawingml/2006/main" flipV="1">
            <a:off x="4572000" y="2000250"/>
            <a:ext cx="285750" cy="47625"/>
          </a:xfrm>
          <a:prstGeom xmlns:a="http://schemas.openxmlformats.org/drawingml/2006/main" prst="bentConnector3">
            <a:avLst>
              <a:gd name="adj1" fmla="val 50000"/>
            </a:avLst>
          </a:prstGeom>
          <a:ln xmlns:a="http://schemas.openxmlformats.org/drawingml/2006/main" w="19050">
            <a:solidFill>
              <a:srgbClr val="7CE7D5"/>
            </a:solidFill>
            <a:prstDash val="solid"/>
            <a:headEnd type="arrow" w="sm" len="sm"/>
          </a:ln>
        </p:spPr>
      </p:cxnSp>
      <p:cxnSp>
        <p:nvCxnSpPr>
          <p:cNvPr id="138" name=""/>
          <p:cNvCxnSpPr>
            <a:stCxn xmlns:a="http://schemas.openxmlformats.org/drawingml/2006/main" id="22" idx="2"/>
            <a:endCxn xmlns:a="http://schemas.openxmlformats.org/drawingml/2006/main" id="25" idx="0"/>
          </p:cNvCxnSpPr>
          <p:nvPr/>
        </p:nvCxnSpPr>
        <p:spPr>
          <a:xfrm xmlns:a="http://schemas.openxmlformats.org/drawingml/2006/main">
            <a:off x="3571875" y="3714750"/>
            <a:ext cx="0" cy="238125"/>
          </a:xfrm>
          <a:prstGeom xmlns:a="http://schemas.openxmlformats.org/drawingml/2006/main" prst="straightConnector1">
            <a:avLst/>
          </a:prstGeom>
          <a:ln xmlns:a="http://schemas.openxmlformats.org/drawingml/2006/main" w="19050">
            <a:solidFill>
              <a:srgbClr val="F0A0A0"/>
            </a:solidFill>
            <a:prstDash val="solid"/>
            <a:headEnd type="arrow" w="sm" len="sm"/>
          </a:ln>
        </p:spPr>
      </p:cxnSp>
      <p:cxnSp>
        <p:nvCxnSpPr>
          <p:cNvPr id="139" name=""/>
          <p:cNvCxnSpPr>
            <a:stCxn xmlns:a="http://schemas.openxmlformats.org/drawingml/2006/main" id="28" idx="2"/>
            <a:endCxn xmlns:a="http://schemas.openxmlformats.org/drawingml/2006/main" id="31" idx="0"/>
          </p:cNvCxnSpPr>
          <p:nvPr/>
        </p:nvCxnSpPr>
        <p:spPr>
          <a:xfrm xmlns:a="http://schemas.openxmlformats.org/drawingml/2006/main">
            <a:off x="5953125" y="2476500"/>
            <a:ext cx="0" cy="209550"/>
          </a:xfrm>
          <a:prstGeom xmlns:a="http://schemas.openxmlformats.org/drawingml/2006/main" prst="straightConnector1">
            <a:avLst/>
          </a:prstGeom>
          <a:ln xmlns:a="http://schemas.openxmlformats.org/drawingml/2006/main" w="19050">
            <a:solidFill>
              <a:srgbClr val="9FB6C9"/>
            </a:solidFill>
            <a:prstDash val="solid"/>
            <a:headEnd type="arrow" w="sm" len="sm"/>
          </a:ln>
        </p:spPr>
      </p:cxnSp>
      <p:cxnSp>
        <p:nvCxnSpPr>
          <p:cNvPr id="140" name=""/>
          <p:cNvCxnSpPr>
            <a:stCxn xmlns:a="http://schemas.openxmlformats.org/drawingml/2006/main" id="31" idx="2"/>
            <a:endCxn xmlns:a="http://schemas.openxmlformats.org/drawingml/2006/main" id="34" idx="0"/>
          </p:cNvCxnSpPr>
          <p:nvPr/>
        </p:nvCxnSpPr>
        <p:spPr>
          <a:xfrm xmlns:a="http://schemas.openxmlformats.org/drawingml/2006/main">
            <a:off x="5953125" y="3543300"/>
            <a:ext cx="0" cy="190500"/>
          </a:xfrm>
          <a:prstGeom xmlns:a="http://schemas.openxmlformats.org/drawingml/2006/main" prst="straightConnector1">
            <a:avLst/>
          </a:prstGeom>
          <a:ln xmlns:a="http://schemas.openxmlformats.org/drawingml/2006/main" w="19050">
            <a:solidFill>
              <a:srgbClr val="7CE7D5"/>
            </a:solidFill>
            <a:prstDash val="solid"/>
            <a:headEnd type="arrow" w="sm" len="sm"/>
          </a:ln>
        </p:spPr>
      </p:cxnSp>
      <p:cxnSp>
        <p:nvCxnSpPr>
          <p:cNvPr id="141" name=""/>
          <p:cNvCxnSpPr>
            <a:stCxn xmlns:a="http://schemas.openxmlformats.org/drawingml/2006/main" id="34" idx="3"/>
            <a:endCxn xmlns:a="http://schemas.openxmlformats.org/drawingml/2006/main" id="37" idx="1"/>
          </p:cNvCxnSpPr>
          <p:nvPr/>
        </p:nvCxnSpPr>
        <p:spPr>
          <a:xfrm xmlns:a="http://schemas.openxmlformats.org/drawingml/2006/main" flipV="1">
            <a:off x="7048500" y="1976438"/>
            <a:ext cx="285750" cy="2319338"/>
          </a:xfrm>
          <a:prstGeom xmlns:a="http://schemas.openxmlformats.org/drawingml/2006/main" prst="bentConnector3">
            <a:avLst>
              <a:gd name="adj1" fmla="val 50000"/>
            </a:avLst>
          </a:prstGeom>
          <a:ln xmlns:a="http://schemas.openxmlformats.org/drawingml/2006/main" w="19050">
            <a:solidFill>
              <a:srgbClr val="9FB6C9"/>
            </a:solidFill>
            <a:prstDash val="solid"/>
            <a:headEnd type="arrow" w="sm" len="sm"/>
          </a:ln>
        </p:spPr>
      </p:cxnSp>
      <p:cxnSp>
        <p:nvCxnSpPr>
          <p:cNvPr id="142" name=""/>
          <p:cNvCxnSpPr>
            <a:stCxn xmlns:a="http://schemas.openxmlformats.org/drawingml/2006/main" id="34" idx="3"/>
            <a:endCxn xmlns:a="http://schemas.openxmlformats.org/drawingml/2006/main" id="40" idx="1"/>
          </p:cNvCxnSpPr>
          <p:nvPr/>
        </p:nvCxnSpPr>
        <p:spPr>
          <a:xfrm xmlns:a="http://schemas.openxmlformats.org/drawingml/2006/main" flipV="1">
            <a:off x="7048500" y="3071813"/>
            <a:ext cx="285750" cy="1223963"/>
          </a:xfrm>
          <a:prstGeom xmlns:a="http://schemas.openxmlformats.org/drawingml/2006/main" prst="bentConnector3">
            <a:avLst>
              <a:gd name="adj1" fmla="val 50000"/>
            </a:avLst>
          </a:prstGeom>
          <a:ln xmlns:a="http://schemas.openxmlformats.org/drawingml/2006/main" w="19050">
            <a:solidFill>
              <a:srgbClr val="9FB6C9"/>
            </a:solidFill>
            <a:prstDash val="solid"/>
            <a:headEnd type="arrow" w="sm" len="sm"/>
          </a:ln>
        </p:spPr>
      </p:cxnSp>
      <p:cxnSp>
        <p:nvCxnSpPr>
          <p:cNvPr id="143" name=""/>
          <p:cNvCxnSpPr>
            <a:stCxn xmlns:a="http://schemas.openxmlformats.org/drawingml/2006/main" id="34" idx="3"/>
            <a:endCxn xmlns:a="http://schemas.openxmlformats.org/drawingml/2006/main" id="43" idx="1"/>
          </p:cNvCxnSpPr>
          <p:nvPr/>
        </p:nvCxnSpPr>
        <p:spPr>
          <a:xfrm xmlns:a="http://schemas.openxmlformats.org/drawingml/2006/main" flipV="1">
            <a:off x="7048500" y="4286250"/>
            <a:ext cx="285750" cy="9525"/>
          </a:xfrm>
          <a:prstGeom xmlns:a="http://schemas.openxmlformats.org/drawingml/2006/main" prst="bentConnector3">
            <a:avLst>
              <a:gd name="adj1" fmla="val 50000"/>
            </a:avLst>
          </a:prstGeom>
          <a:ln xmlns:a="http://schemas.openxmlformats.org/drawingml/2006/main" w="19050">
            <a:solidFill>
              <a:srgbClr val="E6A037"/>
            </a:solidFill>
            <a:prstDash val="solid"/>
            <a:headEnd type="arrow" w="sm" len="sm"/>
          </a:ln>
        </p:spPr>
      </p:cxnSp>
      <p:cxnSp>
        <p:nvCxnSpPr>
          <p:cNvPr id="144" name=""/>
          <p:cNvCxnSpPr>
            <a:stCxn xmlns:a="http://schemas.openxmlformats.org/drawingml/2006/main" id="43" idx="3"/>
            <a:endCxn xmlns:a="http://schemas.openxmlformats.org/drawingml/2006/main" id="46" idx="1"/>
          </p:cNvCxnSpPr>
          <p:nvPr/>
        </p:nvCxnSpPr>
        <p:spPr>
          <a:xfrm xmlns:a="http://schemas.openxmlformats.org/drawingml/2006/main" flipV="1">
            <a:off x="9525000" y="1952625"/>
            <a:ext cx="285750" cy="2333625"/>
          </a:xfrm>
          <a:prstGeom xmlns:a="http://schemas.openxmlformats.org/drawingml/2006/main" prst="bentConnector3">
            <a:avLst>
              <a:gd name="adj1" fmla="val 50000"/>
            </a:avLst>
          </a:prstGeom>
          <a:ln xmlns:a="http://schemas.openxmlformats.org/drawingml/2006/main" w="19050">
            <a:solidFill>
              <a:srgbClr val="E6A037"/>
            </a:solidFill>
            <a:prstDash val="solid"/>
            <a:headEnd type="arrow" w="sm" len="sm"/>
          </a:ln>
        </p:spPr>
      </p:cxnSp>
      <p:cxnSp>
        <p:nvCxnSpPr>
          <p:cNvPr id="145" name=""/>
          <p:cNvCxnSpPr>
            <a:stCxn xmlns:a="http://schemas.openxmlformats.org/drawingml/2006/main" id="43" idx="3"/>
            <a:endCxn xmlns:a="http://schemas.openxmlformats.org/drawingml/2006/main" id="49" idx="1"/>
          </p:cNvCxnSpPr>
          <p:nvPr/>
        </p:nvCxnSpPr>
        <p:spPr>
          <a:xfrm xmlns:a="http://schemas.openxmlformats.org/drawingml/2006/main" flipV="1">
            <a:off x="9525000" y="3048000"/>
            <a:ext cx="285750" cy="1238250"/>
          </a:xfrm>
          <a:prstGeom xmlns:a="http://schemas.openxmlformats.org/drawingml/2006/main" prst="bentConnector3">
            <a:avLst>
              <a:gd name="adj1" fmla="val 50000"/>
            </a:avLst>
          </a:prstGeom>
          <a:ln xmlns:a="http://schemas.openxmlformats.org/drawingml/2006/main" w="19050">
            <a:solidFill>
              <a:srgbClr val="3D8DFF"/>
            </a:solidFill>
            <a:prstDash val="solid"/>
            <a:headEnd type="arrow" w="sm" len="sm"/>
          </a:ln>
        </p:spPr>
      </p:cxnSp>
      <p:cxnSp>
        <p:nvCxnSpPr>
          <p:cNvPr id="146" name=""/>
          <p:cNvCxnSpPr>
            <a:stCxn xmlns:a="http://schemas.openxmlformats.org/drawingml/2006/main" id="34" idx="3"/>
            <a:endCxn xmlns:a="http://schemas.openxmlformats.org/drawingml/2006/main" id="52" idx="1"/>
          </p:cNvCxnSpPr>
          <p:nvPr/>
        </p:nvCxnSpPr>
        <p:spPr>
          <a:xfrm xmlns:a="http://schemas.openxmlformats.org/drawingml/2006/main" flipV="1">
            <a:off x="7048500" y="4143375"/>
            <a:ext cx="2762250" cy="152400"/>
          </a:xfrm>
          <a:prstGeom xmlns:a="http://schemas.openxmlformats.org/drawingml/2006/main" prst="bentConnector3">
            <a:avLst>
              <a:gd name="adj1" fmla="val 50000"/>
            </a:avLst>
          </a:prstGeom>
          <a:ln xmlns:a="http://schemas.openxmlformats.org/drawingml/2006/main" w="19050">
            <a:solidFill>
              <a:srgbClr val="7CE7D5"/>
            </a:solidFill>
            <a:prstDash val="solid"/>
            <a:headEnd type="arrow" w="sm" len="sm"/>
          </a:ln>
        </p:spPr>
      </p:cxnSp>
      <p:cxnSp>
        <p:nvCxnSpPr>
          <p:cNvPr id="147" name=""/>
          <p:cNvCxnSpPr>
            <a:stCxn xmlns:a="http://schemas.openxmlformats.org/drawingml/2006/main" id="25" idx="3"/>
            <a:endCxn xmlns:a="http://schemas.openxmlformats.org/drawingml/2006/main" id="55" idx="1"/>
          </p:cNvCxnSpPr>
          <p:nvPr/>
        </p:nvCxnSpPr>
        <p:spPr>
          <a:xfrm xmlns:a="http://schemas.openxmlformats.org/drawingml/2006/main">
            <a:off x="4572000" y="4405313"/>
            <a:ext cx="5238750" cy="776288"/>
          </a:xfrm>
          <a:prstGeom xmlns:a="http://schemas.openxmlformats.org/drawingml/2006/main" prst="bentConnector3">
            <a:avLst>
              <a:gd name="adj1" fmla="val 50000"/>
            </a:avLst>
          </a:prstGeom>
          <a:ln xmlns:a="http://schemas.openxmlformats.org/drawingml/2006/main" w="19050">
            <a:solidFill>
              <a:srgbClr val="F0A0A0"/>
            </a:solidFill>
            <a:prstDash val="solid"/>
            <a:headEnd type="arrow" w="sm" len="sm"/>
          </a:ln>
        </p:spPr>
      </p:cxnSp>
      <p:sp>
        <p:nvSpPr>
          <p:cNvPr id="73" name="">
            <a:extLst xmlns:a="http://schemas.openxmlformats.org/drawingml/2006/main">
              <a:ext uri="{FF2B5EF4-FFF2-40B4-BE49-F238E27FC236}">
                <a16:creationId xmlns:a16="http://schemas.microsoft.com/office/drawing/2014/main" id="{CE61A8B2-9A2B-429E-BAA9-6F7E289D620B}"/>
              </a:ext>
            </a:extLst>
          </p:cNvPr>
          <p:cNvSpPr>
            <a:spLocks xmlns:a="http://schemas.openxmlformats.org/drawingml/2006/main" noGrp="1"/>
          </p:cNvSpPr>
          <p:nvPr/>
        </p:nvSpPr>
        <p:spPr>
          <a:xfrm xmlns:a="http://schemas.openxmlformats.org/drawingml/2006/main">
            <a:off x="457200" y="5905500"/>
            <a:ext cx="1123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D6E8F5"/>
                </a:solidFill>
              </a:defRPr>
            </a:pPr>
            <a:r>
              <a:rPr sz="975" b="1" i="0">
                <a:solidFill>
                  <a:srgbClr val="D6E8F5"/>
                </a:solidFill>
              </a:rPr>
              <a:t>Blast radius of a public URL = three TeXML routes. Proof flags are never set by model text. Live outreach requires OTP allowlist.</a:t>
            </a:r>
          </a:p>
        </p:txBody>
      </p:sp>
      <p:sp>
        <p:nvSpPr>
          <p:cNvPr id="74" name="">
            <a:extLst xmlns:a="http://schemas.openxmlformats.org/drawingml/2006/main">
              <a:ext uri="{FF2B5EF4-FFF2-40B4-BE49-F238E27FC236}">
                <a16:creationId xmlns:a16="http://schemas.microsoft.com/office/drawing/2014/main" id="{998398E7-2CF3-45A3-AB6F-0A601691AB88}"/>
              </a:ext>
            </a:extLst>
          </p:cNvPr>
          <p:cNvSpPr>
            <a:spLocks xmlns:a="http://schemas.openxmlformats.org/drawingml/2006/main" noGrp="1"/>
          </p:cNvSpPr>
          <p:nvPr/>
        </p:nvSpPr>
        <p:spPr>
          <a:xfrm xmlns:a="http://schemas.openxmlformats.org/drawingml/2006/main">
            <a:off x="457200" y="62388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8BA1B5"/>
                </a:solidFill>
              </a:defRPr>
            </a:pPr>
            <a:r>
              <a:rPr sz="825" b="0" i="0">
                <a:solidFill>
                  <a:srgbClr val="8BA1B5"/>
                </a:solidFill>
              </a:rPr>
              <a:t>github.com/vnmoorthy/rxrelay  ·  docs/ARCHITECTURE.md  ·  PAVO paper openreview.net/forum?id=zrneoIxlFx</a:t>
            </a:r>
          </a:p>
        </p:txBody>
      </p:sp>
      <p:sp>
        <p:nvSpPr>
          <p:cNvPr id="75" name="">
            <a:extLst xmlns:a="http://schemas.openxmlformats.org/drawingml/2006/main">
              <a:ext uri="{FF2B5EF4-FFF2-40B4-BE49-F238E27FC236}">
                <a16:creationId xmlns:a16="http://schemas.microsoft.com/office/drawing/2014/main" id="{17CCABDF-8CCB-4B76-8131-5745653D1F85}"/>
              </a:ext>
            </a:extLst>
          </p:cNvPr>
          <p:cNvSpPr>
            <a:spLocks xmlns:a="http://schemas.openxmlformats.org/drawingml/2006/main" noGrp="1"/>
          </p:cNvSpPr>
          <p:nvPr/>
        </p:nvSpPr>
        <p:spPr>
          <a:xfrm xmlns:a="http://schemas.openxmlformats.org/drawingml/2006/main">
            <a:off x="8572500" y="6477000"/>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BA1B5"/>
                </a:solidFill>
              </a:defRPr>
            </a:pPr>
            <a:r>
              <a:rPr sz="675" b="0" i="0">
                <a:solidFill>
                  <a:srgbClr val="8BA1B5"/>
                </a:solidFill>
              </a:rPr>
              <a:t>A1MOBILE VOICE AI HACKATHON · 2026</a:t>
            </a:r>
          </a:p>
        </p:txBody>
      </p:sp>
    </p:spTree>
    <p:extLst>
      <p:ext uri="{BB962C8B-B14F-4D97-AF65-F5344CB8AC3E}">
        <p14:creationId xmlns:p14="http://schemas.microsoft.com/office/powerpoint/2010/main" val="126420433"/>
      </p:ext>
    </p:extLst>
  </p:cSld>
</p:sld>
</file>

<file path=ppt/slides/slide9.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372F9D5-1823-454B-AE75-7351D6300A1E}"/>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TRUST BY CONSTRUCTION</a:t>
            </a:r>
          </a:p>
        </p:txBody>
      </p:sp>
      <p:sp>
        <p:nvSpPr>
          <p:cNvPr id="2" name="">
            <a:extLst xmlns:a="http://schemas.openxmlformats.org/drawingml/2006/main">
              <a:ext uri="{FF2B5EF4-FFF2-40B4-BE49-F238E27FC236}">
                <a16:creationId xmlns:a16="http://schemas.microsoft.com/office/drawing/2014/main" id="{BCDFA09F-DA03-4C56-A3C2-C18A88F9A226}"/>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D80"/>
                </a:solidFill>
              </a:defRPr>
            </a:pPr>
            <a:r>
              <a:rPr sz="750" b="1" i="0">
                <a:solidFill>
                  <a:srgbClr val="5F6D80"/>
                </a:solidFill>
              </a:rPr>
              <a:t>RXRELAY  /  09</a:t>
            </a:r>
          </a:p>
        </p:txBody>
      </p:sp>
      <p:sp>
        <p:nvSpPr>
          <p:cNvPr id="3" name="">
            <a:extLst xmlns:a="http://schemas.openxmlformats.org/drawingml/2006/main">
              <a:ext uri="{FF2B5EF4-FFF2-40B4-BE49-F238E27FC236}">
                <a16:creationId xmlns:a16="http://schemas.microsoft.com/office/drawing/2014/main" id="{2B15BB13-242E-496B-BFC6-714496B2C322}"/>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4" name="title">
            <a:extLst xmlns:a="http://schemas.openxmlformats.org/drawingml/2006/main">
              <a:ext uri="{FF2B5EF4-FFF2-40B4-BE49-F238E27FC236}">
                <a16:creationId xmlns:a16="http://schemas.microsoft.com/office/drawing/2014/main" id="{B6B8213F-A167-4780-BA33-2AC8BA9F7A72}"/>
              </a:ext>
            </a:extLst>
          </p:cNvPr>
          <p:cNvSpPr>
            <a:spLocks xmlns:a="http://schemas.openxmlformats.org/drawingml/2006/main" noGrp="1"/>
          </p:cNvSpPr>
          <p:nvPr/>
        </p:nvSpPr>
        <p:spPr>
          <a:xfrm xmlns:a="http://schemas.openxmlformats.org/drawingml/2006/main">
            <a:off x="457200" y="876300"/>
            <a:ext cx="809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525" b="1" i="0">
                <a:solidFill>
                  <a:srgbClr val="0B1F33"/>
                </a:solidFill>
              </a:defRPr>
            </a:pPr>
            <a:r>
              <a:rPr sz="3525" b="1" i="0">
                <a:solidFill>
                  <a:srgbClr val="0B1F33"/>
                </a:solidFill>
              </a:rPr>
              <a:t>The wow factor is that it knows when not to act.</a:t>
            </a:r>
          </a:p>
        </p:txBody>
      </p:sp>
      <p:sp>
        <p:nvSpPr>
          <p:cNvPr id="5" name="subtitle">
            <a:extLst xmlns:a="http://schemas.openxmlformats.org/drawingml/2006/main">
              <a:ext uri="{FF2B5EF4-FFF2-40B4-BE49-F238E27FC236}">
                <a16:creationId xmlns:a16="http://schemas.microsoft.com/office/drawing/2014/main" id="{80F24D9E-3FF7-4349-99DE-E1BB55118F40}"/>
              </a:ext>
            </a:extLst>
          </p:cNvPr>
          <p:cNvSpPr>
            <a:spLocks xmlns:a="http://schemas.openxmlformats.org/drawingml/2006/main" noGrp="1"/>
          </p:cNvSpPr>
          <p:nvPr/>
        </p:nvSpPr>
        <p:spPr>
          <a:xfrm xmlns:a="http://schemas.openxmlformats.org/drawingml/2006/main">
            <a:off x="457200" y="1866900"/>
            <a:ext cx="714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D80"/>
                </a:solidFill>
              </a:defRPr>
            </a:pPr>
            <a:r>
              <a:rPr sz="1350" b="0" i="0">
                <a:solidFill>
                  <a:srgbClr val="5F6D80"/>
                </a:solidFill>
              </a:rPr>
              <a:t>RxRelay is aggressively useful inside a narrow boundary—and visibly humble outside it.</a:t>
            </a:r>
          </a:p>
        </p:txBody>
      </p:sp>
      <p:sp>
        <p:nvSpPr>
          <p:cNvPr id="6" name="">
            <a:extLst xmlns:a="http://schemas.openxmlformats.org/drawingml/2006/main">
              <a:ext uri="{FF2B5EF4-FFF2-40B4-BE49-F238E27FC236}">
                <a16:creationId xmlns:a16="http://schemas.microsoft.com/office/drawing/2014/main" id="{BE25F887-81E1-45E1-A9EC-54996CADA6FE}"/>
              </a:ext>
            </a:extLst>
          </p:cNvPr>
          <p:cNvSpPr>
            <a:spLocks xmlns:a="http://schemas.openxmlformats.org/drawingml/2006/main" noGrp="1"/>
          </p:cNvSpPr>
          <p:nvPr/>
        </p:nvSpPr>
        <p:spPr>
          <a:xfrm xmlns:a="http://schemas.openxmlformats.org/drawingml/2006/main">
            <a:off x="457200" y="3276600"/>
            <a:ext cx="5257800" cy="2133600"/>
          </a:xfrm>
          <a:prstGeom xmlns:a="http://schemas.openxmlformats.org/drawingml/2006/main" prst="roundRect">
            <a:avLst>
              <a:gd name="adj" fmla="val 5357"/>
            </a:avLst>
          </a:prstGeom>
          <a:solidFill xmlns:a="http://schemas.openxmlformats.org/drawingml/2006/main">
            <a:srgbClr val="DCF6F0"/>
          </a:solidFill>
          <a:ln xmlns:a="http://schemas.openxmlformats.org/drawingml/2006/main" w="9525">
            <a:solidFill>
              <a:srgbClr val="DCF6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1CCE2D5-A3ED-4FC6-AC3E-DABE4B5B0662}"/>
              </a:ext>
            </a:extLst>
          </p:cNvPr>
          <p:cNvSpPr>
            <a:spLocks xmlns:a="http://schemas.openxmlformats.org/drawingml/2006/main" noGrp="1"/>
          </p:cNvSpPr>
          <p:nvPr/>
        </p:nvSpPr>
        <p:spPr>
          <a:xfrm xmlns:a="http://schemas.openxmlformats.org/drawingml/2006/main">
            <a:off x="714375" y="355282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0E9F8E"/>
                </a:solidFill>
              </a:defRPr>
            </a:pPr>
            <a:r>
              <a:rPr sz="750" b="1" i="0">
                <a:solidFill>
                  <a:srgbClr val="0E9F8E"/>
                </a:solidFill>
              </a:rPr>
              <a:t>CAN DO</a:t>
            </a:r>
          </a:p>
        </p:txBody>
      </p:sp>
      <p:sp>
        <p:nvSpPr>
          <p:cNvPr id="8" name="">
            <a:extLst xmlns:a="http://schemas.openxmlformats.org/drawingml/2006/main">
              <a:ext uri="{FF2B5EF4-FFF2-40B4-BE49-F238E27FC236}">
                <a16:creationId xmlns:a16="http://schemas.microsoft.com/office/drawing/2014/main" id="{3ADD09F0-3484-4C5D-B9E2-0FE49715CE43}"/>
              </a:ext>
            </a:extLst>
          </p:cNvPr>
          <p:cNvSpPr>
            <a:spLocks xmlns:a="http://schemas.openxmlformats.org/drawingml/2006/main" noGrp="1"/>
          </p:cNvSpPr>
          <p:nvPr/>
        </p:nvSpPr>
        <p:spPr>
          <a:xfrm xmlns:a="http://schemas.openxmlformats.org/drawingml/2006/main">
            <a:off x="733425" y="3981450"/>
            <a:ext cx="104775" cy="10477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9" name="">
            <a:extLst xmlns:a="http://schemas.openxmlformats.org/drawingml/2006/main">
              <a:ext uri="{FF2B5EF4-FFF2-40B4-BE49-F238E27FC236}">
                <a16:creationId xmlns:a16="http://schemas.microsoft.com/office/drawing/2014/main" id="{3AACFE9A-253C-46FD-9F2B-526D88DAF0F1}"/>
              </a:ext>
            </a:extLst>
          </p:cNvPr>
          <p:cNvSpPr>
            <a:spLocks xmlns:a="http://schemas.openxmlformats.org/drawingml/2006/main" noGrp="1"/>
          </p:cNvSpPr>
          <p:nvPr/>
        </p:nvSpPr>
        <p:spPr>
          <a:xfrm xmlns:a="http://schemas.openxmlformats.org/drawingml/2006/main">
            <a:off x="942975" y="39433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Record explicit coordination consent</a:t>
            </a:r>
          </a:p>
        </p:txBody>
      </p:sp>
      <p:sp>
        <p:nvSpPr>
          <p:cNvPr id="10" name="">
            <a:extLst xmlns:a="http://schemas.openxmlformats.org/drawingml/2006/main">
              <a:ext uri="{FF2B5EF4-FFF2-40B4-BE49-F238E27FC236}">
                <a16:creationId xmlns:a16="http://schemas.microsoft.com/office/drawing/2014/main" id="{C064A290-8D3A-48AB-9A78-98EE29EC7B50}"/>
              </a:ext>
            </a:extLst>
          </p:cNvPr>
          <p:cNvSpPr>
            <a:spLocks xmlns:a="http://schemas.openxmlformats.org/drawingml/2006/main" noGrp="1"/>
          </p:cNvSpPr>
          <p:nvPr/>
        </p:nvSpPr>
        <p:spPr>
          <a:xfrm xmlns:a="http://schemas.openxmlformats.org/drawingml/2006/main">
            <a:off x="733425" y="4276725"/>
            <a:ext cx="104775" cy="10477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11" name="">
            <a:extLst xmlns:a="http://schemas.openxmlformats.org/drawingml/2006/main">
              <a:ext uri="{FF2B5EF4-FFF2-40B4-BE49-F238E27FC236}">
                <a16:creationId xmlns:a16="http://schemas.microsoft.com/office/drawing/2014/main" id="{0CF541CF-D6C2-4763-B53C-94220243A235}"/>
              </a:ext>
            </a:extLst>
          </p:cNvPr>
          <p:cNvSpPr>
            <a:spLocks xmlns:a="http://schemas.openxmlformats.org/drawingml/2006/main" noGrp="1"/>
          </p:cNvSpPr>
          <p:nvPr/>
        </p:nvSpPr>
        <p:spPr>
          <a:xfrm xmlns:a="http://schemas.openxmlformats.org/drawingml/2006/main">
            <a:off x="942975" y="42386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Check a non-clinical status</a:t>
            </a:r>
          </a:p>
        </p:txBody>
      </p:sp>
      <p:sp>
        <p:nvSpPr>
          <p:cNvPr id="12" name="">
            <a:extLst xmlns:a="http://schemas.openxmlformats.org/drawingml/2006/main">
              <a:ext uri="{FF2B5EF4-FFF2-40B4-BE49-F238E27FC236}">
                <a16:creationId xmlns:a16="http://schemas.microsoft.com/office/drawing/2014/main" id="{4B82A5A7-20A9-4E3C-AB0B-C37B608EBAA0}"/>
              </a:ext>
            </a:extLst>
          </p:cNvPr>
          <p:cNvSpPr>
            <a:spLocks xmlns:a="http://schemas.openxmlformats.org/drawingml/2006/main" noGrp="1"/>
          </p:cNvSpPr>
          <p:nvPr/>
        </p:nvSpPr>
        <p:spPr>
          <a:xfrm xmlns:a="http://schemas.openxmlformats.org/drawingml/2006/main">
            <a:off x="733425" y="4572000"/>
            <a:ext cx="104775" cy="10477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13" name="">
            <a:extLst xmlns:a="http://schemas.openxmlformats.org/drawingml/2006/main">
              <a:ext uri="{FF2B5EF4-FFF2-40B4-BE49-F238E27FC236}">
                <a16:creationId xmlns:a16="http://schemas.microsoft.com/office/drawing/2014/main" id="{3C8C84A8-71ED-4534-8B7F-F2B74B32C8AC}"/>
              </a:ext>
            </a:extLst>
          </p:cNvPr>
          <p:cNvSpPr>
            <a:spLocks xmlns:a="http://schemas.openxmlformats.org/drawingml/2006/main" noGrp="1"/>
          </p:cNvSpPr>
          <p:nvPr/>
        </p:nvSpPr>
        <p:spPr>
          <a:xfrm xmlns:a="http://schemas.openxmlformats.org/drawingml/2006/main">
            <a:off x="942975" y="453390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Document counterpart outcomes</a:t>
            </a:r>
          </a:p>
        </p:txBody>
      </p:sp>
      <p:sp>
        <p:nvSpPr>
          <p:cNvPr id="14" name="">
            <a:extLst xmlns:a="http://schemas.openxmlformats.org/drawingml/2006/main">
              <a:ext uri="{FF2B5EF4-FFF2-40B4-BE49-F238E27FC236}">
                <a16:creationId xmlns:a16="http://schemas.microsoft.com/office/drawing/2014/main" id="{1E6A793A-0C9B-4BCD-88A2-3C030909A4AE}"/>
              </a:ext>
            </a:extLst>
          </p:cNvPr>
          <p:cNvSpPr>
            <a:spLocks xmlns:a="http://schemas.openxmlformats.org/drawingml/2006/main" noGrp="1"/>
          </p:cNvSpPr>
          <p:nvPr/>
        </p:nvSpPr>
        <p:spPr>
          <a:xfrm xmlns:a="http://schemas.openxmlformats.org/drawingml/2006/main">
            <a:off x="733425" y="4867275"/>
            <a:ext cx="104775" cy="104775"/>
          </a:xfrm>
          <a:prstGeom xmlns:a="http://schemas.openxmlformats.org/drawingml/2006/main" prst="ellipse">
            <a:avLst/>
          </a:prstGeom>
          <a:solidFill xmlns:a="http://schemas.openxmlformats.org/drawingml/2006/main">
            <a:srgbClr val="0E9F8E"/>
          </a:solidFill>
          <a:ln xmlns:a="http://schemas.openxmlformats.org/drawingml/2006/main" w="0">
            <a:solidFill>
              <a:srgbClr val="0E9F8E"/>
            </a:solidFill>
            <a:prstDash val="solid"/>
          </a:ln>
        </p:spPr>
      </p:sp>
      <p:sp>
        <p:nvSpPr>
          <p:cNvPr id="15" name="">
            <a:extLst xmlns:a="http://schemas.openxmlformats.org/drawingml/2006/main">
              <a:ext uri="{FF2B5EF4-FFF2-40B4-BE49-F238E27FC236}">
                <a16:creationId xmlns:a16="http://schemas.microsoft.com/office/drawing/2014/main" id="{4D6D0670-B781-43DB-838F-56DE6568A0EF}"/>
              </a:ext>
            </a:extLst>
          </p:cNvPr>
          <p:cNvSpPr>
            <a:spLocks xmlns:a="http://schemas.openxmlformats.org/drawingml/2006/main" noGrp="1"/>
          </p:cNvSpPr>
          <p:nvPr/>
        </p:nvSpPr>
        <p:spPr>
          <a:xfrm xmlns:a="http://schemas.openxmlformats.org/drawingml/2006/main">
            <a:off x="942975" y="48291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Send a consented patient update</a:t>
            </a:r>
          </a:p>
        </p:txBody>
      </p:sp>
      <p:sp>
        <p:nvSpPr>
          <p:cNvPr id="16" name="">
            <a:extLst xmlns:a="http://schemas.openxmlformats.org/drawingml/2006/main">
              <a:ext uri="{FF2B5EF4-FFF2-40B4-BE49-F238E27FC236}">
                <a16:creationId xmlns:a16="http://schemas.microsoft.com/office/drawing/2014/main" id="{3F4CBB51-3CF6-4D5F-821A-EC703153E92B}"/>
              </a:ext>
            </a:extLst>
          </p:cNvPr>
          <p:cNvSpPr>
            <a:spLocks xmlns:a="http://schemas.openxmlformats.org/drawingml/2006/main" noGrp="1"/>
          </p:cNvSpPr>
          <p:nvPr/>
        </p:nvSpPr>
        <p:spPr>
          <a:xfrm xmlns:a="http://schemas.openxmlformats.org/drawingml/2006/main">
            <a:off x="6019800" y="3276600"/>
            <a:ext cx="5715000" cy="2133600"/>
          </a:xfrm>
          <a:prstGeom xmlns:a="http://schemas.openxmlformats.org/drawingml/2006/main" prst="roundRect">
            <a:avLst>
              <a:gd name="adj" fmla="val 5357"/>
            </a:avLst>
          </a:prstGeom>
          <a:solidFill xmlns:a="http://schemas.openxmlformats.org/drawingml/2006/main">
            <a:srgbClr val="FCE6E6"/>
          </a:solidFill>
          <a:ln xmlns:a="http://schemas.openxmlformats.org/drawingml/2006/main" w="9525">
            <a:solidFill>
              <a:srgbClr val="FCE6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1AD88283-F170-4C6B-88A2-03655C46064A}"/>
              </a:ext>
            </a:extLst>
          </p:cNvPr>
          <p:cNvSpPr>
            <a:spLocks xmlns:a="http://schemas.openxmlformats.org/drawingml/2006/main" noGrp="1"/>
          </p:cNvSpPr>
          <p:nvPr/>
        </p:nvSpPr>
        <p:spPr>
          <a:xfrm xmlns:a="http://schemas.openxmlformats.org/drawingml/2006/main">
            <a:off x="6276975" y="355282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D35656"/>
                </a:solidFill>
              </a:defRPr>
            </a:pPr>
            <a:r>
              <a:rPr sz="750" b="1" i="0">
                <a:solidFill>
                  <a:srgbClr val="D35656"/>
                </a:solidFill>
              </a:rPr>
              <a:t>WILL NOT DO</a:t>
            </a:r>
          </a:p>
        </p:txBody>
      </p:sp>
      <p:sp>
        <p:nvSpPr>
          <p:cNvPr id="18" name="">
            <a:extLst xmlns:a="http://schemas.openxmlformats.org/drawingml/2006/main">
              <a:ext uri="{FF2B5EF4-FFF2-40B4-BE49-F238E27FC236}">
                <a16:creationId xmlns:a16="http://schemas.microsoft.com/office/drawing/2014/main" id="{0D38900C-03F7-42CB-AA68-318BC3BC6819}"/>
              </a:ext>
            </a:extLst>
          </p:cNvPr>
          <p:cNvSpPr>
            <a:spLocks xmlns:a="http://schemas.openxmlformats.org/drawingml/2006/main" noGrp="1"/>
          </p:cNvSpPr>
          <p:nvPr/>
        </p:nvSpPr>
        <p:spPr>
          <a:xfrm xmlns:a="http://schemas.openxmlformats.org/drawingml/2006/main">
            <a:off x="6286500" y="3981450"/>
            <a:ext cx="104775" cy="104775"/>
          </a:xfrm>
          <a:prstGeom xmlns:a="http://schemas.openxmlformats.org/drawingml/2006/main" prst="ellipse">
            <a:avLst/>
          </a:prstGeom>
          <a:solidFill xmlns:a="http://schemas.openxmlformats.org/drawingml/2006/main">
            <a:srgbClr val="D35656"/>
          </a:solidFill>
          <a:ln xmlns:a="http://schemas.openxmlformats.org/drawingml/2006/main" w="0">
            <a:solidFill>
              <a:srgbClr val="D35656"/>
            </a:solidFill>
            <a:prstDash val="solid"/>
          </a:ln>
        </p:spPr>
      </p:sp>
      <p:sp>
        <p:nvSpPr>
          <p:cNvPr id="19" name="">
            <a:extLst xmlns:a="http://schemas.openxmlformats.org/drawingml/2006/main">
              <a:ext uri="{FF2B5EF4-FFF2-40B4-BE49-F238E27FC236}">
                <a16:creationId xmlns:a16="http://schemas.microsoft.com/office/drawing/2014/main" id="{1FC58675-9995-492B-9084-267E350247B5}"/>
              </a:ext>
            </a:extLst>
          </p:cNvPr>
          <p:cNvSpPr>
            <a:spLocks xmlns:a="http://schemas.openxmlformats.org/drawingml/2006/main" noGrp="1"/>
          </p:cNvSpPr>
          <p:nvPr/>
        </p:nvSpPr>
        <p:spPr>
          <a:xfrm xmlns:a="http://schemas.openxmlformats.org/drawingml/2006/main">
            <a:off x="6296025" y="3952875"/>
            <a:ext cx="857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defRPr>
            </a:pPr>
            <a:r>
              <a:rPr sz="750" b="1" i="0">
                <a:solidFill>
                  <a:srgbClr val="FFFFFF"/>
                </a:solidFill>
              </a:rPr>
              <a:t>×</a:t>
            </a:r>
          </a:p>
        </p:txBody>
      </p:sp>
      <p:sp>
        <p:nvSpPr>
          <p:cNvPr id="20" name="">
            <a:extLst xmlns:a="http://schemas.openxmlformats.org/drawingml/2006/main">
              <a:ext uri="{FF2B5EF4-FFF2-40B4-BE49-F238E27FC236}">
                <a16:creationId xmlns:a16="http://schemas.microsoft.com/office/drawing/2014/main" id="{2FE3EF8A-4337-4C57-AC97-EB2D020F48F9}"/>
              </a:ext>
            </a:extLst>
          </p:cNvPr>
          <p:cNvSpPr>
            <a:spLocks xmlns:a="http://schemas.openxmlformats.org/drawingml/2006/main" noGrp="1"/>
          </p:cNvSpPr>
          <p:nvPr/>
        </p:nvSpPr>
        <p:spPr>
          <a:xfrm xmlns:a="http://schemas.openxmlformats.org/drawingml/2006/main">
            <a:off x="6496050" y="3943350"/>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Give clinical advice or dosing guidance</a:t>
            </a:r>
          </a:p>
        </p:txBody>
      </p:sp>
      <p:sp>
        <p:nvSpPr>
          <p:cNvPr id="21" name="">
            <a:extLst xmlns:a="http://schemas.openxmlformats.org/drawingml/2006/main">
              <a:ext uri="{FF2B5EF4-FFF2-40B4-BE49-F238E27FC236}">
                <a16:creationId xmlns:a16="http://schemas.microsoft.com/office/drawing/2014/main" id="{F605C82C-842E-4F2E-9DA0-9564A16936AD}"/>
              </a:ext>
            </a:extLst>
          </p:cNvPr>
          <p:cNvSpPr>
            <a:spLocks xmlns:a="http://schemas.openxmlformats.org/drawingml/2006/main" noGrp="1"/>
          </p:cNvSpPr>
          <p:nvPr/>
        </p:nvSpPr>
        <p:spPr>
          <a:xfrm xmlns:a="http://schemas.openxmlformats.org/drawingml/2006/main">
            <a:off x="6286500" y="4276725"/>
            <a:ext cx="104775" cy="104775"/>
          </a:xfrm>
          <a:prstGeom xmlns:a="http://schemas.openxmlformats.org/drawingml/2006/main" prst="ellipse">
            <a:avLst/>
          </a:prstGeom>
          <a:solidFill xmlns:a="http://schemas.openxmlformats.org/drawingml/2006/main">
            <a:srgbClr val="D35656"/>
          </a:solidFill>
          <a:ln xmlns:a="http://schemas.openxmlformats.org/drawingml/2006/main" w="0">
            <a:solidFill>
              <a:srgbClr val="D35656"/>
            </a:solidFill>
            <a:prstDash val="solid"/>
          </a:ln>
        </p:spPr>
      </p:sp>
      <p:sp>
        <p:nvSpPr>
          <p:cNvPr id="22" name="">
            <a:extLst xmlns:a="http://schemas.openxmlformats.org/drawingml/2006/main">
              <a:ext uri="{FF2B5EF4-FFF2-40B4-BE49-F238E27FC236}">
                <a16:creationId xmlns:a16="http://schemas.microsoft.com/office/drawing/2014/main" id="{1FD9DEA3-CC19-422E-A618-9B5828A474EB}"/>
              </a:ext>
            </a:extLst>
          </p:cNvPr>
          <p:cNvSpPr>
            <a:spLocks xmlns:a="http://schemas.openxmlformats.org/drawingml/2006/main" noGrp="1"/>
          </p:cNvSpPr>
          <p:nvPr/>
        </p:nvSpPr>
        <p:spPr>
          <a:xfrm xmlns:a="http://schemas.openxmlformats.org/drawingml/2006/main">
            <a:off x="6296025" y="4248150"/>
            <a:ext cx="857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defRPr>
            </a:pPr>
            <a:r>
              <a:rPr sz="750" b="1" i="0">
                <a:solidFill>
                  <a:srgbClr val="FFFFFF"/>
                </a:solidFill>
              </a:rPr>
              <a:t>×</a:t>
            </a:r>
          </a:p>
        </p:txBody>
      </p:sp>
      <p:sp>
        <p:nvSpPr>
          <p:cNvPr id="23" name="">
            <a:extLst xmlns:a="http://schemas.openxmlformats.org/drawingml/2006/main">
              <a:ext uri="{FF2B5EF4-FFF2-40B4-BE49-F238E27FC236}">
                <a16:creationId xmlns:a16="http://schemas.microsoft.com/office/drawing/2014/main" id="{E8817C1D-5C1A-4690-B9A8-DCE9BA755FEE}"/>
              </a:ext>
            </a:extLst>
          </p:cNvPr>
          <p:cNvSpPr>
            <a:spLocks xmlns:a="http://schemas.openxmlformats.org/drawingml/2006/main" noGrp="1"/>
          </p:cNvSpPr>
          <p:nvPr/>
        </p:nvSpPr>
        <p:spPr>
          <a:xfrm xmlns:a="http://schemas.openxmlformats.org/drawingml/2006/main">
            <a:off x="6496050" y="423862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Change / transfer a prescription</a:t>
            </a:r>
          </a:p>
        </p:txBody>
      </p:sp>
      <p:sp>
        <p:nvSpPr>
          <p:cNvPr id="24" name="">
            <a:extLst xmlns:a="http://schemas.openxmlformats.org/drawingml/2006/main">
              <a:ext uri="{FF2B5EF4-FFF2-40B4-BE49-F238E27FC236}">
                <a16:creationId xmlns:a16="http://schemas.microsoft.com/office/drawing/2014/main" id="{F02E8378-F7D2-4853-871A-1C88038F01DA}"/>
              </a:ext>
            </a:extLst>
          </p:cNvPr>
          <p:cNvSpPr>
            <a:spLocks xmlns:a="http://schemas.openxmlformats.org/drawingml/2006/main" noGrp="1"/>
          </p:cNvSpPr>
          <p:nvPr/>
        </p:nvSpPr>
        <p:spPr>
          <a:xfrm xmlns:a="http://schemas.openxmlformats.org/drawingml/2006/main">
            <a:off x="6286500" y="4572000"/>
            <a:ext cx="104775" cy="104775"/>
          </a:xfrm>
          <a:prstGeom xmlns:a="http://schemas.openxmlformats.org/drawingml/2006/main" prst="ellipse">
            <a:avLst/>
          </a:prstGeom>
          <a:solidFill xmlns:a="http://schemas.openxmlformats.org/drawingml/2006/main">
            <a:srgbClr val="D35656"/>
          </a:solidFill>
          <a:ln xmlns:a="http://schemas.openxmlformats.org/drawingml/2006/main" w="0">
            <a:solidFill>
              <a:srgbClr val="D35656"/>
            </a:solidFill>
            <a:prstDash val="solid"/>
          </a:ln>
        </p:spPr>
      </p:sp>
      <p:sp>
        <p:nvSpPr>
          <p:cNvPr id="25" name="">
            <a:extLst xmlns:a="http://schemas.openxmlformats.org/drawingml/2006/main">
              <a:ext uri="{FF2B5EF4-FFF2-40B4-BE49-F238E27FC236}">
                <a16:creationId xmlns:a16="http://schemas.microsoft.com/office/drawing/2014/main" id="{D870C281-198B-4502-BBE4-FC8A5385AE1A}"/>
              </a:ext>
            </a:extLst>
          </p:cNvPr>
          <p:cNvSpPr>
            <a:spLocks xmlns:a="http://schemas.openxmlformats.org/drawingml/2006/main" noGrp="1"/>
          </p:cNvSpPr>
          <p:nvPr/>
        </p:nvSpPr>
        <p:spPr>
          <a:xfrm xmlns:a="http://schemas.openxmlformats.org/drawingml/2006/main">
            <a:off x="6296025" y="4543425"/>
            <a:ext cx="857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defRPr>
            </a:pPr>
            <a:r>
              <a:rPr sz="750" b="1" i="0">
                <a:solidFill>
                  <a:srgbClr val="FFFFFF"/>
                </a:solidFill>
              </a:rPr>
              <a:t>×</a:t>
            </a:r>
          </a:p>
        </p:txBody>
      </p:sp>
      <p:sp>
        <p:nvSpPr>
          <p:cNvPr id="26" name="">
            <a:extLst xmlns:a="http://schemas.openxmlformats.org/drawingml/2006/main">
              <a:ext uri="{FF2B5EF4-FFF2-40B4-BE49-F238E27FC236}">
                <a16:creationId xmlns:a16="http://schemas.microsoft.com/office/drawing/2014/main" id="{3EB03B26-D40A-44A5-AE29-16A389E56A70}"/>
              </a:ext>
            </a:extLst>
          </p:cNvPr>
          <p:cNvSpPr>
            <a:spLocks xmlns:a="http://schemas.openxmlformats.org/drawingml/2006/main" noGrp="1"/>
          </p:cNvSpPr>
          <p:nvPr/>
        </p:nvSpPr>
        <p:spPr>
          <a:xfrm xmlns:a="http://schemas.openxmlformats.org/drawingml/2006/main">
            <a:off x="6496050" y="4533900"/>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Disclose controlled-medication inventory</a:t>
            </a:r>
          </a:p>
        </p:txBody>
      </p:sp>
      <p:sp>
        <p:nvSpPr>
          <p:cNvPr id="27" name="">
            <a:extLst xmlns:a="http://schemas.openxmlformats.org/drawingml/2006/main">
              <a:ext uri="{FF2B5EF4-FFF2-40B4-BE49-F238E27FC236}">
                <a16:creationId xmlns:a16="http://schemas.microsoft.com/office/drawing/2014/main" id="{476A9D33-E4A0-4F55-BBBF-9D0379F924E0}"/>
              </a:ext>
            </a:extLst>
          </p:cNvPr>
          <p:cNvSpPr>
            <a:spLocks xmlns:a="http://schemas.openxmlformats.org/drawingml/2006/main" noGrp="1"/>
          </p:cNvSpPr>
          <p:nvPr/>
        </p:nvSpPr>
        <p:spPr>
          <a:xfrm xmlns:a="http://schemas.openxmlformats.org/drawingml/2006/main">
            <a:off x="6286500" y="4867275"/>
            <a:ext cx="104775" cy="104775"/>
          </a:xfrm>
          <a:prstGeom xmlns:a="http://schemas.openxmlformats.org/drawingml/2006/main" prst="ellipse">
            <a:avLst/>
          </a:prstGeom>
          <a:solidFill xmlns:a="http://schemas.openxmlformats.org/drawingml/2006/main">
            <a:srgbClr val="D35656"/>
          </a:solidFill>
          <a:ln xmlns:a="http://schemas.openxmlformats.org/drawingml/2006/main" w="0">
            <a:solidFill>
              <a:srgbClr val="D35656"/>
            </a:solidFill>
            <a:prstDash val="solid"/>
          </a:ln>
        </p:spPr>
      </p:sp>
      <p:sp>
        <p:nvSpPr>
          <p:cNvPr id="28" name="">
            <a:extLst xmlns:a="http://schemas.openxmlformats.org/drawingml/2006/main">
              <a:ext uri="{FF2B5EF4-FFF2-40B4-BE49-F238E27FC236}">
                <a16:creationId xmlns:a16="http://schemas.microsoft.com/office/drawing/2014/main" id="{1E3ED6CE-3906-4728-A5D0-AF015DDBC637}"/>
              </a:ext>
            </a:extLst>
          </p:cNvPr>
          <p:cNvSpPr>
            <a:spLocks xmlns:a="http://schemas.openxmlformats.org/drawingml/2006/main" noGrp="1"/>
          </p:cNvSpPr>
          <p:nvPr/>
        </p:nvSpPr>
        <p:spPr>
          <a:xfrm xmlns:a="http://schemas.openxmlformats.org/drawingml/2006/main">
            <a:off x="6296025" y="4838700"/>
            <a:ext cx="857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defRPr>
            </a:pPr>
            <a:r>
              <a:rPr sz="750" b="1" i="0">
                <a:solidFill>
                  <a:srgbClr val="FFFFFF"/>
                </a:solidFill>
              </a:rPr>
              <a:t>×</a:t>
            </a:r>
          </a:p>
        </p:txBody>
      </p:sp>
      <p:sp>
        <p:nvSpPr>
          <p:cNvPr id="29" name="">
            <a:extLst xmlns:a="http://schemas.openxmlformats.org/drawingml/2006/main">
              <a:ext uri="{FF2B5EF4-FFF2-40B4-BE49-F238E27FC236}">
                <a16:creationId xmlns:a16="http://schemas.microsoft.com/office/drawing/2014/main" id="{15BDACCA-7225-4F89-BCDD-D2F9F58B4AD1}"/>
              </a:ext>
            </a:extLst>
          </p:cNvPr>
          <p:cNvSpPr>
            <a:spLocks xmlns:a="http://schemas.openxmlformats.org/drawingml/2006/main" noGrp="1"/>
          </p:cNvSpPr>
          <p:nvPr/>
        </p:nvSpPr>
        <p:spPr>
          <a:xfrm xmlns:a="http://schemas.openxmlformats.org/drawingml/2006/main">
            <a:off x="6496050" y="48291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B1F33"/>
                </a:solidFill>
              </a:defRPr>
            </a:pPr>
            <a:r>
              <a:rPr sz="1050" b="1" i="0">
                <a:solidFill>
                  <a:srgbClr val="0B1F33"/>
                </a:solidFill>
              </a:rPr>
              <a:t>Contact an unconsented recipient</a:t>
            </a:r>
          </a:p>
        </p:txBody>
      </p:sp>
      <p:sp>
        <p:nvSpPr>
          <p:cNvPr id="30" name="">
            <a:extLst xmlns:a="http://schemas.openxmlformats.org/drawingml/2006/main">
              <a:ext uri="{FF2B5EF4-FFF2-40B4-BE49-F238E27FC236}">
                <a16:creationId xmlns:a16="http://schemas.microsoft.com/office/drawing/2014/main" id="{78B6A081-1DC7-410D-A41E-C45716ADE73A}"/>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A safe stop is a successful outcome when automation would be the wrong thing to do.</a:t>
            </a:r>
          </a:p>
        </p:txBody>
      </p:sp>
      <p:sp>
        <p:nvSpPr>
          <p:cNvPr id="31" name="">
            <a:extLst xmlns:a="http://schemas.openxmlformats.org/drawingml/2006/main">
              <a:ext uri="{FF2B5EF4-FFF2-40B4-BE49-F238E27FC236}">
                <a16:creationId xmlns:a16="http://schemas.microsoft.com/office/drawing/2014/main" id="{FE8ED77F-AF74-4180-9916-CE4F1C57DCFD}"/>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14153816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69FAA6C-9E60-4629-B9B1-5DAF9296E1D5}"/>
              </a:ext>
            </a:extLst>
          </p:cNvPr>
          <p:cNvSpPr>
            <a:spLocks xmlns:a="http://schemas.openxmlformats.org/drawingml/2006/main" noGrp="1"/>
          </p:cNvSpPr>
          <p:nvPr/>
        </p:nvSpPr>
        <p:spPr>
          <a:xfrm xmlns:a="http://schemas.openxmlformats.org/drawingml/2006/main">
            <a:off x="457200" y="3143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5F6D80"/>
                </a:solidFill>
              </a:defRPr>
            </a:pPr>
            <a:r>
              <a:rPr sz="750" b="1" i="0">
                <a:solidFill>
                  <a:srgbClr val="5F6D80"/>
                </a:solidFill>
              </a:rPr>
              <a:t>THE ASK</a:t>
            </a:r>
          </a:p>
        </p:txBody>
      </p:sp>
      <p:sp>
        <p:nvSpPr>
          <p:cNvPr id="2" name="">
            <a:extLst xmlns:a="http://schemas.openxmlformats.org/drawingml/2006/main">
              <a:ext uri="{FF2B5EF4-FFF2-40B4-BE49-F238E27FC236}">
                <a16:creationId xmlns:a16="http://schemas.microsoft.com/office/drawing/2014/main" id="{1784C5E0-91A3-4150-8DB4-DF8CF3CF8EBB}"/>
              </a:ext>
            </a:extLst>
          </p:cNvPr>
          <p:cNvSpPr>
            <a:spLocks xmlns:a="http://schemas.openxmlformats.org/drawingml/2006/main" noGrp="1"/>
          </p:cNvSpPr>
          <p:nvPr/>
        </p:nvSpPr>
        <p:spPr>
          <a:xfrm xmlns:a="http://schemas.openxmlformats.org/drawingml/2006/main">
            <a:off x="9639300" y="314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D80"/>
                </a:solidFill>
              </a:defRPr>
            </a:pPr>
            <a:r>
              <a:rPr sz="750" b="1" i="0">
                <a:solidFill>
                  <a:srgbClr val="5F6D80"/>
                </a:solidFill>
              </a:rPr>
              <a:t>RXRELAY  /  10</a:t>
            </a:r>
          </a:p>
        </p:txBody>
      </p:sp>
      <p:sp>
        <p:nvSpPr>
          <p:cNvPr id="3" name="">
            <a:extLst xmlns:a="http://schemas.openxmlformats.org/drawingml/2006/main">
              <a:ext uri="{FF2B5EF4-FFF2-40B4-BE49-F238E27FC236}">
                <a16:creationId xmlns:a16="http://schemas.microsoft.com/office/drawing/2014/main" id="{7D500528-CEC2-4A36-AA63-4DA6AB4FD2A8}"/>
              </a:ext>
            </a:extLst>
          </p:cNvPr>
          <p:cNvSpPr>
            <a:spLocks xmlns:a="http://schemas.openxmlformats.org/drawingml/2006/main" noGrp="1"/>
          </p:cNvSpPr>
          <p:nvPr/>
        </p:nvSpPr>
        <p:spPr>
          <a:xfrm xmlns:a="http://schemas.openxmlformats.org/drawingml/2006/main">
            <a:off x="457200" y="552450"/>
            <a:ext cx="11277600" cy="9525"/>
          </a:xfrm>
          <a:prstGeom xmlns:a="http://schemas.openxmlformats.org/drawingml/2006/main" prst="rect">
            <a:avLst/>
          </a:prstGeom>
          <a:solidFill xmlns:a="http://schemas.openxmlformats.org/drawingml/2006/main">
            <a:srgbClr val="D8E0E7"/>
          </a:solidFill>
          <a:ln xmlns:a="http://schemas.openxmlformats.org/drawingml/2006/main" w="0">
            <a:solidFill>
              <a:srgbClr val="D8E0E7"/>
            </a:solidFill>
            <a:prstDash val="solid"/>
          </a:ln>
        </p:spPr>
      </p:sp>
      <p:sp>
        <p:nvSpPr>
          <p:cNvPr id="4" name="">
            <a:extLst xmlns:a="http://schemas.openxmlformats.org/drawingml/2006/main">
              <a:ext uri="{FF2B5EF4-FFF2-40B4-BE49-F238E27FC236}">
                <a16:creationId xmlns:a16="http://schemas.microsoft.com/office/drawing/2014/main" id="{6AF005B0-5E86-45C2-B3DE-FB8C357CD09F}"/>
              </a:ext>
            </a:extLst>
          </p:cNvPr>
          <p:cNvSpPr>
            <a:spLocks xmlns:a="http://schemas.openxmlformats.org/drawingml/2006/main" noGrp="1"/>
          </p:cNvSpPr>
          <p:nvPr/>
        </p:nvSpPr>
        <p:spPr>
          <a:xfrm xmlns:a="http://schemas.openxmlformats.org/drawingml/2006/main">
            <a:off x="457200" y="952500"/>
            <a:ext cx="7762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1F33"/>
                </a:solidFill>
              </a:defRPr>
            </a:pPr>
            <a:r>
              <a:rPr sz="3600" b="1" i="0">
                <a:solidFill>
                  <a:srgbClr val="0B1F33"/>
                </a:solidFill>
              </a:rPr>
              <a:t>A prescription should not</a:t>
            </a:r>
          </a:p>
          <a:p xmlns:a="http://schemas.openxmlformats.org/drawingml/2006/main">
            <a:pPr algn="l">
              <a:defRPr sz="3600" b="1" i="0">
                <a:solidFill>
                  <a:srgbClr val="0B1F33"/>
                </a:solidFill>
              </a:defRPr>
            </a:pPr>
            <a:r>
              <a:rPr sz="3600" b="1" i="0">
                <a:solidFill>
                  <a:srgbClr val="0B1F33"/>
                </a:solidFill>
              </a:rPr>
              <a:t>fail because coordination did.</a:t>
            </a:r>
          </a:p>
        </p:txBody>
      </p:sp>
      <p:sp>
        <p:nvSpPr>
          <p:cNvPr id="5" name="">
            <a:extLst xmlns:a="http://schemas.openxmlformats.org/drawingml/2006/main">
              <a:ext uri="{FF2B5EF4-FFF2-40B4-BE49-F238E27FC236}">
                <a16:creationId xmlns:a16="http://schemas.microsoft.com/office/drawing/2014/main" id="{120493CB-9FF8-4C45-905B-35092F78F1F5}"/>
              </a:ext>
            </a:extLst>
          </p:cNvPr>
          <p:cNvSpPr>
            <a:spLocks xmlns:a="http://schemas.openxmlformats.org/drawingml/2006/main" noGrp="1"/>
          </p:cNvSpPr>
          <p:nvPr/>
        </p:nvSpPr>
        <p:spPr>
          <a:xfrm xmlns:a="http://schemas.openxmlformats.org/drawingml/2006/main">
            <a:off x="495300" y="2428875"/>
            <a:ext cx="7239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6D80"/>
                </a:solidFill>
              </a:defRPr>
            </a:pPr>
            <a:r>
              <a:rPr sz="1200" b="0" i="0">
                <a:solidFill>
                  <a:srgbClr val="5F6D80"/>
                </a:solidFill>
              </a:rPr>
              <a:t>RxRelay turns a consented call into a verifiable outcome — grounded in PAVO research and the same evidence discipline as Groundtruth, Lifeline, and MCP Observatory.</a:t>
            </a:r>
          </a:p>
        </p:txBody>
      </p:sp>
      <p:sp>
        <p:nvSpPr>
          <p:cNvPr id="6" name="">
            <a:extLst xmlns:a="http://schemas.openxmlformats.org/drawingml/2006/main">
              <a:ext uri="{FF2B5EF4-FFF2-40B4-BE49-F238E27FC236}">
                <a16:creationId xmlns:a16="http://schemas.microsoft.com/office/drawing/2014/main" id="{5BD3B5DB-CE21-4F43-9172-75F9547F269B}"/>
              </a:ext>
            </a:extLst>
          </p:cNvPr>
          <p:cNvSpPr>
            <a:spLocks xmlns:a="http://schemas.openxmlformats.org/drawingml/2006/main" noGrp="1"/>
          </p:cNvSpPr>
          <p:nvPr/>
        </p:nvSpPr>
        <p:spPr>
          <a:xfrm xmlns:a="http://schemas.openxmlformats.org/drawingml/2006/main">
            <a:off x="476250" y="3238500"/>
            <a:ext cx="3619500" cy="1428750"/>
          </a:xfrm>
          <a:prstGeom xmlns:a="http://schemas.openxmlformats.org/drawingml/2006/main" prst="roundRect">
            <a:avLst>
              <a:gd name="adj" fmla="val 8000"/>
            </a:avLst>
          </a:prstGeom>
          <a:solidFill xmlns:a="http://schemas.openxmlformats.org/drawingml/2006/main">
            <a:srgbClr val="071A2B"/>
          </a:solidFill>
          <a:ln xmlns:a="http://schemas.openxmlformats.org/drawingml/2006/main" w="9525">
            <a:solidFill>
              <a:srgbClr val="071A2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7630D29-E3BA-4655-A761-A8E76968B95F}"/>
              </a:ext>
            </a:extLst>
          </p:cNvPr>
          <p:cNvSpPr>
            <a:spLocks xmlns:a="http://schemas.openxmlformats.org/drawingml/2006/main" noGrp="1"/>
          </p:cNvSpPr>
          <p:nvPr/>
        </p:nvSpPr>
        <p:spPr>
          <a:xfrm xmlns:a="http://schemas.openxmlformats.org/drawingml/2006/main">
            <a:off x="733425" y="3476625"/>
            <a:ext cx="1143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7CE7D5"/>
                </a:solidFill>
              </a:defRPr>
            </a:pPr>
            <a:r>
              <a:rPr sz="750" b="1" i="0">
                <a:solidFill>
                  <a:srgbClr val="7CE7D5"/>
                </a:solidFill>
              </a:rPr>
              <a:t>LIVE DEMO</a:t>
            </a:r>
          </a:p>
        </p:txBody>
      </p:sp>
      <p:sp>
        <p:nvSpPr>
          <p:cNvPr id="8" name="">
            <a:extLst xmlns:a="http://schemas.openxmlformats.org/drawingml/2006/main">
              <a:ext uri="{FF2B5EF4-FFF2-40B4-BE49-F238E27FC236}">
                <a16:creationId xmlns:a16="http://schemas.microsoft.com/office/drawing/2014/main" id="{F4179D3A-E828-46B3-8F06-B10FE52A3850}"/>
              </a:ext>
            </a:extLst>
          </p:cNvPr>
          <p:cNvSpPr>
            <a:spLocks xmlns:a="http://schemas.openxmlformats.org/drawingml/2006/main" noGrp="1"/>
          </p:cNvSpPr>
          <p:nvPr/>
        </p:nvSpPr>
        <p:spPr>
          <a:xfrm xmlns:a="http://schemas.openxmlformats.org/drawingml/2006/main">
            <a:off x="733425" y="38100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FFFF"/>
                </a:solidFill>
              </a:defRPr>
            </a:pPr>
            <a:r>
              <a:rPr sz="1650" b="1" i="0">
                <a:solidFill>
                  <a:srgbClr val="FFFFFF"/>
                </a:solidFill>
              </a:rPr>
              <a:t>Proof board + unsafe branch.</a:t>
            </a:r>
          </a:p>
          <a:p xmlns:a="http://schemas.openxmlformats.org/drawingml/2006/main">
            <a:pPr algn="l">
              <a:defRPr sz="1650" b="1" i="0">
                <a:solidFill>
                  <a:srgbClr val="FFFFFF"/>
                </a:solidFill>
              </a:defRPr>
            </a:pPr>
            <a:r>
              <a:rPr sz="1650" b="1" i="0">
                <a:solidFill>
                  <a:srgbClr val="FFFFFF"/>
                </a:solidFill>
              </a:rPr>
              <a:t>Call the claimed number.</a:t>
            </a:r>
          </a:p>
        </p:txBody>
      </p:sp>
      <p:sp>
        <p:nvSpPr>
          <p:cNvPr id="9" name="">
            <a:extLst xmlns:a="http://schemas.openxmlformats.org/drawingml/2006/main">
              <a:ext uri="{FF2B5EF4-FFF2-40B4-BE49-F238E27FC236}">
                <a16:creationId xmlns:a16="http://schemas.microsoft.com/office/drawing/2014/main" id="{23EFE299-EBD1-4AA1-B07A-3B066EF5F715}"/>
              </a:ext>
            </a:extLst>
          </p:cNvPr>
          <p:cNvSpPr>
            <a:spLocks xmlns:a="http://schemas.openxmlformats.org/drawingml/2006/main" noGrp="1"/>
          </p:cNvSpPr>
          <p:nvPr/>
        </p:nvSpPr>
        <p:spPr>
          <a:xfrm xmlns:a="http://schemas.openxmlformats.org/drawingml/2006/main">
            <a:off x="4286250" y="3238500"/>
            <a:ext cx="3619500" cy="1428750"/>
          </a:xfrm>
          <a:prstGeom xmlns:a="http://schemas.openxmlformats.org/drawingml/2006/main" prst="roundRect">
            <a:avLst>
              <a:gd name="adj" fmla="val 8000"/>
            </a:avLst>
          </a:prstGeom>
          <a:solidFill xmlns:a="http://schemas.openxmlformats.org/drawingml/2006/main">
            <a:srgbClr val="DCF6F0"/>
          </a:solidFill>
          <a:ln xmlns:a="http://schemas.openxmlformats.org/drawingml/2006/main" w="9525">
            <a:solidFill>
              <a:srgbClr val="DCF6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E86902E-0E1C-46B2-863A-08F51F34B139}"/>
              </a:ext>
            </a:extLst>
          </p:cNvPr>
          <p:cNvSpPr>
            <a:spLocks xmlns:a="http://schemas.openxmlformats.org/drawingml/2006/main" noGrp="1"/>
          </p:cNvSpPr>
          <p:nvPr/>
        </p:nvSpPr>
        <p:spPr>
          <a:xfrm xmlns:a="http://schemas.openxmlformats.org/drawingml/2006/main">
            <a:off x="4552950" y="3476625"/>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0E9F8E"/>
                </a:solidFill>
              </a:defRPr>
            </a:pPr>
            <a:r>
              <a:rPr sz="750" b="1" i="0">
                <a:solidFill>
                  <a:srgbClr val="0E9F8E"/>
                </a:solidFill>
              </a:rPr>
              <a:t>WHY THIS WINS</a:t>
            </a:r>
          </a:p>
        </p:txBody>
      </p:sp>
      <p:sp>
        <p:nvSpPr>
          <p:cNvPr id="11" name="">
            <a:extLst xmlns:a="http://schemas.openxmlformats.org/drawingml/2006/main">
              <a:ext uri="{FF2B5EF4-FFF2-40B4-BE49-F238E27FC236}">
                <a16:creationId xmlns:a16="http://schemas.microsoft.com/office/drawing/2014/main" id="{87893FB4-E962-4B66-A0E6-C28A5F369DB0}"/>
              </a:ext>
            </a:extLst>
          </p:cNvPr>
          <p:cNvSpPr>
            <a:spLocks xmlns:a="http://schemas.openxmlformats.org/drawingml/2006/main" noGrp="1"/>
          </p:cNvSpPr>
          <p:nvPr/>
        </p:nvSpPr>
        <p:spPr>
          <a:xfrm xmlns:a="http://schemas.openxmlformats.org/drawingml/2006/main">
            <a:off x="4552950" y="38100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B1F33"/>
                </a:solidFill>
              </a:defRPr>
            </a:pPr>
            <a:r>
              <a:rPr sz="1650" b="1" i="0">
                <a:solidFill>
                  <a:srgbClr val="0B1F33"/>
                </a:solidFill>
              </a:rPr>
              <a:t>Real problem. Real voice UX.</a:t>
            </a:r>
          </a:p>
          <a:p xmlns:a="http://schemas.openxmlformats.org/drawingml/2006/main">
            <a:pPr algn="l">
              <a:defRPr sz="1650" b="1" i="0">
                <a:solidFill>
                  <a:srgbClr val="0B1F33"/>
                </a:solidFill>
              </a:defRPr>
            </a:pPr>
            <a:r>
              <a:rPr sz="1650" b="1" i="0">
                <a:solidFill>
                  <a:srgbClr val="0B1F33"/>
                </a:solidFill>
              </a:rPr>
              <a:t>Real safety. It actually runs.</a:t>
            </a:r>
          </a:p>
        </p:txBody>
      </p:sp>
      <p:sp>
        <p:nvSpPr>
          <p:cNvPr id="12" name="">
            <a:extLst xmlns:a="http://schemas.openxmlformats.org/drawingml/2006/main">
              <a:ext uri="{FF2B5EF4-FFF2-40B4-BE49-F238E27FC236}">
                <a16:creationId xmlns:a16="http://schemas.microsoft.com/office/drawing/2014/main" id="{EC8DE040-9267-4D76-8860-A1F2CF7021FA}"/>
              </a:ext>
            </a:extLst>
          </p:cNvPr>
          <p:cNvSpPr>
            <a:spLocks xmlns:a="http://schemas.openxmlformats.org/drawingml/2006/main" noGrp="1"/>
          </p:cNvSpPr>
          <p:nvPr/>
        </p:nvSpPr>
        <p:spPr>
          <a:xfrm xmlns:a="http://schemas.openxmlformats.org/drawingml/2006/main">
            <a:off x="8096250" y="3238500"/>
            <a:ext cx="3638550" cy="1428750"/>
          </a:xfrm>
          <a:prstGeom xmlns:a="http://schemas.openxmlformats.org/drawingml/2006/main" prst="roundRect">
            <a:avLst>
              <a:gd name="adj" fmla="val 8000"/>
            </a:avLst>
          </a:prstGeom>
          <a:solidFill xmlns:a="http://schemas.openxmlformats.org/drawingml/2006/main">
            <a:srgbClr val="E5F0FF"/>
          </a:solidFill>
          <a:ln xmlns:a="http://schemas.openxmlformats.org/drawingml/2006/main" w="9525">
            <a:solidFill>
              <a:srgbClr val="E5F0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6FFDB88E-AD59-402B-8D10-DF9ACDC1C656}"/>
              </a:ext>
            </a:extLst>
          </p:cNvPr>
          <p:cNvSpPr>
            <a:spLocks xmlns:a="http://schemas.openxmlformats.org/drawingml/2006/main" noGrp="1"/>
          </p:cNvSpPr>
          <p:nvPr/>
        </p:nvSpPr>
        <p:spPr>
          <a:xfrm xmlns:a="http://schemas.openxmlformats.org/drawingml/2006/main">
            <a:off x="8362950" y="3476625"/>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3D8DFF"/>
                </a:solidFill>
              </a:defRPr>
            </a:pPr>
            <a:r>
              <a:rPr sz="750" b="1" i="0">
                <a:solidFill>
                  <a:srgbClr val="3D8DFF"/>
                </a:solidFill>
              </a:rPr>
              <a:t>TRUSTED LINEAGE</a:t>
            </a:r>
          </a:p>
        </p:txBody>
      </p:sp>
      <p:sp>
        <p:nvSpPr>
          <p:cNvPr id="14" name="">
            <a:extLst xmlns:a="http://schemas.openxmlformats.org/drawingml/2006/main">
              <a:ext uri="{FF2B5EF4-FFF2-40B4-BE49-F238E27FC236}">
                <a16:creationId xmlns:a16="http://schemas.microsoft.com/office/drawing/2014/main" id="{CCEC7D7E-03BD-478A-A09E-E1A0AAEDBAA1}"/>
              </a:ext>
            </a:extLst>
          </p:cNvPr>
          <p:cNvSpPr>
            <a:spLocks xmlns:a="http://schemas.openxmlformats.org/drawingml/2006/main" noGrp="1"/>
          </p:cNvSpPr>
          <p:nvPr/>
        </p:nvSpPr>
        <p:spPr>
          <a:xfrm xmlns:a="http://schemas.openxmlformats.org/drawingml/2006/main">
            <a:off x="8362950" y="38100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1F33"/>
                </a:solidFill>
              </a:defRPr>
            </a:pPr>
            <a:r>
              <a:rPr sz="1350" b="1" i="0">
                <a:solidFill>
                  <a:srgbClr val="0B1F33"/>
                </a:solidFill>
              </a:rPr>
              <a:t>PAVO paper · pavo-bench</a:t>
            </a:r>
          </a:p>
          <a:p xmlns:a="http://schemas.openxmlformats.org/drawingml/2006/main">
            <a:pPr algn="l">
              <a:defRPr sz="1350" b="1" i="0">
                <a:solidFill>
                  <a:srgbClr val="0B1F33"/>
                </a:solidFill>
              </a:defRPr>
            </a:pPr>
            <a:r>
              <a:rPr sz="1350" b="1" i="0">
                <a:solidFill>
                  <a:srgbClr val="0B1F33"/>
                </a:solidFill>
              </a:rPr>
              <a:t>Groundtruth · Lifeline · MCPobs</a:t>
            </a:r>
          </a:p>
        </p:txBody>
      </p:sp>
      <p:sp>
        <p:nvSpPr>
          <p:cNvPr id="15" name="">
            <a:extLst xmlns:a="http://schemas.openxmlformats.org/drawingml/2006/main">
              <a:ext uri="{FF2B5EF4-FFF2-40B4-BE49-F238E27FC236}">
                <a16:creationId xmlns:a16="http://schemas.microsoft.com/office/drawing/2014/main" id="{A919EE0D-F9DE-4A27-9A68-DCEF7A04EB5A}"/>
              </a:ext>
            </a:extLst>
          </p:cNvPr>
          <p:cNvSpPr>
            <a:spLocks xmlns:a="http://schemas.openxmlformats.org/drawingml/2006/main" noGrp="1"/>
          </p:cNvSpPr>
          <p:nvPr/>
        </p:nvSpPr>
        <p:spPr>
          <a:xfrm xmlns:a="http://schemas.openxmlformats.org/drawingml/2006/main">
            <a:off x="476250" y="50482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3D8DFF"/>
                </a:solidFill>
              </a:defRPr>
            </a:pPr>
            <a:r>
              <a:rPr sz="1350" b="1" i="0">
                <a:solidFill>
                  <a:srgbClr val="3D8DFF"/>
                </a:solidFill>
              </a:rPr>
              <a:t>github.com/vnmoorthy/rxrelay</a:t>
            </a:r>
          </a:p>
        </p:txBody>
      </p:sp>
      <p:sp>
        <p:nvSpPr>
          <p:cNvPr id="16" name="">
            <a:extLst xmlns:a="http://schemas.openxmlformats.org/drawingml/2006/main">
              <a:ext uri="{FF2B5EF4-FFF2-40B4-BE49-F238E27FC236}">
                <a16:creationId xmlns:a16="http://schemas.microsoft.com/office/drawing/2014/main" id="{6EB2D737-5734-4259-B17D-3F3FEE307FA9}"/>
              </a:ext>
            </a:extLst>
          </p:cNvPr>
          <p:cNvSpPr>
            <a:spLocks xmlns:a="http://schemas.openxmlformats.org/drawingml/2006/main" noGrp="1"/>
          </p:cNvSpPr>
          <p:nvPr/>
        </p:nvSpPr>
        <p:spPr>
          <a:xfrm xmlns:a="http://schemas.openxmlformats.org/drawingml/2006/main">
            <a:off x="476250" y="5334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E9F8E"/>
                </a:solidFill>
              </a:defRPr>
            </a:pPr>
            <a:r>
              <a:rPr sz="1200" b="1" i="0">
                <a:solidFill>
                  <a:srgbClr val="0E9F8E"/>
                </a:solidFill>
              </a:rPr>
              <a:t>vnmoorthy.github.io/rxrelay</a:t>
            </a:r>
          </a:p>
        </p:txBody>
      </p:sp>
      <p:sp>
        <p:nvSpPr>
          <p:cNvPr id="17" name="">
            <a:extLst xmlns:a="http://schemas.openxmlformats.org/drawingml/2006/main">
              <a:ext uri="{FF2B5EF4-FFF2-40B4-BE49-F238E27FC236}">
                <a16:creationId xmlns:a16="http://schemas.microsoft.com/office/drawing/2014/main" id="{7520AE4F-EBCE-4454-977C-16D2F63E6D95}"/>
              </a:ext>
            </a:extLst>
          </p:cNvPr>
          <p:cNvSpPr>
            <a:spLocks xmlns:a="http://schemas.openxmlformats.org/drawingml/2006/main" noGrp="1"/>
          </p:cNvSpPr>
          <p:nvPr/>
        </p:nvSpPr>
        <p:spPr>
          <a:xfrm xmlns:a="http://schemas.openxmlformats.org/drawingml/2006/main">
            <a:off x="476250" y="5715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D80"/>
                </a:solidFill>
              </a:defRPr>
            </a:pPr>
            <a:r>
              <a:rPr sz="900" b="0" i="0">
                <a:solidFill>
                  <a:srgbClr val="5F6D80"/>
                </a:solidFill>
              </a:rPr>
              <a:t>openreview.net/forum?id=zrneoIxlFx  ·  Pitch: deck/output/RxRelay_Hackathon_Pitch.pptx</a:t>
            </a:r>
          </a:p>
        </p:txBody>
      </p:sp>
      <p:sp>
        <p:nvSpPr>
          <p:cNvPr id="18" name="">
            <a:extLst xmlns:a="http://schemas.openxmlformats.org/drawingml/2006/main">
              <a:ext uri="{FF2B5EF4-FFF2-40B4-BE49-F238E27FC236}">
                <a16:creationId xmlns:a16="http://schemas.microsoft.com/office/drawing/2014/main" id="{60166480-6715-4CBA-9907-8715F0A89CDC}"/>
              </a:ext>
            </a:extLst>
          </p:cNvPr>
          <p:cNvSpPr>
            <a:spLocks xmlns:a="http://schemas.openxmlformats.org/drawingml/2006/main" noGrp="1"/>
          </p:cNvSpPr>
          <p:nvPr/>
        </p:nvSpPr>
        <p:spPr>
          <a:xfrm xmlns:a="http://schemas.openxmlformats.org/drawingml/2006/main">
            <a:off x="4572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8090A1"/>
                </a:solidFill>
              </a:defRPr>
            </a:pPr>
            <a:r>
              <a:rPr sz="675" b="0" i="0">
                <a:solidFill>
                  <a:srgbClr val="8090A1"/>
                </a:solidFill>
              </a:rPr>
              <a:t>RxRelay · Proof, not promises.</a:t>
            </a:r>
          </a:p>
        </p:txBody>
      </p:sp>
      <p:sp>
        <p:nvSpPr>
          <p:cNvPr id="19" name="">
            <a:extLst xmlns:a="http://schemas.openxmlformats.org/drawingml/2006/main">
              <a:ext uri="{FF2B5EF4-FFF2-40B4-BE49-F238E27FC236}">
                <a16:creationId xmlns:a16="http://schemas.microsoft.com/office/drawing/2014/main" id="{8C00CADC-B3C1-4A3B-A034-680266D5094D}"/>
              </a:ext>
            </a:extLst>
          </p:cNvPr>
          <p:cNvSpPr>
            <a:spLocks xmlns:a="http://schemas.openxmlformats.org/drawingml/2006/main" noGrp="1"/>
          </p:cNvSpPr>
          <p:nvPr/>
        </p:nvSpPr>
        <p:spPr>
          <a:xfrm xmlns:a="http://schemas.openxmlformats.org/drawingml/2006/main">
            <a:off x="8382000" y="6457950"/>
            <a:ext cx="3352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i="0">
                <a:solidFill>
                  <a:srgbClr val="8090A1"/>
                </a:solidFill>
              </a:defRPr>
            </a:pPr>
            <a:r>
              <a:rPr sz="675" b="0" i="0">
                <a:solidFill>
                  <a:srgbClr val="8090A1"/>
                </a:solidFill>
              </a:rPr>
              <a:t>A1MOBILE VOICE AI HACKATHON · 2026</a:t>
            </a:r>
          </a:p>
        </p:txBody>
      </p:sp>
    </p:spTree>
    <p:extLst>
      <p:ext uri="{BB962C8B-B14F-4D97-AF65-F5344CB8AC3E}">
        <p14:creationId xmlns:p14="http://schemas.microsoft.com/office/powerpoint/2010/main" val="1652558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2026-07-31T23:03:03.7360000Z</dcterms:created>
  <dcterms:modified xsi:type="dcterms:W3CDTF">2026-07-31T23:03:03.7360000Z</dcterms:modified>
</coreProperties>
</file>