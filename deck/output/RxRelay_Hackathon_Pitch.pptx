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3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9144000" cy="5143500" type="screen16x9"/>
  <p:notesSz cx="6858000" cy="9144000"/>
  <p:defaultTextStyle>
    <a:defPPr>
      <a:defRPr lang="en-US"/>
    </a:defPPr>
  </p:defaultTextStyle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" Target="slides/slide2.xml"/>
  <Relationship Id="rId3" Type="http://schemas.openxmlformats.org/officeDocument/2006/relationships/slide" Target="slides/slide3.xml"/>
  <Relationship Id="rId4" Type="http://schemas.openxmlformats.org/officeDocument/2006/relationships/slide" Target="slides/slide4.xml"/>
  <Relationship Id="rId5" Type="http://schemas.openxmlformats.org/officeDocument/2006/relationships/slide" Target="slides/slide5.xml"/>
  <Relationship Id="rId6" Type="http://schemas.openxmlformats.org/officeDocument/2006/relationships/slide" Target="slides/slide6.xml"/>
  <Relationship Id="rId7" Type="http://schemas.openxmlformats.org/officeDocument/2006/relationships/slide" Target="slides/slide7.xml"/>
  <Relationship Id="rId8" Type="http://schemas.openxmlformats.org/officeDocument/2006/relationships/slide" Target="slides/slide8.xml"/>
  <Relationship Id="rId9" Type="http://schemas.openxmlformats.org/officeDocument/2006/relationships/slide" Target="slides/slide9.xml"/>
  <Relationship Id="rId10" Type="http://schemas.openxmlformats.org/officeDocument/2006/relationships/slide" Target="slides/slide10.xml"/>
  <Relationship Id="rId11" Type="http://schemas.openxmlformats.org/officeDocument/2006/relationships/slide" Target="slides/slide11.xml"/>
  <Relationship Id="rId12" Type="http://schemas.openxmlformats.org/officeDocument/2006/relationships/slide" Target="slides/slide12.xml"/>
  <Relationship Id="rId13" Type="http://schemas.openxmlformats.org/officeDocument/2006/relationships/slideMaster" Target="slideMasters/slideMaster1.xml"/>
  <Relationship Id="rId14" Type="http://schemas.openxmlformats.org/officeDocument/2006/relationships/theme" Target="theme/theme1.xml"/>
</Relationships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1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${n}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${n}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${n}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${n}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${n}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${n}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${n}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${n}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${n}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${n}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${n}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${n}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Notes"/>
          <p:cNvSpPr txBox="1"/>
          <p:nvPr/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400">
                <a:solidFill>
                  <a:srgbClr val="04131F"/>
                </a:solidFill>
                <a:latin typeface="Calibri"/>
              </a:rPr>
              <a:t>Open with the outcome, not 'an AI agent.' One consented request, followed until evidence exists. Pause on 'Proof, not promises.'</a:t>
            </a:r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Notes"/>
          <p:cNvSpPr txBox="1"/>
          <p:nvPr/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400">
                <a:solidFill>
                  <a:srgbClr val="04131F"/>
                </a:solidFill>
                <a:latin typeface="Calibri"/>
              </a:rPr>
              <a:t>Community voices make the burden concrete — people call 10, even 20 pharmacies because coordination failed, not because they wanted an agent.</a:t>
            </a:r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Notes"/>
          <p:cNvSpPr txBox="1"/>
          <p:nvPr/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400">
                <a:solidFill>
                  <a:srgbClr val="04131F"/>
                </a:solidFill>
                <a:latin typeface="Calibri"/>
              </a:rPr>
              <a:t>Land the insight: a smoother bot is not the answer. Operational memory plus an honest completion gate.</a:t>
            </a:r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Notes"/>
          <p:cNvSpPr txBox="1"/>
          <p:nvPr/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400">
                <a:solidFill>
                  <a:srgbClr val="04131F"/>
                </a:solidFill>
                <a:latin typeface="Calibri"/>
              </a:rPr>
              <a:t>Walk three verbs slowly. The distinctive thing is the proof condition in step three.</a:t>
            </a:r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Notes"/>
          <p:cNvSpPr txBox="1"/>
          <p:nvPr/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400">
                <a:solidFill>
                  <a:srgbClr val="04131F"/>
                </a:solidFill>
                <a:latin typeface="Calibri"/>
              </a:rPr>
              <a:t>Every green check is a deterministic state transition, not an LLM confidence score. Run the dashboard live.</a:t>
            </a:r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Notes"/>
          <p:cNvSpPr txBox="1"/>
          <p:nvPr/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400">
                <a:solidFill>
                  <a:srgbClr val="04131F"/>
                </a:solidFill>
                <a:latin typeface="Calibri"/>
              </a:rPr>
              <a:t>Be honest: verified tier uses TeXML speech + DTMF and a strong model. The coupling cliff is real — joint capture and reasoning matter.</a:t>
            </a:r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Notes"/>
          <p:cNvSpPr txBox="1"/>
          <p:nvPr/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400">
                <a:solidFill>
                  <a:srgbClr val="04131F"/>
                </a:solidFill>
                <a:latin typeface="Calibri"/>
              </a:rPr>
              <a:t>Walk each surface: proof board, counterpart portal, signed receipts, human queue, SSE.</a:t>
            </a:r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Notes"/>
          <p:cNvSpPr txBox="1"/>
          <p:nvPr/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400">
                <a:solidFill>
                  <a:srgbClr val="04131F"/>
                </a:solidFill>
                <a:latin typeface="Calibri"/>
              </a:rPr>
              <a:t>Walk left→right. Red safe-stop path never touches live outreach. Live requires OTP allowlist.</a:t>
            </a:r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Notes"/>
          <p:cNvSpPr txBox="1"/>
          <p:nvPr/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400">
                <a:solidFill>
                  <a:srgbClr val="04131F"/>
                </a:solidFill>
                <a:latin typeface="Calibri"/>
              </a:rPr>
              <a:t>Product position, not disclaimer. A safe stop is success when automation would be wrong.</a:t>
            </a:r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Notes"/>
          <p:cNvSpPr txBox="1"/>
          <p:nvPr/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400">
                <a:solidFill>
                  <a:srgbClr val="04131F"/>
                </a:solidFill>
                <a:latin typeface="Calibri"/>
              </a:rPr>
              <a:t>Offer live path: reset sandbox, walk full flow, call demo line, show unsafe branch stays red.</a:t>
            </a:r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Notes"/>
          <p:cNvSpPr txBox="1"/>
          <p:nvPr/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400">
                <a:solidFill>
                  <a:srgbClr val="04131F"/>
                </a:solidFill>
                <a:latin typeface="Calibri"/>
              </a:rPr>
              <a:t>Catalyst fit: evidence over demo theater, a1 as load-bearing infra, open PAVO research lineage.</a:t>
            </a:r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Notes"/>
          <p:cNvSpPr txBox="1"/>
          <p:nvPr/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400">
                <a:solidFill>
                  <a:srgbClr val="04131F"/>
                </a:solidFill>
                <a:latin typeface="Calibri"/>
              </a:rPr>
              <a:t>End on conviction. Invite judges to live board and safety stop. Next: OTP SMS + production tunnel.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${n}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${n}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${n}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${n}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${n}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${n}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${n}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${n}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${n}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${n}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${n}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${n}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4131F"/>
      </a:solidFill>
      <a:effectLst/>
    </p:bgPr>
  </p:bg>
  <p:cSld name="Slide 1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Kicker"/>
          <p:cNvSpPr txBox="1"/>
          <p:nvPr/>
        </p:nvSpPr>
        <p:spPr>
          <a:xfrm>
            <a:off x="457200" y="180000"/>
            <a:ext cx="82296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 b="1">
                <a:solidFill>
                  <a:srgbClr val="39D6C0"/>
                </a:solidFill>
                <a:latin typeface="Calibri"/>
              </a:rPr>
              <a:t>A1MOBILE VOICE AI HACKATHON 2026</a:t>
            </a:r>
          </a:p>
        </p:txBody>
      </p:sp>
      <p:sp>
        <p:nvSpPr>
          <p:cNvPr id="3" name="SlideNum"/>
          <p:cNvSpPr txBox="1"/>
          <p:nvPr/>
        </p:nvSpPr>
        <p:spPr>
          <a:xfrm>
            <a:off x="7486800" y="18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r"/>
            <a:r>
              <a:rPr lang="en-US" sz="900" b="1">
                <a:solidFill>
                  <a:srgbClr val="8EA0AE"/>
                </a:solidFill>
                <a:latin typeface="Calibri"/>
              </a:rPr>
              <a:t>RXRELAY  /  01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20000"/>
            <a:ext cx="82296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5200" b="1">
                <a:solidFill>
                  <a:srgbClr val="FFFFFF"/>
                </a:solidFill>
                <a:latin typeface="Calibri"/>
              </a:rPr>
              <a:t>RxRelay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457200" y="1500000"/>
            <a:ext cx="8229600" cy="3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800" i="1">
                <a:solidFill>
                  <a:srgbClr val="39D6C0"/>
                </a:solidFill>
                <a:latin typeface="Calibri"/>
              </a:rPr>
              <a:t>Proof, not promises.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457200" y="1880000"/>
            <a:ext cx="8229600" cy="3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800">
                <a:solidFill>
                  <a:srgbClr val="8EA0AE"/>
                </a:solidFill>
                <a:latin typeface="Calibri"/>
              </a:rPr>
              <a:t>A consent-first voice coordinator for prescription access — refuses resolution without evidence.</a:t>
            </a:r>
          </a:p>
        </p:txBody>
      </p:sp>
      <p:sp>
        <p:nvSpPr>
          <p:cNvPr id="7" name="Bullet"/>
          <p:cNvSpPr txBox="1"/>
          <p:nvPr/>
        </p:nvSpPr>
        <p:spPr>
          <a:xfrm>
            <a:off x="537200" y="226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PAVO routing</a:t>
            </a:r>
          </a:p>
        </p:txBody>
      </p:sp>
      <p:sp>
        <p:nvSpPr>
          <p:cNvPr id="8" name="Bullet"/>
          <p:cNvSpPr txBox="1"/>
          <p:nvPr/>
        </p:nvSpPr>
        <p:spPr>
          <a:xfrm>
            <a:off x="537200" y="260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Evidence-gated</a:t>
            </a:r>
          </a:p>
        </p:txBody>
      </p:sp>
      <p:sp>
        <p:nvSpPr>
          <p:cNvPr id="9" name="Bullet"/>
          <p:cNvSpPr txBox="1"/>
          <p:nvPr/>
        </p:nvSpPr>
        <p:spPr>
          <a:xfrm>
            <a:off x="537200" y="294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Consent-first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457200" y="4723500"/>
            <a:ext cx="82296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>
                <a:solidFill>
                  <a:srgbClr val="8EA0AE"/>
                </a:solidFill>
                <a:latin typeface="Calibri"/>
              </a:rPr>
              <a:t>Make the calls. Bring the proof.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F4F7F9"/>
      </a:solidFill>
      <a:effectLst/>
    </p:bgPr>
  </p:bg>
  <p:cSld name="Slide 2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Kicker"/>
          <p:cNvSpPr txBox="1"/>
          <p:nvPr/>
        </p:nvSpPr>
        <p:spPr>
          <a:xfrm>
            <a:off x="457200" y="180000"/>
            <a:ext cx="82296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 b="1">
                <a:solidFill>
                  <a:srgbClr val="39D6C0"/>
                </a:solidFill>
                <a:latin typeface="Calibri"/>
              </a:rPr>
              <a:t>THE HUMAN COST</a:t>
            </a:r>
          </a:p>
        </p:txBody>
      </p:sp>
      <p:sp>
        <p:nvSpPr>
          <p:cNvPr id="3" name="SlideNum"/>
          <p:cNvSpPr txBox="1"/>
          <p:nvPr/>
        </p:nvSpPr>
        <p:spPr>
          <a:xfrm>
            <a:off x="7486800" y="18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r"/>
            <a:r>
              <a:rPr lang="en-US" sz="900" b="1">
                <a:solidFill>
                  <a:srgbClr val="5C6B78"/>
                </a:solidFill>
                <a:latin typeface="Calibri"/>
              </a:rPr>
              <a:t>RXRELAY  /  02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20000"/>
            <a:ext cx="82296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3600" b="1">
                <a:solidFill>
                  <a:srgbClr val="04131F"/>
                </a:solidFill>
                <a:latin typeface="Calibri"/>
              </a:rPr>
              <a:t>The patient becomes the switchboard.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457200" y="1500000"/>
            <a:ext cx="8229600" cy="3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800">
                <a:solidFill>
                  <a:srgbClr val="5C6B78"/>
                </a:solidFill>
                <a:latin typeface="Calibri"/>
              </a:rPr>
              <a:t>When a prescription stalls, the person who needs it repeats the same story across pharmacy, clinic, and insurer.</a:t>
            </a:r>
          </a:p>
        </p:txBody>
      </p:sp>
      <p:sp>
        <p:nvSpPr>
          <p:cNvPr id="6" name="Bullet"/>
          <p:cNvSpPr txBox="1"/>
          <p:nvPr/>
        </p:nvSpPr>
        <p:spPr>
          <a:xfrm>
            <a:off x="537200" y="188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Pharmacy: "We need a prior authorization."</a:t>
            </a:r>
          </a:p>
        </p:txBody>
      </p:sp>
      <p:sp>
        <p:nvSpPr>
          <p:cNvPr id="7" name="Bullet"/>
          <p:cNvSpPr txBox="1"/>
          <p:nvPr/>
        </p:nvSpPr>
        <p:spPr>
          <a:xfrm>
            <a:off x="537200" y="222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Clinic: "We sent it — call your insurer."</a:t>
            </a:r>
          </a:p>
        </p:txBody>
      </p:sp>
      <p:sp>
        <p:nvSpPr>
          <p:cNvPr id="8" name="Bullet"/>
          <p:cNvSpPr txBox="1"/>
          <p:nvPr/>
        </p:nvSpPr>
        <p:spPr>
          <a:xfrm>
            <a:off x="537200" y="256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Insurer: "Ask the pharmacy for the status."</a:t>
            </a:r>
          </a:p>
        </p:txBody>
      </p:sp>
      <p:sp>
        <p:nvSpPr>
          <p:cNvPr id="9" name="Bullet"/>
          <p:cNvSpPr txBox="1"/>
          <p:nvPr/>
        </p:nvSpPr>
        <p:spPr>
          <a:xfrm>
            <a:off x="537200" y="290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The patient: calling again — no shared state, no owner.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457200" y="4723500"/>
            <a:ext cx="82296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>
                <a:solidFill>
                  <a:srgbClr val="5C6B78"/>
                </a:solidFill>
                <a:latin typeface="Calibri"/>
              </a:rPr>
              <a:t>Authorization friction turns patients into unpaid coordinators.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4131F"/>
      </a:solidFill>
      <a:effectLst/>
    </p:bgPr>
  </p:bg>
  <p:cSld name="Slide 3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Kicker"/>
          <p:cNvSpPr txBox="1"/>
          <p:nvPr/>
        </p:nvSpPr>
        <p:spPr>
          <a:xfrm>
            <a:off x="457200" y="180000"/>
            <a:ext cx="82296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 b="1">
                <a:solidFill>
                  <a:srgbClr val="39D6C0"/>
                </a:solidFill>
                <a:latin typeface="Calibri"/>
              </a:rPr>
              <a:t>THE MISSING LAYER</a:t>
            </a:r>
          </a:p>
        </p:txBody>
      </p:sp>
      <p:sp>
        <p:nvSpPr>
          <p:cNvPr id="3" name="SlideNum"/>
          <p:cNvSpPr txBox="1"/>
          <p:nvPr/>
        </p:nvSpPr>
        <p:spPr>
          <a:xfrm>
            <a:off x="7486800" y="18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r"/>
            <a:r>
              <a:rPr lang="en-US" sz="900" b="1">
                <a:solidFill>
                  <a:srgbClr val="8EA0AE"/>
                </a:solidFill>
                <a:latin typeface="Calibri"/>
              </a:rPr>
              <a:t>RXRELAY  /  03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20000"/>
            <a:ext cx="82296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3600" b="1">
                <a:solidFill>
                  <a:srgbClr val="FFFFFF"/>
                </a:solidFill>
                <a:latin typeface="Calibri"/>
              </a:rPr>
              <a:t>LLMs narrate completion. Access problems need evidence.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457200" y="1500000"/>
            <a:ext cx="8229600" cy="3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800">
                <a:solidFill>
                  <a:srgbClr val="8EA0AE"/>
                </a:solidFill>
                <a:latin typeface="Calibri"/>
              </a:rPr>
              <a:t>Today: call → hold → repeat → hope. No proof the next actor acted.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457200" y="1880000"/>
            <a:ext cx="8229600" cy="3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800">
                <a:solidFill>
                  <a:srgbClr val="8EA0AE"/>
                </a:solidFill>
                <a:latin typeface="Calibri"/>
              </a:rPr>
              <a:t>With RxRelay: consent → coordinate → verify. One case owns the handoffs.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457200" y="4723500"/>
            <a:ext cx="82296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>
                <a:solidFill>
                  <a:srgbClr val="8EA0AE"/>
                </a:solidFill>
                <a:latin typeface="Calibri"/>
              </a:rPr>
              <a:t>From conversational agent to accountable coordination system.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F4F7F9"/>
      </a:solidFill>
      <a:effectLst/>
    </p:bgPr>
  </p:bg>
  <p:cSld name="Slide 4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Kicker"/>
          <p:cNvSpPr txBox="1"/>
          <p:nvPr/>
        </p:nvSpPr>
        <p:spPr>
          <a:xfrm>
            <a:off x="457200" y="180000"/>
            <a:ext cx="82296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 b="1">
                <a:solidFill>
                  <a:srgbClr val="39D6C0"/>
                </a:solidFill>
                <a:latin typeface="Calibri"/>
              </a:rPr>
              <a:t>THE PRODUCT</a:t>
            </a:r>
          </a:p>
        </p:txBody>
      </p:sp>
      <p:sp>
        <p:nvSpPr>
          <p:cNvPr id="3" name="SlideNum"/>
          <p:cNvSpPr txBox="1"/>
          <p:nvPr/>
        </p:nvSpPr>
        <p:spPr>
          <a:xfrm>
            <a:off x="7486800" y="18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r"/>
            <a:r>
              <a:rPr lang="en-US" sz="900" b="1">
                <a:solidFill>
                  <a:srgbClr val="5C6B78"/>
                </a:solidFill>
                <a:latin typeface="Calibri"/>
              </a:rPr>
              <a:t>RXRELAY  /  04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20000"/>
            <a:ext cx="82296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3600" b="1">
                <a:solidFill>
                  <a:srgbClr val="04131F"/>
                </a:solidFill>
                <a:latin typeface="Calibri"/>
              </a:rPr>
              <a:t>A consent-first voice coordinator.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457200" y="1500000"/>
            <a:ext cx="8229600" cy="3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800">
                <a:solidFill>
                  <a:srgbClr val="5C6B78"/>
                </a:solidFill>
                <a:latin typeface="Calibri"/>
              </a:rPr>
              <a:t>One consented voice request becomes a case with an owner — coordinating status, not medicine.</a:t>
            </a:r>
          </a:p>
        </p:txBody>
      </p:sp>
      <p:sp>
        <p:nvSpPr>
          <p:cNvPr id="6" name="Bullet"/>
          <p:cNvSpPr txBox="1"/>
          <p:nvPr/>
        </p:nvSpPr>
        <p:spPr>
          <a:xfrm>
            <a:off x="537200" y="188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01 Ask once — narrow, explicit coordination consent</a:t>
            </a:r>
          </a:p>
        </p:txBody>
      </p:sp>
      <p:sp>
        <p:nvSpPr>
          <p:cNvPr id="7" name="Bullet"/>
          <p:cNvSpPr txBox="1"/>
          <p:nvPr/>
        </p:nvSpPr>
        <p:spPr>
          <a:xfrm>
            <a:off x="537200" y="222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02 Coordinate — non-clinical status follow-up only</a:t>
            </a:r>
          </a:p>
        </p:txBody>
      </p:sp>
      <p:sp>
        <p:nvSpPr>
          <p:cNvPr id="8" name="Bullet"/>
          <p:cNvSpPr txBox="1"/>
          <p:nvPr/>
        </p:nvSpPr>
        <p:spPr>
          <a:xfrm>
            <a:off x="537200" y="256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03 Prove — case open until outcome + patient update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457200" y="4723500"/>
            <a:ext cx="82296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>
                <a:solidFill>
                  <a:srgbClr val="5C6B78"/>
                </a:solidFill>
                <a:latin typeface="Calibri"/>
              </a:rPr>
              <a:t>The voice layer earns trust by visibly narrowing its authority.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4131F"/>
      </a:solidFill>
      <a:effectLst/>
    </p:bgPr>
  </p:bg>
  <p:cSld name="Slide 5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Kicker"/>
          <p:cNvSpPr txBox="1"/>
          <p:nvPr/>
        </p:nvSpPr>
        <p:spPr>
          <a:xfrm>
            <a:off x="457200" y="180000"/>
            <a:ext cx="82296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 b="1">
                <a:solidFill>
                  <a:srgbClr val="39D6C0"/>
                </a:solidFill>
                <a:latin typeface="Calibri"/>
              </a:rPr>
              <a:t>RESOLUTION GATE</a:t>
            </a:r>
          </a:p>
        </p:txBody>
      </p:sp>
      <p:sp>
        <p:nvSpPr>
          <p:cNvPr id="3" name="SlideNum"/>
          <p:cNvSpPr txBox="1"/>
          <p:nvPr/>
        </p:nvSpPr>
        <p:spPr>
          <a:xfrm>
            <a:off x="7486800" y="18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r"/>
            <a:r>
              <a:rPr lang="en-US" sz="900" b="1">
                <a:solidFill>
                  <a:srgbClr val="8EA0AE"/>
                </a:solidFill>
                <a:latin typeface="Calibri"/>
              </a:rPr>
              <a:t>RXRELAY  /  05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20000"/>
            <a:ext cx="82296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3600" b="1">
                <a:solidFill>
                  <a:srgbClr val="FFFFFF"/>
                </a:solidFill>
                <a:latin typeface="Calibri"/>
              </a:rPr>
              <a:t>A case turns green only when all four proofs arrive.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457200" y="1500000"/>
            <a:ext cx="8229600" cy="3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800">
                <a:solidFill>
                  <a:srgbClr val="8EA0AE"/>
                </a:solidFill>
                <a:latin typeface="Calibri"/>
              </a:rPr>
              <a:t>Deterministic close gate — activity is not resolution.</a:t>
            </a:r>
          </a:p>
        </p:txBody>
      </p:sp>
      <p:sp>
        <p:nvSpPr>
          <p:cNvPr id="6" name="Bullet"/>
          <p:cNvSpPr txBox="1"/>
          <p:nvPr/>
        </p:nvSpPr>
        <p:spPr>
          <a:xfrm>
            <a:off x="537200" y="188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consent ∧ permitted action ∧ counterpart outcome ∧ patient update</a:t>
            </a:r>
          </a:p>
        </p:txBody>
      </p:sp>
      <p:sp>
        <p:nvSpPr>
          <p:cNvPr id="7" name="Bullet"/>
          <p:cNvSpPr txBox="1"/>
          <p:nvPr/>
        </p:nvSpPr>
        <p:spPr>
          <a:xfrm>
            <a:off x="537200" y="222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00:00 Consent · 00:20 Pharmacy blocker · 00:45 Clinic · 01:10 Verify · 01:22 Patient SMS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457200" y="4723500"/>
            <a:ext cx="82296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>
                <a:solidFill>
                  <a:srgbClr val="8EA0AE"/>
                </a:solidFill>
                <a:latin typeface="Calibri"/>
              </a:rPr>
              <a:t>No evidence missing. Case can turn green.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4131F"/>
      </a:solidFill>
      <a:effectLst/>
    </p:bgPr>
  </p:bg>
  <p:cSld name="Slide 6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Kicker"/>
          <p:cNvSpPr txBox="1"/>
          <p:nvPr/>
        </p:nvSpPr>
        <p:spPr>
          <a:xfrm>
            <a:off x="457200" y="180000"/>
            <a:ext cx="82296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 b="1">
                <a:solidFill>
                  <a:srgbClr val="39D6C0"/>
                </a:solidFill>
                <a:latin typeface="Calibri"/>
              </a:rPr>
              <a:t>PAVO ROUTING</a:t>
            </a:r>
          </a:p>
        </p:txBody>
      </p:sp>
      <p:sp>
        <p:nvSpPr>
          <p:cNvPr id="3" name="SlideNum"/>
          <p:cNvSpPr txBox="1"/>
          <p:nvPr/>
        </p:nvSpPr>
        <p:spPr>
          <a:xfrm>
            <a:off x="7486800" y="18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r"/>
            <a:r>
              <a:rPr lang="en-US" sz="900" b="1">
                <a:solidFill>
                  <a:srgbClr val="8EA0AE"/>
                </a:solidFill>
                <a:latin typeface="Calibri"/>
              </a:rPr>
              <a:t>RXRELAY  /  06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20000"/>
            <a:ext cx="82296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3600" b="1">
                <a:solidFill>
                  <a:srgbClr val="FFFFFF"/>
                </a:solidFill>
                <a:latin typeface="Calibri"/>
              </a:rPr>
              <a:t>The coupling cliff: joint ASR, capture, and reasoning.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457200" y="1500000"/>
            <a:ext cx="8229600" cy="3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800">
                <a:solidFill>
                  <a:srgbClr val="8EA0AE"/>
                </a:solidFill>
                <a:latin typeface="Calibri"/>
              </a:rPr>
              <a:t>A stronger LLM cannot repair a misheard authorization number.</a:t>
            </a:r>
          </a:p>
        </p:txBody>
      </p:sp>
      <p:sp>
        <p:nvSpPr>
          <p:cNvPr id="6" name="Bullet"/>
          <p:cNvSpPr txBox="1"/>
          <p:nvPr/>
        </p:nvSpPr>
        <p:spPr>
          <a:xfrm>
            <a:off x="537200" y="188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FAST — greetings / yes-no · compact reasoning</a:t>
            </a:r>
          </a:p>
        </p:txBody>
      </p:sp>
      <p:sp>
        <p:nvSpPr>
          <p:cNvPr id="7" name="Bullet"/>
          <p:cNvSpPr txBox="1"/>
          <p:nvPr/>
        </p:nvSpPr>
        <p:spPr>
          <a:xfrm>
            <a:off x="537200" y="222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BALANCED — routine coordination · reliable speech → tools</a:t>
            </a:r>
          </a:p>
        </p:txBody>
      </p:sp>
      <p:sp>
        <p:nvSpPr>
          <p:cNvPr id="8" name="Bullet"/>
          <p:cNvSpPr txBox="1"/>
          <p:nvPr/>
        </p:nvSpPr>
        <p:spPr>
          <a:xfrm>
            <a:off x="537200" y="256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VERIFIED — names, dates, prior auth · TeXML speech + DTMF, strong model (not multi-vendor ASR theater)</a:t>
            </a:r>
          </a:p>
        </p:txBody>
      </p:sp>
      <p:sp>
        <p:nvSpPr>
          <p:cNvPr id="9" name="Bullet"/>
          <p:cNvSpPr txBox="1"/>
          <p:nvPr/>
        </p:nvSpPr>
        <p:spPr>
          <a:xfrm>
            <a:off x="537200" y="290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SAFE STOP — clinical / unsafe → human queue, no action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457200" y="4723500"/>
            <a:ext cx="82296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>
                <a:solidFill>
                  <a:srgbClr val="8EA0AE"/>
                </a:solidFill>
                <a:latin typeface="Calibri"/>
              </a:rPr>
              <a:t>Demand-conditioned routing · confidence · noise · critical entities · action risk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F4F7F9"/>
      </a:solidFill>
      <a:effectLst/>
    </p:bgPr>
  </p:bg>
  <p:cSld name="Slide 7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Kicker"/>
          <p:cNvSpPr txBox="1"/>
          <p:nvPr/>
        </p:nvSpPr>
        <p:spPr>
          <a:xfrm>
            <a:off x="457200" y="180000"/>
            <a:ext cx="82296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 b="1">
                <a:solidFill>
                  <a:srgbClr val="39D6C0"/>
                </a:solidFill>
                <a:latin typeface="Calibri"/>
              </a:rPr>
              <a:t>LIVE SURFACES</a:t>
            </a:r>
          </a:p>
        </p:txBody>
      </p:sp>
      <p:sp>
        <p:nvSpPr>
          <p:cNvPr id="3" name="SlideNum"/>
          <p:cNvSpPr txBox="1"/>
          <p:nvPr/>
        </p:nvSpPr>
        <p:spPr>
          <a:xfrm>
            <a:off x="7486800" y="18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r"/>
            <a:r>
              <a:rPr lang="en-US" sz="900" b="1">
                <a:solidFill>
                  <a:srgbClr val="5C6B78"/>
                </a:solidFill>
                <a:latin typeface="Calibri"/>
              </a:rPr>
              <a:t>RXRELAY  /  07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20000"/>
            <a:ext cx="82296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3600" b="1">
                <a:solidFill>
                  <a:srgbClr val="04131F"/>
                </a:solidFill>
                <a:latin typeface="Calibri"/>
              </a:rPr>
              <a:t>Every stakeholder sees the same evidence.</a:t>
            </a:r>
          </a:p>
        </p:txBody>
      </p:sp>
      <p:sp>
        <p:nvSpPr>
          <p:cNvPr id="5" name="Bullet"/>
          <p:cNvSpPr txBox="1"/>
          <p:nvPr/>
        </p:nvSpPr>
        <p:spPr>
          <a:xfrm>
            <a:off x="537200" y="150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Proof board — lanes, timeline, 4/4 gate</a:t>
            </a:r>
          </a:p>
        </p:txBody>
      </p:sp>
      <p:sp>
        <p:nvSpPr>
          <p:cNvPr id="6" name="Bullet"/>
          <p:cNvSpPr txBox="1"/>
          <p:nvPr/>
        </p:nvSpPr>
        <p:spPr>
          <a:xfrm>
            <a:off x="537200" y="184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Counterpart portal — structured pharmacy / clinic outcomes</a:t>
            </a:r>
          </a:p>
        </p:txBody>
      </p:sp>
      <p:sp>
        <p:nvSpPr>
          <p:cNvPr id="7" name="Bullet"/>
          <p:cNvSpPr txBox="1"/>
          <p:nvPr/>
        </p:nvSpPr>
        <p:spPr>
          <a:xfrm>
            <a:off x="537200" y="218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Signed receipts — audit trail for consent and action</a:t>
            </a:r>
          </a:p>
        </p:txBody>
      </p:sp>
      <p:sp>
        <p:nvSpPr>
          <p:cNvPr id="8" name="Bullet"/>
          <p:cNvSpPr txBox="1"/>
          <p:nvPr/>
        </p:nvSpPr>
        <p:spPr>
          <a:xfrm>
            <a:off x="537200" y="252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Human ops queue — escalation for ambiguous / clinical</a:t>
            </a:r>
          </a:p>
        </p:txBody>
      </p:sp>
      <p:sp>
        <p:nvSpPr>
          <p:cNvPr id="9" name="Bullet"/>
          <p:cNvSpPr txBox="1"/>
          <p:nvPr/>
        </p:nvSpPr>
        <p:spPr>
          <a:xfrm>
            <a:off x="537200" y="286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SSE stream — live case updates, no pre-baked animation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457200" y="4723500"/>
            <a:ext cx="82296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>
                <a:solidFill>
                  <a:srgbClr val="5C6B78"/>
                </a:solidFill>
                <a:latin typeface="Calibri"/>
              </a:rPr>
              <a:t>UI actions hit the real demo state machine.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4131F"/>
      </a:solidFill>
      <a:effectLst/>
    </p:bgPr>
  </p:bg>
  <p:cSld name="Slide 8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Kicker"/>
          <p:cNvSpPr txBox="1"/>
          <p:nvPr/>
        </p:nvSpPr>
        <p:spPr>
          <a:xfrm>
            <a:off x="457200" y="180000"/>
            <a:ext cx="82296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 b="1">
                <a:solidFill>
                  <a:srgbClr val="39D6C0"/>
                </a:solidFill>
                <a:latin typeface="Calibri"/>
              </a:rPr>
              <a:t>ARCHITECTURE</a:t>
            </a:r>
          </a:p>
        </p:txBody>
      </p:sp>
      <p:sp>
        <p:nvSpPr>
          <p:cNvPr id="3" name="SlideNum"/>
          <p:cNvSpPr txBox="1"/>
          <p:nvPr/>
        </p:nvSpPr>
        <p:spPr>
          <a:xfrm>
            <a:off x="7486800" y="18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r"/>
            <a:r>
              <a:rPr lang="en-US" sz="900" b="1">
                <a:solidFill>
                  <a:srgbClr val="8EA0AE"/>
                </a:solidFill>
                <a:latin typeface="Calibri"/>
              </a:rPr>
              <a:t>RXRELAY  /  08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20000"/>
            <a:ext cx="82296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3600" b="1">
                <a:solidFill>
                  <a:srgbClr val="FFFFFF"/>
                </a:solidFill>
                <a:latin typeface="Calibri"/>
              </a:rPr>
              <a:t>Voice-server blast radius. Dashboard stays local.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457200" y="1500000"/>
            <a:ext cx="8229600" cy="3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800">
                <a:solidFill>
                  <a:srgbClr val="8EA0AE"/>
                </a:solidFill>
                <a:latin typeface="Calibri"/>
              </a:rPr>
              <a:t>LLM proposes language. Policy + evidence decide what may happen. Public tunnel never reaches dashboard.</a:t>
            </a:r>
          </a:p>
        </p:txBody>
      </p:sp>
      <p:sp>
        <p:nvSpPr>
          <p:cNvPr id="6" name="Bullet"/>
          <p:cNvSpPr txBox="1"/>
          <p:nvPr/>
        </p:nvSpPr>
        <p:spPr>
          <a:xfrm>
            <a:off x="537200" y="188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Public edge: OTP caller · Cloudflare → :3001 · a1mobile TeXML</a:t>
            </a:r>
          </a:p>
        </p:txBody>
      </p:sp>
      <p:sp>
        <p:nvSpPr>
          <p:cNvPr id="7" name="Bullet"/>
          <p:cNvSpPr txBox="1"/>
          <p:nvPr/>
        </p:nvSpPr>
        <p:spPr>
          <a:xfrm>
            <a:off x="537200" y="222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Voice process: voice-server.mjs · consent parse · safe stop</a:t>
            </a:r>
          </a:p>
        </p:txBody>
      </p:sp>
      <p:sp>
        <p:nvSpPr>
          <p:cNvPr id="8" name="Bullet"/>
          <p:cNvSpPr txBox="1"/>
          <p:nvPr/>
        </p:nvSpPr>
        <p:spPr>
          <a:xfrm>
            <a:off x="537200" y="256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Core: PAVO router · inference · CaseStore proof gate</a:t>
            </a:r>
          </a:p>
        </p:txBody>
      </p:sp>
      <p:sp>
        <p:nvSpPr>
          <p:cNvPr id="9" name="Bullet"/>
          <p:cNvSpPr txBox="1"/>
          <p:nvPr/>
        </p:nvSpPr>
        <p:spPr>
          <a:xfrm>
            <a:off x="537200" y="290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Dashboard local :3000 · MCP/API · telephony sandbox default</a:t>
            </a:r>
          </a:p>
        </p:txBody>
      </p:sp>
      <p:sp>
        <p:nvSpPr>
          <p:cNvPr id="10" name="Bullet"/>
          <p:cNvSpPr txBox="1"/>
          <p:nvPr/>
        </p:nvSpPr>
        <p:spPr>
          <a:xfrm>
            <a:off x="537200" y="324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Proof flags never set by model text alone</a:t>
            </a:r>
          </a:p>
        </p:txBody>
      </p:sp>
      <p:sp>
        <p:nvSpPr>
          <p:cNvPr id="11" name="Footer"/>
          <p:cNvSpPr txBox="1"/>
          <p:nvPr/>
        </p:nvSpPr>
        <p:spPr>
          <a:xfrm>
            <a:off x="457200" y="4723500"/>
            <a:ext cx="82296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>
                <a:solidFill>
                  <a:srgbClr val="8EA0AE"/>
                </a:solidFill>
                <a:latin typeface="Calibri"/>
              </a:rPr>
              <a:t>Blast radius of public URL = three TeXML routes.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F4F7F9"/>
      </a:solidFill>
      <a:effectLst/>
    </p:bgPr>
  </p:bg>
  <p:cSld name="Slide 9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Kicker"/>
          <p:cNvSpPr txBox="1"/>
          <p:nvPr/>
        </p:nvSpPr>
        <p:spPr>
          <a:xfrm>
            <a:off x="457200" y="180000"/>
            <a:ext cx="82296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 b="1">
                <a:solidFill>
                  <a:srgbClr val="39D6C0"/>
                </a:solidFill>
                <a:latin typeface="Calibri"/>
              </a:rPr>
              <a:t>TRUST BY CONSTRUCTION</a:t>
            </a:r>
          </a:p>
        </p:txBody>
      </p:sp>
      <p:sp>
        <p:nvSpPr>
          <p:cNvPr id="3" name="SlideNum"/>
          <p:cNvSpPr txBox="1"/>
          <p:nvPr/>
        </p:nvSpPr>
        <p:spPr>
          <a:xfrm>
            <a:off x="7486800" y="18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r"/>
            <a:r>
              <a:rPr lang="en-US" sz="900" b="1">
                <a:solidFill>
                  <a:srgbClr val="5C6B78"/>
                </a:solidFill>
                <a:latin typeface="Calibri"/>
              </a:rPr>
              <a:t>RXRELAY  /  09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20000"/>
            <a:ext cx="82296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3600" b="1">
                <a:solidFill>
                  <a:srgbClr val="04131F"/>
                </a:solidFill>
                <a:latin typeface="Calibri"/>
              </a:rPr>
              <a:t>What we refuse.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457200" y="1500000"/>
            <a:ext cx="8229600" cy="3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800">
                <a:solidFill>
                  <a:srgbClr val="5C6B78"/>
                </a:solidFill>
                <a:latin typeface="Calibri"/>
              </a:rPr>
              <a:t>Aggressively useful inside a narrow boundary — visibly humble outside it.</a:t>
            </a:r>
          </a:p>
        </p:txBody>
      </p:sp>
      <p:sp>
        <p:nvSpPr>
          <p:cNvPr id="6" name="Bullet"/>
          <p:cNvSpPr txBox="1"/>
          <p:nvPr/>
        </p:nvSpPr>
        <p:spPr>
          <a:xfrm>
            <a:off x="537200" y="188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CAN: record consent · check status · document outcomes · send consented updates</a:t>
            </a:r>
          </a:p>
        </p:txBody>
      </p:sp>
      <p:sp>
        <p:nvSpPr>
          <p:cNvPr id="7" name="Bullet"/>
          <p:cNvSpPr txBox="1"/>
          <p:nvPr/>
        </p:nvSpPr>
        <p:spPr>
          <a:xfrm>
            <a:off x="537200" y="222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WILL NOT: clinical advice · Rx changes · controlled inventory · unconsented contact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457200" y="4723500"/>
            <a:ext cx="82296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>
                <a:solidFill>
                  <a:srgbClr val="5C6B78"/>
                </a:solidFill>
                <a:latin typeface="Calibri"/>
              </a:rPr>
              <a:t>The wow factor is knowing when not to act.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4131F"/>
      </a:solidFill>
      <a:effectLst/>
    </p:bgPr>
  </p:bg>
  <p:cSld name="Slide 10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Kicker"/>
          <p:cNvSpPr txBox="1"/>
          <p:nvPr/>
        </p:nvSpPr>
        <p:spPr>
          <a:xfrm>
            <a:off x="457200" y="180000"/>
            <a:ext cx="82296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 b="1">
                <a:solidFill>
                  <a:srgbClr val="39D6C0"/>
                </a:solidFill>
                <a:latin typeface="Calibri"/>
              </a:rPr>
              <a:t>DEMO PATH</a:t>
            </a:r>
          </a:p>
        </p:txBody>
      </p:sp>
      <p:sp>
        <p:nvSpPr>
          <p:cNvPr id="3" name="SlideNum"/>
          <p:cNvSpPr txBox="1"/>
          <p:nvPr/>
        </p:nvSpPr>
        <p:spPr>
          <a:xfrm>
            <a:off x="7486800" y="18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r"/>
            <a:r>
              <a:rPr lang="en-US" sz="900" b="1">
                <a:solidFill>
                  <a:srgbClr val="8EA0AE"/>
                </a:solidFill>
                <a:latin typeface="Calibri"/>
              </a:rPr>
              <a:t>RXRELAY  /  10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20000"/>
            <a:ext cx="82296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3600" b="1">
                <a:solidFill>
                  <a:srgbClr val="FFFFFF"/>
                </a:solidFill>
                <a:latin typeface="Calibri"/>
              </a:rPr>
              <a:t>Sandbox E2E + live call flow.</a:t>
            </a:r>
          </a:p>
        </p:txBody>
      </p:sp>
      <p:sp>
        <p:nvSpPr>
          <p:cNvPr id="5" name="Bullet"/>
          <p:cNvSpPr txBox="1"/>
          <p:nvPr/>
        </p:nvSpPr>
        <p:spPr>
          <a:xfrm>
            <a:off x="537200" y="150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Dashboard: npm run dev → proof board → counterpart actions → 4/4 gate → SSE</a:t>
            </a:r>
          </a:p>
        </p:txBody>
      </p:sp>
      <p:sp>
        <p:nvSpPr>
          <p:cNvPr id="6" name="Bullet"/>
          <p:cNvSpPr txBox="1"/>
          <p:nvPr/>
        </p:nvSpPr>
        <p:spPr>
          <a:xfrm>
            <a:off x="537200" y="184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Voice: npm run voice → tunnel :3001 → TeXML → consent → PAVO → case transitions</a:t>
            </a:r>
          </a:p>
        </p:txBody>
      </p:sp>
      <p:sp>
        <p:nvSpPr>
          <p:cNvPr id="7" name="Bullet"/>
          <p:cNvSpPr txBox="1"/>
          <p:nvPr/>
        </p:nvSpPr>
        <p:spPr>
          <a:xfrm>
            <a:off x="537200" y="218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Safe branch → green · unsafe branch → human queue · call the claimed number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457200" y="4723500"/>
            <a:ext cx="82296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>
                <a:solidFill>
                  <a:srgbClr val="8EA0AE"/>
                </a:solidFill>
                <a:latin typeface="Calibri"/>
              </a:rPr>
              <a:t>Judged flow is deterministic, visible, and safe end-to-end.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F4F7F9"/>
      </a:solidFill>
      <a:effectLst/>
    </p:bgPr>
  </p:bg>
  <p:cSld name="Slide 11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Kicker"/>
          <p:cNvSpPr txBox="1"/>
          <p:nvPr/>
        </p:nvSpPr>
        <p:spPr>
          <a:xfrm>
            <a:off x="457200" y="180000"/>
            <a:ext cx="82296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 b="1">
                <a:solidFill>
                  <a:srgbClr val="39D6C0"/>
                </a:solidFill>
                <a:latin typeface="Calibri"/>
              </a:rPr>
              <a:t>WHY INVEST / CATALYST FIT</a:t>
            </a:r>
          </a:p>
        </p:txBody>
      </p:sp>
      <p:sp>
        <p:nvSpPr>
          <p:cNvPr id="3" name="SlideNum"/>
          <p:cNvSpPr txBox="1"/>
          <p:nvPr/>
        </p:nvSpPr>
        <p:spPr>
          <a:xfrm>
            <a:off x="7486800" y="18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r"/>
            <a:r>
              <a:rPr lang="en-US" sz="900" b="1">
                <a:solidFill>
                  <a:srgbClr val="5C6B78"/>
                </a:solidFill>
                <a:latin typeface="Calibri"/>
              </a:rPr>
              <a:t>RXRELAY  /  11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20000"/>
            <a:ext cx="82296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3600" b="1">
                <a:solidFill>
                  <a:srgbClr val="04131F"/>
                </a:solidFill>
                <a:latin typeface="Calibri"/>
              </a:rPr>
              <a:t>Evidence culture. Load-bearing network. Open research.</a:t>
            </a:r>
          </a:p>
        </p:txBody>
      </p:sp>
      <p:sp>
        <p:nvSpPr>
          <p:cNvPr id="5" name="Bullet"/>
          <p:cNvSpPr txBox="1"/>
          <p:nvPr/>
        </p:nvSpPr>
        <p:spPr>
          <a:xfrm>
            <a:off x="537200" y="150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Evidence culture — proof gates, signed receipts, Groundtruth / MCP Observatory discipline</a:t>
            </a:r>
          </a:p>
        </p:txBody>
      </p:sp>
      <p:sp>
        <p:nvSpPr>
          <p:cNvPr id="6" name="Bullet"/>
          <p:cNvSpPr txBox="1"/>
          <p:nvPr/>
        </p:nvSpPr>
        <p:spPr>
          <a:xfrm>
            <a:off x="537200" y="184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a1 network — TeXML voice, OTP SMS, number verify — real telco primitives</a:t>
            </a:r>
          </a:p>
        </p:txBody>
      </p:sp>
      <p:sp>
        <p:nvSpPr>
          <p:cNvPr id="7" name="Bullet"/>
          <p:cNvSpPr txBox="1"/>
          <p:nvPr/>
        </p:nvSpPr>
        <p:spPr>
          <a:xfrm>
            <a:off x="537200" y="218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Open research PAVO — paper + pavo-bench benchmark alongside product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457200" y="4723500"/>
            <a:ext cx="82296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>
                <a:solidFill>
                  <a:srgbClr val="5C6B78"/>
                </a:solidFill>
                <a:latin typeface="Calibri"/>
              </a:rPr>
              <a:t>Real problem · real voice UX · real safety · it actually runs.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4131F"/>
      </a:solidFill>
      <a:effectLst/>
    </p:bgPr>
  </p:bg>
  <p:cSld name="Slide 12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Kicker"/>
          <p:cNvSpPr txBox="1"/>
          <p:nvPr/>
        </p:nvSpPr>
        <p:spPr>
          <a:xfrm>
            <a:off x="457200" y="180000"/>
            <a:ext cx="82296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 b="1">
                <a:solidFill>
                  <a:srgbClr val="39D6C0"/>
                </a:solidFill>
                <a:latin typeface="Calibri"/>
              </a:rPr>
              <a:t>ASK</a:t>
            </a:r>
          </a:p>
        </p:txBody>
      </p:sp>
      <p:sp>
        <p:nvSpPr>
          <p:cNvPr id="3" name="SlideNum"/>
          <p:cNvSpPr txBox="1"/>
          <p:nvPr/>
        </p:nvSpPr>
        <p:spPr>
          <a:xfrm>
            <a:off x="7486800" y="18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r"/>
            <a:r>
              <a:rPr lang="en-US" sz="900" b="1">
                <a:solidFill>
                  <a:srgbClr val="8EA0AE"/>
                </a:solidFill>
                <a:latin typeface="Calibri"/>
              </a:rPr>
              <a:t>RXRELAY  /  12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20000"/>
            <a:ext cx="82296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3600" b="1">
                <a:solidFill>
                  <a:srgbClr val="FFFFFF"/>
                </a:solidFill>
                <a:latin typeface="Calibri"/>
              </a:rPr>
              <a:t>A prescription should not fail because coordination did.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457200" y="1500000"/>
            <a:ext cx="8229600" cy="3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800">
                <a:solidFill>
                  <a:srgbClr val="8EA0AE"/>
                </a:solidFill>
                <a:latin typeface="Calibri"/>
              </a:rPr>
              <a:t>RxRelay turns a consented call into a verifiable outcome.</a:t>
            </a:r>
          </a:p>
        </p:txBody>
      </p:sp>
      <p:sp>
        <p:nvSpPr>
          <p:cNvPr id="6" name="Bullet"/>
          <p:cNvSpPr txBox="1"/>
          <p:nvPr/>
        </p:nvSpPr>
        <p:spPr>
          <a:xfrm>
            <a:off x="537200" y="188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github.com/vnmoorthy/rxrelay</a:t>
            </a:r>
          </a:p>
        </p:txBody>
      </p:sp>
      <p:sp>
        <p:nvSpPr>
          <p:cNvPr id="7" name="Bullet"/>
          <p:cNvSpPr txBox="1"/>
          <p:nvPr/>
        </p:nvSpPr>
        <p:spPr>
          <a:xfrm>
            <a:off x="537200" y="222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openreview.net/forum?id=zrneoIxlFx · PAVO paper</a:t>
            </a:r>
          </a:p>
        </p:txBody>
      </p:sp>
      <p:sp>
        <p:nvSpPr>
          <p:cNvPr id="8" name="Bullet"/>
          <p:cNvSpPr txBox="1"/>
          <p:nvPr/>
        </p:nvSpPr>
        <p:spPr>
          <a:xfrm>
            <a:off x="537200" y="256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Next: live OTP SMS + production tunnel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457200" y="4723500"/>
            <a:ext cx="82296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>
                <a:solidFill>
                  <a:srgbClr val="8EA0AE"/>
                </a:solidFill>
                <a:latin typeface="Calibri"/>
              </a:rPr>
              <a:t>RxRelay · Proof, not promises.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xRelay">
  <a:themeElements>
    <a:clrScheme name="RxRelay">
      <a:dk1>
        <a:srgbClr val="04131F"/>
      </a:dk1>
      <a:lt1>
        <a:srgbClr val="FFFFFF"/>
      </a:lt1>
      <a:dk2>
        <a:srgbClr val="0B2436"/>
      </a:dk2>
      <a:lt2>
        <a:srgbClr val="F4F7F9"/>
      </a:lt2>
      <a:accent1>
        <a:srgbClr val="0F9F8C"/>
      </a:accent1>
      <a:accent2>
        <a:srgbClr val="39D6C0"/>
      </a:accent2>
      <a:accent3>
        <a:srgbClr val="D8892A"/>
      </a:accent3>
      <a:accent4>
        <a:srgbClr val="C24B45"/>
      </a:accent4>
      <a:accent5>
        <a:srgbClr val="2F6FBF"/>
      </a:accent5>
      <a:accent6>
        <a:srgbClr val="8EA0AE"/>
      </a:accent6>
      <a:hlink>
        <a:srgbClr val="39D6C0"/>
      </a:hlink>
      <a:folHlink>
        <a:srgbClr val="0F9F8C"/>
      </a:folHlink>
    </a:clrScheme>
    <a:fontScheme name="RxRelay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Node.js</Application>
  <Slides>12</Slides>
  <PresentationFormat>On-screen Show (16:9)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RxRelay Hackathon Pitch</dc:title>
  <dc:creator>RxRelay</dc:creator>
  <dc:description>Proof, not promises — consent-first voice coordination</dc:description>
  <cp:lastModifiedBy>build-deck.mjs</cp:lastModifiedBy>
</cp:coreProperties>
</file>