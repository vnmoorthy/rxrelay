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04235e14e024911" /><Relationship Type="http://schemas.openxmlformats.org/officeDocument/2006/relationships/extended-properties" Target="/docProps/app.xml" Id="R04be637057fc491d" /><Relationship Type="http://schemas.openxmlformats.org/officeDocument/2006/relationships/officeDocument" Target="/ppt/presentation.xml" Id="R82c9238a93514c37" /></Relationships>
</file>

<file path=ppt/presentation.xml><?xml version="1.0" encoding="utf-8"?>
<p:presentation xmlns:p="http://schemas.openxmlformats.org/presentationml/2006/main">
  <p:sldMasterIdLst>
    <p:sldMasterId xmlns:r="http://schemas.openxmlformats.org/officeDocument/2006/relationships" id="2147483648" r:id="Rc0b9a91883cc4a47"/>
  </p:sldMasterIdLst>
  <p:notesMasterIdLst>
    <p:notesMasterId xmlns:r="http://schemas.openxmlformats.org/officeDocument/2006/relationships" r:id="R9ceeb4dc726b4351"/>
  </p:notesMasterIdLst>
  <p:sldIdLst>
    <p:sldId xmlns:r="http://schemas.openxmlformats.org/officeDocument/2006/relationships" id="256" r:id="Rbca8fa1eebf14b61"/>
    <p:sldId xmlns:r="http://schemas.openxmlformats.org/officeDocument/2006/relationships" id="257" r:id="R783565269b384524"/>
    <p:sldId xmlns:r="http://schemas.openxmlformats.org/officeDocument/2006/relationships" id="258" r:id="Ra27a2d5c5b364f53"/>
    <p:sldId xmlns:r="http://schemas.openxmlformats.org/officeDocument/2006/relationships" id="259" r:id="Rfd9becf52f1f41e4"/>
    <p:sldId xmlns:r="http://schemas.openxmlformats.org/officeDocument/2006/relationships" id="260" r:id="R10784f88a5354e97"/>
    <p:sldId xmlns:r="http://schemas.openxmlformats.org/officeDocument/2006/relationships" id="261" r:id="R28b795a458e240ec"/>
    <p:sldId xmlns:r="http://schemas.openxmlformats.org/officeDocument/2006/relationships" id="262" r:id="R308c895ff25e47c6"/>
    <p:sldId xmlns:r="http://schemas.openxmlformats.org/officeDocument/2006/relationships" id="263" r:id="R673d4abe11024f78"/>
    <p:sldId xmlns:r="http://schemas.openxmlformats.org/officeDocument/2006/relationships" id="264" r:id="R815b291babcc4278"/>
    <p:sldId xmlns:r="http://schemas.openxmlformats.org/officeDocument/2006/relationships" id="265" r:id="Rdd8f831312944f8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71b5165d6364ee2" /><Relationship Type="http://schemas.openxmlformats.org/officeDocument/2006/relationships/slideMaster" Target="/ppt/slideMasters/slideMaster1.xml" Id="Rc0b9a91883cc4a47" /><Relationship Type="http://schemas.openxmlformats.org/officeDocument/2006/relationships/notesMaster" Target="/ppt/notesMasters/notesMaster1.xml" Id="R9ceeb4dc726b4351" /><Relationship Type="http://schemas.openxmlformats.org/officeDocument/2006/relationships/presProps" Target="/ppt/presProps.xml" Id="R751d72c95f2d4451" /><Relationship Type="http://schemas.openxmlformats.org/officeDocument/2006/relationships/tableStyles" Target="/ppt/tableStyles.xml" Id="Ra9b668bdeb92498d" /><Relationship Type="http://schemas.openxmlformats.org/officeDocument/2006/relationships/slide" Target="/ppt/slides/slide1.xml" Id="Rbca8fa1eebf14b61" /><Relationship Type="http://schemas.openxmlformats.org/officeDocument/2006/relationships/slide" Target="/ppt/slides/slide2.xml" Id="R783565269b384524" /><Relationship Type="http://schemas.openxmlformats.org/officeDocument/2006/relationships/slide" Target="/ppt/slides/slide3.xml" Id="Ra27a2d5c5b364f53" /><Relationship Type="http://schemas.openxmlformats.org/officeDocument/2006/relationships/slide" Target="/ppt/slides/slide4.xml" Id="Rfd9becf52f1f41e4" /><Relationship Type="http://schemas.openxmlformats.org/officeDocument/2006/relationships/slide" Target="/ppt/slides/slide5.xml" Id="R10784f88a5354e97" /><Relationship Type="http://schemas.openxmlformats.org/officeDocument/2006/relationships/slide" Target="/ppt/slides/slide6.xml" Id="R28b795a458e240ec" /><Relationship Type="http://schemas.openxmlformats.org/officeDocument/2006/relationships/slide" Target="/ppt/slides/slide7.xml" Id="R308c895ff25e47c6" /><Relationship Type="http://schemas.openxmlformats.org/officeDocument/2006/relationships/slide" Target="/ppt/slides/slide8.xml" Id="R673d4abe11024f78" /><Relationship Type="http://schemas.openxmlformats.org/officeDocument/2006/relationships/slide" Target="/ppt/slides/slide9.xml" Id="R815b291babcc4278" /><Relationship Type="http://schemas.openxmlformats.org/officeDocument/2006/relationships/slide" Target="/ppt/slides/slide10.xml" Id="Rdd8f831312944f8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052b48a75ff40d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fe1cde51b1748e5" /><Relationship Type="http://schemas.openxmlformats.org/officeDocument/2006/relationships/notesMaster" Target="/ppt/notesMasters/notesMaster1.xml" Id="Re3cfa86d43f54505" /></Relationships>
</file>

<file path=ppt/notesSlides/_rels/notesSlide2.xml.rels>&#65279;<?xml version="1.0" encoding="utf-8"?><Relationships xmlns="http://schemas.openxmlformats.org/package/2006/relationships"><Relationship Type="http://schemas.openxmlformats.org/officeDocument/2006/relationships/slide" Target="/ppt/slides/slide2.xml" Id="Rf6e42b7528da4184" /><Relationship Type="http://schemas.openxmlformats.org/officeDocument/2006/relationships/notesMaster" Target="/ppt/notesMasters/notesMaster1.xml" Id="Rc06df0da708a4184" /></Relationships>
</file>

<file path=ppt/notesSlides/_rels/notesSlide3.xml.rels>&#65279;<?xml version="1.0" encoding="utf-8"?><Relationships xmlns="http://schemas.openxmlformats.org/package/2006/relationships"><Relationship Type="http://schemas.openxmlformats.org/officeDocument/2006/relationships/slide" Target="/ppt/slides/slide3.xml" Id="Ra6916e1ba1a247fd" /><Relationship Type="http://schemas.openxmlformats.org/officeDocument/2006/relationships/notesMaster" Target="/ppt/notesMasters/notesMaster1.xml" Id="Rc0815452c288498e" /></Relationships>
</file>

<file path=ppt/notesSlides/_rels/notesSlide4.xml.rels>&#65279;<?xml version="1.0" encoding="utf-8"?><Relationships xmlns="http://schemas.openxmlformats.org/package/2006/relationships"><Relationship Type="http://schemas.openxmlformats.org/officeDocument/2006/relationships/slide" Target="/ppt/slides/slide4.xml" Id="R5c4f38f717514157" /><Relationship Type="http://schemas.openxmlformats.org/officeDocument/2006/relationships/notesMaster" Target="/ppt/notesMasters/notesMaster1.xml" Id="R1dd77f7fe87540c7" /></Relationships>
</file>

<file path=ppt/notesSlides/_rels/notesSlide5.xml.rels>&#65279;<?xml version="1.0" encoding="utf-8"?><Relationships xmlns="http://schemas.openxmlformats.org/package/2006/relationships"><Relationship Type="http://schemas.openxmlformats.org/officeDocument/2006/relationships/slide" Target="/ppt/slides/slide5.xml" Id="Ra2c12024f2bc4e79" /><Relationship Type="http://schemas.openxmlformats.org/officeDocument/2006/relationships/notesMaster" Target="/ppt/notesMasters/notesMaster1.xml" Id="R71568f62a34944fa" /></Relationships>
</file>

<file path=ppt/notesSlides/_rels/notesSlide6.xml.rels>&#65279;<?xml version="1.0" encoding="utf-8"?><Relationships xmlns="http://schemas.openxmlformats.org/package/2006/relationships"><Relationship Type="http://schemas.openxmlformats.org/officeDocument/2006/relationships/slide" Target="/ppt/slides/slide6.xml" Id="Rb06ed8bb2a294ed0" /><Relationship Type="http://schemas.openxmlformats.org/officeDocument/2006/relationships/notesMaster" Target="/ppt/notesMasters/notesMaster1.xml" Id="R9b22bc4a57704b74" /></Relationships>
</file>

<file path=ppt/notesSlides/_rels/notesSlide7.xml.rels>&#65279;<?xml version="1.0" encoding="utf-8"?><Relationships xmlns="http://schemas.openxmlformats.org/package/2006/relationships"><Relationship Type="http://schemas.openxmlformats.org/officeDocument/2006/relationships/slide" Target="/ppt/slides/slide7.xml" Id="Rb0872ac81f4a470d" /><Relationship Type="http://schemas.openxmlformats.org/officeDocument/2006/relationships/notesMaster" Target="/ppt/notesMasters/notesMaster1.xml" Id="R9ea54f5ddefd47cb" /></Relationships>
</file>

<file path=ppt/notesSlides/_rels/notesSlide8.xml.rels>&#65279;<?xml version="1.0" encoding="utf-8"?><Relationships xmlns="http://schemas.openxmlformats.org/package/2006/relationships"><Relationship Type="http://schemas.openxmlformats.org/officeDocument/2006/relationships/slide" Target="/ppt/slides/slide8.xml" Id="R071e2dd71eba452a" /><Relationship Type="http://schemas.openxmlformats.org/officeDocument/2006/relationships/notesMaster" Target="/ppt/notesMasters/notesMaster1.xml" Id="R3dc4b12e413749f7" /></Relationships>
</file>

<file path=ppt/notesSlides/_rels/notesSlide9.xml.rels>&#65279;<?xml version="1.0" encoding="utf-8"?><Relationships xmlns="http://schemas.openxmlformats.org/package/2006/relationships"><Relationship Type="http://schemas.openxmlformats.org/officeDocument/2006/relationships/slide" Target="/ppt/slides/slide9.xml" Id="Re544acf43e3743cb" /><Relationship Type="http://schemas.openxmlformats.org/officeDocument/2006/relationships/notesMaster" Target="/ppt/notesMasters/notesMaster1.xml" Id="R894d3369276c4dd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8cfd22a6cad41bc" /><Relationship Type="http://schemas.openxmlformats.org/officeDocument/2006/relationships/notesMaster" Target="/ppt/notesMasters/notesMaster1.xml" Id="R8b5dba840b754d3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outcome. Do not start by saying ‘an AI agent.’ Say what becomes possible for someone stranded between systems: one consented request, followed until evidence exists.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community voices carefully: these are not prevalence statistics. They make the operational burden emotionally concrete. Say: ‘We heard people describe calling 10, even 20 pharmacies—not because they wanted an agent, but because coordination had failed.’</a:t>
            </a:r>
          </a:p>
          <a:p xmlns:a="http://schemas.openxmlformats.org/drawingml/2006/main">
            <a:r>
              <a:t/>
            </a:r>
          </a:p>
          <a:p xmlns:a="http://schemas.openxmlformats.org/drawingml/2006/main">
            <a:r>
              <a:t>[Sources]</a:t>
            </a:r>
          </a:p>
          <a:p xmlns:a="http://schemas.openxmlformats.org/drawingml/2006/main">
            <a:r>
              <a:t>- https://www.reddit.com/r/ADHD/comments/1qnsfdc/medication_shortagesstill/ (community report of calling multiple pharmacies)</a:t>
            </a:r>
          </a:p>
          <a:p xmlns:a="http://schemas.openxmlformats.org/drawingml/2006/main">
            <a:r>
              <a:t>- https://www.reddit.com/r/ADHD/comments/125349s (community report of calling 20+ pharmacies)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Land the insight: a smoother bot is not the answer. The solution is an operational memory and an honest completion gate.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the three verbs slowly. It is intentionally not five product features. The distinctive thing is the proof condition in step three.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the dashboard buttons as you narrate this timeline. The visible proof board is the payoff. For the branch that earns trust, take the unsafe voice path and show it stays out of the green state.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 product screenshot re-created as editable presentation objects. Emphasize that every green check is a deterministic state transition, not an LLM confidence score.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PAVO in plain language. We do not just route an uncertain turn to a bigger model. We select a safer end-to-end pipeline: transcription, reasoning, structured verification, and a safe stop when the work should remain human.</a:t>
            </a:r>
          </a:p>
          <a:p xmlns:a="http://schemas.openxmlformats.org/drawingml/2006/main">
            <a:r>
              <a:t/>
            </a:r>
          </a:p>
          <a:p xmlns:a="http://schemas.openxmlformats.org/drawingml/2006/main">
            <a:r>
              <a:t>[Sources]</a:t>
            </a:r>
          </a:p>
          <a:p xmlns:a="http://schemas.openxmlformats.org/drawingml/2006/main">
            <a:r>
              <a:t>- https://openreview.net/forum?id=zrneoIxlFx (PAVO: Pipeline-Aware Voice Orchestration with Demand-Conditioned Inference Routing)</a:t>
            </a:r>
          </a:p>
          <a:p xmlns:a="http://schemas.openxmlformats.org/drawingml/2006/main">
            <a:r>
              <a:t>- https://github.com/vnmoorthy/pavo-bench (benchmark and reference implementation)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technical credibility slide. Walk left to right, then call attention to the red bypass: unsafe language does not touch an action tool. The bottom return path is blocked until the deterministic proof gate is satisfied.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team should say this unprompted. It is not a disclaimer slide; it is our product position. The guardrails make the product deployable in a high-stakes setting.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on the product conviction. Invite the judges to try the live board, then show the safety stop. The repo is deliberately documented like a product, not a hackathon code dump.</a:t>
            </a:r>
          </a:p>
          <a:p xmlns:a="http://schemas.openxmlformats.org/drawingml/2006/main">
            <a:r>
              <a:t/>
            </a:r>
          </a:p>
          <a:p xmlns:a="http://schemas.openxmlformats.org/drawingml/2006/main">
            <a:r>
              <a:t>[Sources]</a:t>
            </a:r>
          </a:p>
          <a:p xmlns:a="http://schemas.openxmlformats.org/drawingml/2006/main">
            <a:r>
              <a:t>- https://github.com/vnmoorthy/pavo-bench (PAVO reference repository)</a:t>
            </a:r>
          </a:p>
          <a:p xmlns:a="http://schemas.openxmlformats.org/drawingml/2006/main">
            <a:r>
              <a:t>- https://github.com/vnmoorthy/lifeline (evidence-gated voice safety patterns)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9be74add0094b4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815199073df4215" /><Relationship Type="http://schemas.openxmlformats.org/officeDocument/2006/relationships/slideLayout" Target="/ppt/slideLayouts/slideLayout1.xml" Id="R615419ecf35a41c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15419ecf35a41c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2ebacba71854a44" /><Relationship Type="http://schemas.openxmlformats.org/officeDocument/2006/relationships/notesSlide" Target="/ppt/notesSlides/notesSlide1.xml" Id="Rc314f57a0b5646c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a6faa39178d4c31" /><Relationship Type="http://schemas.openxmlformats.org/officeDocument/2006/relationships/notesSlide" Target="/ppt/notesSlides/notesSlide2.xml" Id="R7b27ca01aecb418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63f8cfb99e7467a" /><Relationship Type="http://schemas.openxmlformats.org/officeDocument/2006/relationships/notesSlide" Target="/ppt/notesSlides/notesSlide3.xml" Id="Rf75c28a5f54844c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8fd35fe29334f29" /><Relationship Type="http://schemas.openxmlformats.org/officeDocument/2006/relationships/notesSlide" Target="/ppt/notesSlides/notesSlide4.xml" Id="Reb659ec2c92f418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10f0bf36adf4832" /><Relationship Type="http://schemas.openxmlformats.org/officeDocument/2006/relationships/notesSlide" Target="/ppt/notesSlides/notesSlide5.xml" Id="R46813fbc0adf47a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bfae32b2b8a4e36" /><Relationship Type="http://schemas.openxmlformats.org/officeDocument/2006/relationships/notesSlide" Target="/ppt/notesSlides/notesSlide6.xml" Id="R33b4735aae7f488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07b9e2fe8984aea" /><Relationship Type="http://schemas.openxmlformats.org/officeDocument/2006/relationships/notesSlide" Target="/ppt/notesSlides/notesSlide7.xml" Id="R0b385317c540402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f008c5944294f57" /><Relationship Type="http://schemas.openxmlformats.org/officeDocument/2006/relationships/notesSlide" Target="/ppt/notesSlides/notesSlide8.xml" Id="Raec47f4f639047b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a6f2f7f21d74f9a" /><Relationship Type="http://schemas.openxmlformats.org/officeDocument/2006/relationships/notesSlide" Target="/ppt/notesSlides/notesSlide9.xml" Id="Rbd7cc08d8df54e0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498e3aae6ed42f8" /><Relationship Type="http://schemas.openxmlformats.org/officeDocument/2006/relationships/notesSlide" Target="/ppt/notesSlides/notesSlide10.xml" Id="Rec5344d429214b5a"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CA53C4D3-C7C9-44F6-A94F-7AC35F40EA00}"/>
              </a:ext>
            </a:extLst>
          </p:cNvPr>
          <p:cNvSpPr>
            <a:spLocks xmlns:a="http://schemas.openxmlformats.org/drawingml/2006/main" noGrp="1"/>
          </p:cNvSpPr>
          <p:nvPr/>
        </p:nvSpPr>
        <p:spPr>
          <a:xfrm xmlns:a="http://schemas.openxmlformats.org/drawingml/2006/main">
            <a:off x="457200" y="390525"/>
            <a:ext cx="495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750" b="1" i="0">
                <a:solidFill>
                  <a:srgbClr val="5F6D80"/>
                </a:solidFill>
              </a:defRPr>
            </a:pPr>
            <a:r>
              <a:rPr sz="750" b="1" i="0">
                <a:solidFill>
                  <a:srgbClr val="5F6D80"/>
                </a:solidFill>
              </a:rPr>
              <a:t>VOICE COORDINATION FOR PRESCRIPTION ACCESS</a:t>
            </a:r>
          </a:p>
        </p:txBody>
      </p:sp>
      <p:sp>
        <p:nvSpPr>
          <p:cNvPr id="2" name="">
            <a:extLst xmlns:a="http://schemas.openxmlformats.org/drawingml/2006/main">
              <a:ext uri="{FF2B5EF4-FFF2-40B4-BE49-F238E27FC236}">
                <a16:creationId xmlns:a16="http://schemas.microsoft.com/office/drawing/2014/main" id="{2F980E29-FCEB-45F3-B32A-7F707CAD27FD}"/>
              </a:ext>
            </a:extLst>
          </p:cNvPr>
          <p:cNvSpPr>
            <a:spLocks xmlns:a="http://schemas.openxmlformats.org/drawingml/2006/main" noGrp="1"/>
          </p:cNvSpPr>
          <p:nvPr/>
        </p:nvSpPr>
        <p:spPr>
          <a:xfrm xmlns:a="http://schemas.openxmlformats.org/drawingml/2006/main">
            <a:off x="457200" y="990600"/>
            <a:ext cx="6191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600" b="1" i="0">
                <a:solidFill>
                  <a:srgbClr val="0B1F33"/>
                </a:solidFill>
              </a:defRPr>
            </a:pPr>
            <a:r>
              <a:rPr sz="6600" b="1" i="0">
                <a:solidFill>
                  <a:srgbClr val="0B1F33"/>
                </a:solidFill>
              </a:rPr>
              <a:t>RxRelay</a:t>
            </a:r>
          </a:p>
        </p:txBody>
      </p:sp>
      <p:sp>
        <p:nvSpPr>
          <p:cNvPr id="3" name="">
            <a:extLst xmlns:a="http://schemas.openxmlformats.org/drawingml/2006/main">
              <a:ext uri="{FF2B5EF4-FFF2-40B4-BE49-F238E27FC236}">
                <a16:creationId xmlns:a16="http://schemas.microsoft.com/office/drawing/2014/main" id="{CAB29D88-0707-4EA7-A59B-A199D97F8A16}"/>
              </a:ext>
            </a:extLst>
          </p:cNvPr>
          <p:cNvSpPr>
            <a:spLocks xmlns:a="http://schemas.openxmlformats.org/drawingml/2006/main" noGrp="1"/>
          </p:cNvSpPr>
          <p:nvPr/>
        </p:nvSpPr>
        <p:spPr>
          <a:xfrm xmlns:a="http://schemas.openxmlformats.org/drawingml/2006/main">
            <a:off x="457200" y="2057400"/>
            <a:ext cx="6858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950" b="1" i="0">
                <a:solidFill>
                  <a:srgbClr val="0B1F33"/>
                </a:solidFill>
              </a:defRPr>
            </a:pPr>
            <a:r>
              <a:rPr sz="4950" b="1" i="0">
                <a:solidFill>
                  <a:srgbClr val="0B1F33"/>
                </a:solidFill>
              </a:rPr>
              <a:t>Make the calls.</a:t>
            </a:r>
          </a:p>
        </p:txBody>
      </p:sp>
      <p:sp>
        <p:nvSpPr>
          <p:cNvPr id="4" name="">
            <a:extLst xmlns:a="http://schemas.openxmlformats.org/drawingml/2006/main">
              <a:ext uri="{FF2B5EF4-FFF2-40B4-BE49-F238E27FC236}">
                <a16:creationId xmlns:a16="http://schemas.microsoft.com/office/drawing/2014/main" id="{FE7883FC-B979-4A10-9CB5-27970A8450A0}"/>
              </a:ext>
            </a:extLst>
          </p:cNvPr>
          <p:cNvSpPr>
            <a:spLocks xmlns:a="http://schemas.openxmlformats.org/drawingml/2006/main" noGrp="1"/>
          </p:cNvSpPr>
          <p:nvPr/>
        </p:nvSpPr>
        <p:spPr>
          <a:xfrm xmlns:a="http://schemas.openxmlformats.org/drawingml/2006/main">
            <a:off x="457200" y="2771775"/>
            <a:ext cx="7620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950" b="0" i="1">
                <a:solidFill>
                  <a:srgbClr val="0E9F8E"/>
                </a:solidFill>
              </a:defRPr>
            </a:pPr>
            <a:r>
              <a:rPr sz="4950" b="0" i="1">
                <a:solidFill>
                  <a:srgbClr val="0E9F8E"/>
                </a:solidFill>
              </a:rPr>
              <a:t>Bring the proof.</a:t>
            </a:r>
          </a:p>
        </p:txBody>
      </p:sp>
      <p:sp>
        <p:nvSpPr>
          <p:cNvPr id="5" name="">
            <a:extLst xmlns:a="http://schemas.openxmlformats.org/drawingml/2006/main">
              <a:ext uri="{FF2B5EF4-FFF2-40B4-BE49-F238E27FC236}">
                <a16:creationId xmlns:a16="http://schemas.microsoft.com/office/drawing/2014/main" id="{C04C8650-C498-4107-9BB5-0099A39A6495}"/>
              </a:ext>
            </a:extLst>
          </p:cNvPr>
          <p:cNvSpPr>
            <a:spLocks xmlns:a="http://schemas.openxmlformats.org/drawingml/2006/main" noGrp="1"/>
          </p:cNvSpPr>
          <p:nvPr/>
        </p:nvSpPr>
        <p:spPr>
          <a:xfrm xmlns:a="http://schemas.openxmlformats.org/drawingml/2006/main">
            <a:off x="495300" y="3819525"/>
            <a:ext cx="5905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5F6D80"/>
                </a:solidFill>
              </a:defRPr>
            </a:pPr>
            <a:r>
              <a:rPr sz="1500" b="0" i="0">
                <a:solidFill>
                  <a:srgbClr val="5F6D80"/>
                </a:solidFill>
              </a:rPr>
              <a:t>A consent-first voice agent that coordinates pharmacy, clinic, and insurer follow-ups—and refuses to call a case resolved without evidence.</a:t>
            </a:r>
          </a:p>
        </p:txBody>
      </p:sp>
      <p:sp>
        <p:nvSpPr>
          <p:cNvPr id="6" name="">
            <a:extLst xmlns:a="http://schemas.openxmlformats.org/drawingml/2006/main">
              <a:ext uri="{FF2B5EF4-FFF2-40B4-BE49-F238E27FC236}">
                <a16:creationId xmlns:a16="http://schemas.microsoft.com/office/drawing/2014/main" id="{4512F937-2E70-4D07-98E7-95ED3E288525}"/>
              </a:ext>
            </a:extLst>
          </p:cNvPr>
          <p:cNvSpPr>
            <a:spLocks xmlns:a="http://schemas.openxmlformats.org/drawingml/2006/main" noGrp="1"/>
          </p:cNvSpPr>
          <p:nvPr/>
        </p:nvSpPr>
        <p:spPr>
          <a:xfrm xmlns:a="http://schemas.openxmlformats.org/drawingml/2006/main">
            <a:off x="485775" y="4857750"/>
            <a:ext cx="2000250" cy="238125"/>
          </a:xfrm>
          <a:prstGeom xmlns:a="http://schemas.openxmlformats.org/drawingml/2006/main" prst="roundRect">
            <a:avLst>
              <a:gd name="adj" fmla="val 50000"/>
            </a:avLst>
          </a:prstGeom>
          <a:solidFill xmlns:a="http://schemas.openxmlformats.org/drawingml/2006/main">
            <a:srgbClr val="DCF6F0"/>
          </a:solidFill>
          <a:ln xmlns:a="http://schemas.openxmlformats.org/drawingml/2006/main" w="0">
            <a:solidFill>
              <a:srgbClr val="DCF6F0"/>
            </a:solidFill>
            <a:prstDash val="solid"/>
          </a:ln>
        </p:spPr>
      </p:sp>
      <p:sp>
        <p:nvSpPr>
          <p:cNvPr id="7" name="">
            <a:extLst xmlns:a="http://schemas.openxmlformats.org/drawingml/2006/main">
              <a:ext uri="{FF2B5EF4-FFF2-40B4-BE49-F238E27FC236}">
                <a16:creationId xmlns:a16="http://schemas.microsoft.com/office/drawing/2014/main" id="{F134360D-85FD-4B55-9AFE-2FB5680CA180}"/>
              </a:ext>
            </a:extLst>
          </p:cNvPr>
          <p:cNvSpPr>
            <a:spLocks xmlns:a="http://schemas.openxmlformats.org/drawingml/2006/main" noGrp="1"/>
          </p:cNvSpPr>
          <p:nvPr/>
        </p:nvSpPr>
        <p:spPr>
          <a:xfrm xmlns:a="http://schemas.openxmlformats.org/drawingml/2006/main">
            <a:off x="581025" y="4914900"/>
            <a:ext cx="1809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750" b="1" i="0">
                <a:solidFill>
                  <a:srgbClr val="0E9F8E"/>
                </a:solidFill>
              </a:defRPr>
            </a:pPr>
            <a:r>
              <a:rPr sz="750" b="1" i="0">
                <a:solidFill>
                  <a:srgbClr val="0E9F8E"/>
                </a:solidFill>
              </a:rPr>
              <a:t>PAVO-POWERED ROUTING</a:t>
            </a:r>
          </a:p>
        </p:txBody>
      </p:sp>
      <p:sp>
        <p:nvSpPr>
          <p:cNvPr id="8" name="">
            <a:extLst xmlns:a="http://schemas.openxmlformats.org/drawingml/2006/main">
              <a:ext uri="{FF2B5EF4-FFF2-40B4-BE49-F238E27FC236}">
                <a16:creationId xmlns:a16="http://schemas.microsoft.com/office/drawing/2014/main" id="{9C9D1901-6314-4F25-BF9C-2309E139A5F2}"/>
              </a:ext>
            </a:extLst>
          </p:cNvPr>
          <p:cNvSpPr>
            <a:spLocks xmlns:a="http://schemas.openxmlformats.org/drawingml/2006/main" noGrp="1"/>
          </p:cNvSpPr>
          <p:nvPr/>
        </p:nvSpPr>
        <p:spPr>
          <a:xfrm xmlns:a="http://schemas.openxmlformats.org/drawingml/2006/main">
            <a:off x="2590800" y="4857750"/>
            <a:ext cx="1524000" cy="238125"/>
          </a:xfrm>
          <a:prstGeom xmlns:a="http://schemas.openxmlformats.org/drawingml/2006/main" prst="roundRect">
            <a:avLst>
              <a:gd name="adj" fmla="val 50000"/>
            </a:avLst>
          </a:prstGeom>
          <a:solidFill xmlns:a="http://schemas.openxmlformats.org/drawingml/2006/main">
            <a:srgbClr val="E5F0FF"/>
          </a:solidFill>
          <a:ln xmlns:a="http://schemas.openxmlformats.org/drawingml/2006/main" w="0">
            <a:solidFill>
              <a:srgbClr val="E5F0FF"/>
            </a:solidFill>
            <a:prstDash val="solid"/>
          </a:ln>
        </p:spPr>
      </p:sp>
      <p:sp>
        <p:nvSpPr>
          <p:cNvPr id="9" name="">
            <a:extLst xmlns:a="http://schemas.openxmlformats.org/drawingml/2006/main">
              <a:ext uri="{FF2B5EF4-FFF2-40B4-BE49-F238E27FC236}">
                <a16:creationId xmlns:a16="http://schemas.microsoft.com/office/drawing/2014/main" id="{72859D24-0311-44BB-A3E4-829907410AB8}"/>
              </a:ext>
            </a:extLst>
          </p:cNvPr>
          <p:cNvSpPr>
            <a:spLocks xmlns:a="http://schemas.openxmlformats.org/drawingml/2006/main" noGrp="1"/>
          </p:cNvSpPr>
          <p:nvPr/>
        </p:nvSpPr>
        <p:spPr>
          <a:xfrm xmlns:a="http://schemas.openxmlformats.org/drawingml/2006/main">
            <a:off x="2686050" y="4914900"/>
            <a:ext cx="13335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750" b="1" i="0">
                <a:solidFill>
                  <a:srgbClr val="3D8DFF"/>
                </a:solidFill>
              </a:defRPr>
            </a:pPr>
            <a:r>
              <a:rPr sz="750" b="1" i="0">
                <a:solidFill>
                  <a:srgbClr val="3D8DFF"/>
                </a:solidFill>
              </a:rPr>
              <a:t>EVIDENCE-GATED</a:t>
            </a:r>
          </a:p>
        </p:txBody>
      </p:sp>
      <p:sp>
        <p:nvSpPr>
          <p:cNvPr id="10" name="">
            <a:extLst xmlns:a="http://schemas.openxmlformats.org/drawingml/2006/main">
              <a:ext uri="{FF2B5EF4-FFF2-40B4-BE49-F238E27FC236}">
                <a16:creationId xmlns:a16="http://schemas.microsoft.com/office/drawing/2014/main" id="{E1D942B9-1787-49F2-906E-647D0234CBAB}"/>
              </a:ext>
            </a:extLst>
          </p:cNvPr>
          <p:cNvSpPr>
            <a:spLocks xmlns:a="http://schemas.openxmlformats.org/drawingml/2006/main" noGrp="1"/>
          </p:cNvSpPr>
          <p:nvPr/>
        </p:nvSpPr>
        <p:spPr>
          <a:xfrm xmlns:a="http://schemas.openxmlformats.org/drawingml/2006/main">
            <a:off x="7753350" y="1123950"/>
            <a:ext cx="3352800" cy="4000500"/>
          </a:xfrm>
          <a:prstGeom xmlns:a="http://schemas.openxmlformats.org/drawingml/2006/main" prst="roundRect">
            <a:avLst>
              <a:gd name="adj" fmla="val 3409"/>
            </a:avLst>
          </a:prstGeom>
          <a:solidFill xmlns:a="http://schemas.openxmlformats.org/drawingml/2006/main">
            <a:srgbClr val="071A2B"/>
          </a:solidFill>
          <a:ln xmlns:a="http://schemas.openxmlformats.org/drawingml/2006/main" w="9525">
            <a:solidFill>
              <a:srgbClr val="071A2B"/>
            </a:solid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sp>
        <p:nvSpPr>
          <p:cNvPr id="11" name="">
            <a:extLst xmlns:a="http://schemas.openxmlformats.org/drawingml/2006/main">
              <a:ext uri="{FF2B5EF4-FFF2-40B4-BE49-F238E27FC236}">
                <a16:creationId xmlns:a16="http://schemas.microsoft.com/office/drawing/2014/main" id="{F1F6E64D-62AB-4777-B40D-29CE12737E45}"/>
              </a:ext>
            </a:extLst>
          </p:cNvPr>
          <p:cNvSpPr>
            <a:spLocks xmlns:a="http://schemas.openxmlformats.org/drawingml/2006/main" noGrp="1"/>
          </p:cNvSpPr>
          <p:nvPr/>
        </p:nvSpPr>
        <p:spPr>
          <a:xfrm xmlns:a="http://schemas.openxmlformats.org/drawingml/2006/main">
            <a:off x="8096250" y="1514475"/>
            <a:ext cx="2000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9FB6C9"/>
                </a:solidFill>
              </a:defRPr>
            </a:pPr>
            <a:r>
              <a:rPr sz="900" b="1" i="0">
                <a:solidFill>
                  <a:srgbClr val="9FB6C9"/>
                </a:solidFill>
              </a:rPr>
              <a:t>RESOLUTION</a:t>
            </a:r>
          </a:p>
          <a:p xmlns:a="http://schemas.openxmlformats.org/drawingml/2006/main">
            <a:pPr algn="l">
              <a:defRPr sz="900" b="1" i="0">
                <a:solidFill>
                  <a:srgbClr val="9FB6C9"/>
                </a:solidFill>
              </a:defRPr>
            </a:pPr>
            <a:r>
              <a:rPr sz="900" b="1" i="0">
                <a:solidFill>
                  <a:srgbClr val="9FB6C9"/>
                </a:solidFill>
              </a:rPr>
              <a:t>PROOF</a:t>
            </a:r>
          </a:p>
        </p:txBody>
      </p:sp>
      <p:sp>
        <p:nvSpPr>
          <p:cNvPr id="12" name="">
            <a:extLst xmlns:a="http://schemas.openxmlformats.org/drawingml/2006/main">
              <a:ext uri="{FF2B5EF4-FFF2-40B4-BE49-F238E27FC236}">
                <a16:creationId xmlns:a16="http://schemas.microsoft.com/office/drawing/2014/main" id="{9035FD00-2F77-4003-8D37-31CC72C798D8}"/>
              </a:ext>
            </a:extLst>
          </p:cNvPr>
          <p:cNvSpPr>
            <a:spLocks xmlns:a="http://schemas.openxmlformats.org/drawingml/2006/main" noGrp="1"/>
          </p:cNvSpPr>
          <p:nvPr/>
        </p:nvSpPr>
        <p:spPr>
          <a:xfrm xmlns:a="http://schemas.openxmlformats.org/drawingml/2006/main">
            <a:off x="8096250" y="2305050"/>
            <a:ext cx="266700" cy="266700"/>
          </a:xfrm>
          <a:prstGeom xmlns:a="http://schemas.openxmlformats.org/drawingml/2006/main" prst="ellipse">
            <a:avLst/>
          </a:prstGeom>
          <a:solidFill xmlns:a="http://schemas.openxmlformats.org/drawingml/2006/main">
            <a:srgbClr val="0E9F8E"/>
          </a:solidFill>
          <a:ln xmlns:a="http://schemas.openxmlformats.org/drawingml/2006/main" w="0">
            <a:solidFill>
              <a:srgbClr val="0E9F8E"/>
            </a:solidFill>
            <a:prstDash val="solid"/>
          </a:ln>
        </p:spPr>
      </p:sp>
      <p:sp>
        <p:nvSpPr>
          <p:cNvPr id="13" name="">
            <a:extLst xmlns:a="http://schemas.openxmlformats.org/drawingml/2006/main">
              <a:ext uri="{FF2B5EF4-FFF2-40B4-BE49-F238E27FC236}">
                <a16:creationId xmlns:a16="http://schemas.microsoft.com/office/drawing/2014/main" id="{C3E2E9D5-CA0C-4B78-88A1-3D13866245BA}"/>
              </a:ext>
            </a:extLst>
          </p:cNvPr>
          <p:cNvSpPr>
            <a:spLocks xmlns:a="http://schemas.openxmlformats.org/drawingml/2006/main" noGrp="1"/>
          </p:cNvSpPr>
          <p:nvPr/>
        </p:nvSpPr>
        <p:spPr>
          <a:xfrm xmlns:a="http://schemas.openxmlformats.org/drawingml/2006/main">
            <a:off x="8162925" y="2352675"/>
            <a:ext cx="1333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i="0">
                <a:solidFill>
                  <a:srgbClr val="FFFFFF"/>
                </a:solidFill>
              </a:defRPr>
            </a:pPr>
            <a:r>
              <a:rPr sz="1050" b="1" i="0">
                <a:solidFill>
                  <a:srgbClr val="FFFFFF"/>
                </a:solidFill>
              </a:rPr>
              <a:t>✓</a:t>
            </a:r>
          </a:p>
        </p:txBody>
      </p:sp>
      <p:sp>
        <p:nvSpPr>
          <p:cNvPr id="14" name="">
            <a:extLst xmlns:a="http://schemas.openxmlformats.org/drawingml/2006/main">
              <a:ext uri="{FF2B5EF4-FFF2-40B4-BE49-F238E27FC236}">
                <a16:creationId xmlns:a16="http://schemas.microsoft.com/office/drawing/2014/main" id="{2FFECD10-3454-4441-8101-B15CA33FAB3E}"/>
              </a:ext>
            </a:extLst>
          </p:cNvPr>
          <p:cNvSpPr>
            <a:spLocks xmlns:a="http://schemas.openxmlformats.org/drawingml/2006/main" noGrp="1"/>
          </p:cNvSpPr>
          <p:nvPr/>
        </p:nvSpPr>
        <p:spPr>
          <a:xfrm xmlns:a="http://schemas.openxmlformats.org/drawingml/2006/main">
            <a:off x="8515350" y="2352675"/>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i="0">
                <a:solidFill>
                  <a:srgbClr val="FFFFFF"/>
                </a:solidFill>
              </a:defRPr>
            </a:pPr>
            <a:r>
              <a:rPr sz="1200" b="1" i="0">
                <a:solidFill>
                  <a:srgbClr val="FFFFFF"/>
                </a:solidFill>
              </a:rPr>
              <a:t>Consent recorded</a:t>
            </a:r>
          </a:p>
        </p:txBody>
      </p:sp>
      <p:sp>
        <p:nvSpPr>
          <p:cNvPr id="15" name="">
            <a:extLst xmlns:a="http://schemas.openxmlformats.org/drawingml/2006/main">
              <a:ext uri="{FF2B5EF4-FFF2-40B4-BE49-F238E27FC236}">
                <a16:creationId xmlns:a16="http://schemas.microsoft.com/office/drawing/2014/main" id="{D84B1827-8E49-4A2B-8BF7-F63894076DDE}"/>
              </a:ext>
            </a:extLst>
          </p:cNvPr>
          <p:cNvSpPr>
            <a:spLocks xmlns:a="http://schemas.openxmlformats.org/drawingml/2006/main" noGrp="1"/>
          </p:cNvSpPr>
          <p:nvPr/>
        </p:nvSpPr>
        <p:spPr>
          <a:xfrm xmlns:a="http://schemas.openxmlformats.org/drawingml/2006/main">
            <a:off x="8096250" y="2838450"/>
            <a:ext cx="266700" cy="266700"/>
          </a:xfrm>
          <a:prstGeom xmlns:a="http://schemas.openxmlformats.org/drawingml/2006/main" prst="ellipse">
            <a:avLst/>
          </a:prstGeom>
          <a:solidFill xmlns:a="http://schemas.openxmlformats.org/drawingml/2006/main">
            <a:srgbClr val="0E9F8E"/>
          </a:solidFill>
          <a:ln xmlns:a="http://schemas.openxmlformats.org/drawingml/2006/main" w="0">
            <a:solidFill>
              <a:srgbClr val="0E9F8E"/>
            </a:solidFill>
            <a:prstDash val="solid"/>
          </a:ln>
        </p:spPr>
      </p:sp>
      <p:sp>
        <p:nvSpPr>
          <p:cNvPr id="16" name="">
            <a:extLst xmlns:a="http://schemas.openxmlformats.org/drawingml/2006/main">
              <a:ext uri="{FF2B5EF4-FFF2-40B4-BE49-F238E27FC236}">
                <a16:creationId xmlns:a16="http://schemas.microsoft.com/office/drawing/2014/main" id="{F9E92D8C-C1F2-48BF-B1DC-34F937FE857D}"/>
              </a:ext>
            </a:extLst>
          </p:cNvPr>
          <p:cNvSpPr>
            <a:spLocks xmlns:a="http://schemas.openxmlformats.org/drawingml/2006/main" noGrp="1"/>
          </p:cNvSpPr>
          <p:nvPr/>
        </p:nvSpPr>
        <p:spPr>
          <a:xfrm xmlns:a="http://schemas.openxmlformats.org/drawingml/2006/main">
            <a:off x="8162925" y="2886075"/>
            <a:ext cx="1333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i="0">
                <a:solidFill>
                  <a:srgbClr val="FFFFFF"/>
                </a:solidFill>
              </a:defRPr>
            </a:pPr>
            <a:r>
              <a:rPr sz="1050" b="1" i="0">
                <a:solidFill>
                  <a:srgbClr val="FFFFFF"/>
                </a:solidFill>
              </a:rPr>
              <a:t>✓</a:t>
            </a:r>
          </a:p>
        </p:txBody>
      </p:sp>
      <p:sp>
        <p:nvSpPr>
          <p:cNvPr id="17" name="">
            <a:extLst xmlns:a="http://schemas.openxmlformats.org/drawingml/2006/main">
              <a:ext uri="{FF2B5EF4-FFF2-40B4-BE49-F238E27FC236}">
                <a16:creationId xmlns:a16="http://schemas.microsoft.com/office/drawing/2014/main" id="{CAA4FE66-7530-4618-B023-CA9FBB5A8FDE}"/>
              </a:ext>
            </a:extLst>
          </p:cNvPr>
          <p:cNvSpPr>
            <a:spLocks xmlns:a="http://schemas.openxmlformats.org/drawingml/2006/main" noGrp="1"/>
          </p:cNvSpPr>
          <p:nvPr/>
        </p:nvSpPr>
        <p:spPr>
          <a:xfrm xmlns:a="http://schemas.openxmlformats.org/drawingml/2006/main">
            <a:off x="8515350" y="2886075"/>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i="0">
                <a:solidFill>
                  <a:srgbClr val="FFFFFF"/>
                </a:solidFill>
              </a:defRPr>
            </a:pPr>
            <a:r>
              <a:rPr sz="1200" b="1" i="0">
                <a:solidFill>
                  <a:srgbClr val="FFFFFF"/>
                </a:solidFill>
              </a:rPr>
              <a:t>Permitted action</a:t>
            </a:r>
          </a:p>
        </p:txBody>
      </p:sp>
      <p:sp>
        <p:nvSpPr>
          <p:cNvPr id="18" name="">
            <a:extLst xmlns:a="http://schemas.openxmlformats.org/drawingml/2006/main">
              <a:ext uri="{FF2B5EF4-FFF2-40B4-BE49-F238E27FC236}">
                <a16:creationId xmlns:a16="http://schemas.microsoft.com/office/drawing/2014/main" id="{2B799B2E-C455-439B-BBC4-A3933D8637B8}"/>
              </a:ext>
            </a:extLst>
          </p:cNvPr>
          <p:cNvSpPr>
            <a:spLocks xmlns:a="http://schemas.openxmlformats.org/drawingml/2006/main" noGrp="1"/>
          </p:cNvSpPr>
          <p:nvPr/>
        </p:nvSpPr>
        <p:spPr>
          <a:xfrm xmlns:a="http://schemas.openxmlformats.org/drawingml/2006/main">
            <a:off x="8096250" y="3371850"/>
            <a:ext cx="266700" cy="266700"/>
          </a:xfrm>
          <a:prstGeom xmlns:a="http://schemas.openxmlformats.org/drawingml/2006/main" prst="ellipse">
            <a:avLst/>
          </a:prstGeom>
          <a:solidFill xmlns:a="http://schemas.openxmlformats.org/drawingml/2006/main">
            <a:srgbClr val="0E9F8E"/>
          </a:solidFill>
          <a:ln xmlns:a="http://schemas.openxmlformats.org/drawingml/2006/main" w="0">
            <a:solidFill>
              <a:srgbClr val="0E9F8E"/>
            </a:solidFill>
            <a:prstDash val="solid"/>
          </a:ln>
        </p:spPr>
      </p:sp>
      <p:sp>
        <p:nvSpPr>
          <p:cNvPr id="19" name="">
            <a:extLst xmlns:a="http://schemas.openxmlformats.org/drawingml/2006/main">
              <a:ext uri="{FF2B5EF4-FFF2-40B4-BE49-F238E27FC236}">
                <a16:creationId xmlns:a16="http://schemas.microsoft.com/office/drawing/2014/main" id="{59ABD992-2650-48AE-9EF7-C31D13FBFC5B}"/>
              </a:ext>
            </a:extLst>
          </p:cNvPr>
          <p:cNvSpPr>
            <a:spLocks xmlns:a="http://schemas.openxmlformats.org/drawingml/2006/main" noGrp="1"/>
          </p:cNvSpPr>
          <p:nvPr/>
        </p:nvSpPr>
        <p:spPr>
          <a:xfrm xmlns:a="http://schemas.openxmlformats.org/drawingml/2006/main">
            <a:off x="8162925" y="3419475"/>
            <a:ext cx="1333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i="0">
                <a:solidFill>
                  <a:srgbClr val="FFFFFF"/>
                </a:solidFill>
              </a:defRPr>
            </a:pPr>
            <a:r>
              <a:rPr sz="1050" b="1" i="0">
                <a:solidFill>
                  <a:srgbClr val="FFFFFF"/>
                </a:solidFill>
              </a:rPr>
              <a:t>✓</a:t>
            </a:r>
          </a:p>
        </p:txBody>
      </p:sp>
      <p:sp>
        <p:nvSpPr>
          <p:cNvPr id="20" name="">
            <a:extLst xmlns:a="http://schemas.openxmlformats.org/drawingml/2006/main">
              <a:ext uri="{FF2B5EF4-FFF2-40B4-BE49-F238E27FC236}">
                <a16:creationId xmlns:a16="http://schemas.microsoft.com/office/drawing/2014/main" id="{ACD730B7-F575-4A34-B322-12B7980839CB}"/>
              </a:ext>
            </a:extLst>
          </p:cNvPr>
          <p:cNvSpPr>
            <a:spLocks xmlns:a="http://schemas.openxmlformats.org/drawingml/2006/main" noGrp="1"/>
          </p:cNvSpPr>
          <p:nvPr/>
        </p:nvSpPr>
        <p:spPr>
          <a:xfrm xmlns:a="http://schemas.openxmlformats.org/drawingml/2006/main">
            <a:off x="8515350" y="3419475"/>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i="0">
                <a:solidFill>
                  <a:srgbClr val="FFFFFF"/>
                </a:solidFill>
              </a:defRPr>
            </a:pPr>
            <a:r>
              <a:rPr sz="1200" b="1" i="0">
                <a:solidFill>
                  <a:srgbClr val="FFFFFF"/>
                </a:solidFill>
              </a:rPr>
              <a:t>Counterpart outcome</a:t>
            </a:r>
          </a:p>
        </p:txBody>
      </p:sp>
      <p:sp>
        <p:nvSpPr>
          <p:cNvPr id="21" name="">
            <a:extLst xmlns:a="http://schemas.openxmlformats.org/drawingml/2006/main">
              <a:ext uri="{FF2B5EF4-FFF2-40B4-BE49-F238E27FC236}">
                <a16:creationId xmlns:a16="http://schemas.microsoft.com/office/drawing/2014/main" id="{FCE03C6D-1A8D-4880-9244-EB9B1657C2F1}"/>
              </a:ext>
            </a:extLst>
          </p:cNvPr>
          <p:cNvSpPr>
            <a:spLocks xmlns:a="http://schemas.openxmlformats.org/drawingml/2006/main" noGrp="1"/>
          </p:cNvSpPr>
          <p:nvPr/>
        </p:nvSpPr>
        <p:spPr>
          <a:xfrm xmlns:a="http://schemas.openxmlformats.org/drawingml/2006/main">
            <a:off x="8096250" y="3905250"/>
            <a:ext cx="266700" cy="266700"/>
          </a:xfrm>
          <a:prstGeom xmlns:a="http://schemas.openxmlformats.org/drawingml/2006/main" prst="ellipse">
            <a:avLst/>
          </a:prstGeom>
          <a:solidFill xmlns:a="http://schemas.openxmlformats.org/drawingml/2006/main">
            <a:srgbClr val="0E9F8E"/>
          </a:solidFill>
          <a:ln xmlns:a="http://schemas.openxmlformats.org/drawingml/2006/main" w="0">
            <a:solidFill>
              <a:srgbClr val="0E9F8E"/>
            </a:solidFill>
            <a:prstDash val="solid"/>
          </a:ln>
        </p:spPr>
      </p:sp>
      <p:sp>
        <p:nvSpPr>
          <p:cNvPr id="22" name="">
            <a:extLst xmlns:a="http://schemas.openxmlformats.org/drawingml/2006/main">
              <a:ext uri="{FF2B5EF4-FFF2-40B4-BE49-F238E27FC236}">
                <a16:creationId xmlns:a16="http://schemas.microsoft.com/office/drawing/2014/main" id="{C9714F89-31A2-4C41-9C72-77F30FC9DD00}"/>
              </a:ext>
            </a:extLst>
          </p:cNvPr>
          <p:cNvSpPr>
            <a:spLocks xmlns:a="http://schemas.openxmlformats.org/drawingml/2006/main" noGrp="1"/>
          </p:cNvSpPr>
          <p:nvPr/>
        </p:nvSpPr>
        <p:spPr>
          <a:xfrm xmlns:a="http://schemas.openxmlformats.org/drawingml/2006/main">
            <a:off x="8162925" y="3952875"/>
            <a:ext cx="1333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i="0">
                <a:solidFill>
                  <a:srgbClr val="FFFFFF"/>
                </a:solidFill>
              </a:defRPr>
            </a:pPr>
            <a:r>
              <a:rPr sz="1050" b="1" i="0">
                <a:solidFill>
                  <a:srgbClr val="FFFFFF"/>
                </a:solidFill>
              </a:rPr>
              <a:t>✓</a:t>
            </a:r>
          </a:p>
        </p:txBody>
      </p:sp>
      <p:sp>
        <p:nvSpPr>
          <p:cNvPr id="23" name="">
            <a:extLst xmlns:a="http://schemas.openxmlformats.org/drawingml/2006/main">
              <a:ext uri="{FF2B5EF4-FFF2-40B4-BE49-F238E27FC236}">
                <a16:creationId xmlns:a16="http://schemas.microsoft.com/office/drawing/2014/main" id="{FFA67FA3-85E3-4609-BF0B-BF4636ACD77C}"/>
              </a:ext>
            </a:extLst>
          </p:cNvPr>
          <p:cNvSpPr>
            <a:spLocks xmlns:a="http://schemas.openxmlformats.org/drawingml/2006/main" noGrp="1"/>
          </p:cNvSpPr>
          <p:nvPr/>
        </p:nvSpPr>
        <p:spPr>
          <a:xfrm xmlns:a="http://schemas.openxmlformats.org/drawingml/2006/main">
            <a:off x="8515350" y="3952875"/>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i="0">
                <a:solidFill>
                  <a:srgbClr val="FFFFFF"/>
                </a:solidFill>
              </a:defRPr>
            </a:pPr>
            <a:r>
              <a:rPr sz="1200" b="1" i="0">
                <a:solidFill>
                  <a:srgbClr val="FFFFFF"/>
                </a:solidFill>
              </a:rPr>
              <a:t>Patient update</a:t>
            </a:r>
          </a:p>
        </p:txBody>
      </p:sp>
      <p:sp>
        <p:nvSpPr>
          <p:cNvPr id="24" name="">
            <a:extLst xmlns:a="http://schemas.openxmlformats.org/drawingml/2006/main">
              <a:ext uri="{FF2B5EF4-FFF2-40B4-BE49-F238E27FC236}">
                <a16:creationId xmlns:a16="http://schemas.microsoft.com/office/drawing/2014/main" id="{981FD897-7C10-4036-B46F-CEA62A938ADF}"/>
              </a:ext>
            </a:extLst>
          </p:cNvPr>
          <p:cNvSpPr>
            <a:spLocks xmlns:a="http://schemas.openxmlformats.org/drawingml/2006/main" noGrp="1"/>
          </p:cNvSpPr>
          <p:nvPr/>
        </p:nvSpPr>
        <p:spPr>
          <a:xfrm xmlns:a="http://schemas.openxmlformats.org/drawingml/2006/main">
            <a:off x="8096250" y="4581525"/>
            <a:ext cx="2667000" cy="9525"/>
          </a:xfrm>
          <a:prstGeom xmlns:a="http://schemas.openxmlformats.org/drawingml/2006/main" prst="rect">
            <a:avLst/>
          </a:prstGeom>
          <a:solidFill xmlns:a="http://schemas.openxmlformats.org/drawingml/2006/main">
            <a:srgbClr val="34516A"/>
          </a:solidFill>
          <a:ln xmlns:a="http://schemas.openxmlformats.org/drawingml/2006/main" w="0">
            <a:solidFill>
              <a:srgbClr val="34516A"/>
            </a:solidFill>
            <a:prstDash val="solid"/>
          </a:ln>
        </p:spPr>
      </p:sp>
      <p:sp>
        <p:nvSpPr>
          <p:cNvPr id="25" name="">
            <a:extLst xmlns:a="http://schemas.openxmlformats.org/drawingml/2006/main">
              <a:ext uri="{FF2B5EF4-FFF2-40B4-BE49-F238E27FC236}">
                <a16:creationId xmlns:a16="http://schemas.microsoft.com/office/drawing/2014/main" id="{44399FB0-C686-45F4-A8A0-A4F98CC7AC5D}"/>
              </a:ext>
            </a:extLst>
          </p:cNvPr>
          <p:cNvSpPr>
            <a:spLocks xmlns:a="http://schemas.openxmlformats.org/drawingml/2006/main" noGrp="1"/>
          </p:cNvSpPr>
          <p:nvPr/>
        </p:nvSpPr>
        <p:spPr>
          <a:xfrm xmlns:a="http://schemas.openxmlformats.org/drawingml/2006/main">
            <a:off x="8096250" y="4733925"/>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i="0">
                <a:solidFill>
                  <a:srgbClr val="AEEADE"/>
                </a:solidFill>
              </a:defRPr>
            </a:pPr>
            <a:r>
              <a:rPr sz="975" b="0" i="0">
                <a:solidFill>
                  <a:srgbClr val="AEEADE"/>
                </a:solidFill>
              </a:rPr>
              <a:t>No evidence missing.</a:t>
            </a:r>
          </a:p>
          <a:p xmlns:a="http://schemas.openxmlformats.org/drawingml/2006/main">
            <a:pPr algn="l">
              <a:defRPr sz="975" b="0" i="0">
                <a:solidFill>
                  <a:srgbClr val="AEEADE"/>
                </a:solidFill>
              </a:defRPr>
            </a:pPr>
            <a:r>
              <a:rPr sz="975" b="0" i="0">
                <a:solidFill>
                  <a:srgbClr val="AEEADE"/>
                </a:solidFill>
              </a:rPr>
              <a:t>Case can turn green.</a:t>
            </a:r>
          </a:p>
        </p:txBody>
      </p:sp>
      <p:sp>
        <p:nvSpPr>
          <p:cNvPr id="26" name="">
            <a:extLst xmlns:a="http://schemas.openxmlformats.org/drawingml/2006/main">
              <a:ext uri="{FF2B5EF4-FFF2-40B4-BE49-F238E27FC236}">
                <a16:creationId xmlns:a16="http://schemas.microsoft.com/office/drawing/2014/main" id="{E6593550-D1FE-46C0-90CF-003BCF3EFE74}"/>
              </a:ext>
            </a:extLst>
          </p:cNvPr>
          <p:cNvSpPr>
            <a:spLocks xmlns:a="http://schemas.openxmlformats.org/drawingml/2006/main" noGrp="1"/>
          </p:cNvSpPr>
          <p:nvPr/>
        </p:nvSpPr>
        <p:spPr>
          <a:xfrm xmlns:a="http://schemas.openxmlformats.org/drawingml/2006/main">
            <a:off x="457200" y="6457950"/>
            <a:ext cx="85725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75" b="0" i="0">
                <a:solidFill>
                  <a:srgbClr val="8090A1"/>
                </a:solidFill>
              </a:defRPr>
            </a:pPr>
            <a:r>
              <a:rPr sz="675" b="0" i="0">
                <a:solidFill>
                  <a:srgbClr val="8090A1"/>
                </a:solidFill>
              </a:rPr>
              <a:t>Proof, not promises.</a:t>
            </a:r>
          </a:p>
        </p:txBody>
      </p:sp>
      <p:sp>
        <p:nvSpPr>
          <p:cNvPr id="27" name="">
            <a:extLst xmlns:a="http://schemas.openxmlformats.org/drawingml/2006/main">
              <a:ext uri="{FF2B5EF4-FFF2-40B4-BE49-F238E27FC236}">
                <a16:creationId xmlns:a16="http://schemas.microsoft.com/office/drawing/2014/main" id="{2ABF2C8D-50F7-493A-B3F6-3AF5F13AE7EC}"/>
              </a:ext>
            </a:extLst>
          </p:cNvPr>
          <p:cNvSpPr>
            <a:spLocks xmlns:a="http://schemas.openxmlformats.org/drawingml/2006/main" noGrp="1"/>
          </p:cNvSpPr>
          <p:nvPr/>
        </p:nvSpPr>
        <p:spPr>
          <a:xfrm xmlns:a="http://schemas.openxmlformats.org/drawingml/2006/main">
            <a:off x="8382000" y="6457950"/>
            <a:ext cx="3352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675" b="0" i="0">
                <a:solidFill>
                  <a:srgbClr val="8090A1"/>
                </a:solidFill>
              </a:defRPr>
            </a:pPr>
            <a:r>
              <a:rPr sz="675" b="0" i="0">
                <a:solidFill>
                  <a:srgbClr val="8090A1"/>
                </a:solidFill>
              </a:rPr>
              <a:t>A1MOBILE VOICE AI HACKATHON · 2026</a:t>
            </a:r>
          </a:p>
        </p:txBody>
      </p:sp>
    </p:spTree>
    <p:extLst>
      <p:ext uri="{BB962C8B-B14F-4D97-AF65-F5344CB8AC3E}">
        <p14:creationId xmlns:p14="http://schemas.microsoft.com/office/powerpoint/2010/main" val="191822100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F3835525-1FE8-42D6-9E45-6567A6B6FE98}"/>
              </a:ext>
            </a:extLst>
          </p:cNvPr>
          <p:cNvSpPr>
            <a:spLocks xmlns:a="http://schemas.openxmlformats.org/drawingml/2006/main" noGrp="1"/>
          </p:cNvSpPr>
          <p:nvPr/>
        </p:nvSpPr>
        <p:spPr>
          <a:xfrm xmlns:a="http://schemas.openxmlformats.org/drawingml/2006/main">
            <a:off x="457200" y="314325"/>
            <a:ext cx="590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750" b="1" i="0">
                <a:solidFill>
                  <a:srgbClr val="5F6D80"/>
                </a:solidFill>
              </a:defRPr>
            </a:pPr>
            <a:r>
              <a:rPr sz="750" b="1" i="0">
                <a:solidFill>
                  <a:srgbClr val="5F6D80"/>
                </a:solidFill>
              </a:rPr>
              <a:t>THE HUMAN COST</a:t>
            </a:r>
          </a:p>
        </p:txBody>
      </p:sp>
      <p:sp>
        <p:nvSpPr>
          <p:cNvPr id="2" name="">
            <a:extLst xmlns:a="http://schemas.openxmlformats.org/drawingml/2006/main">
              <a:ext uri="{FF2B5EF4-FFF2-40B4-BE49-F238E27FC236}">
                <a16:creationId xmlns:a16="http://schemas.microsoft.com/office/drawing/2014/main" id="{9B51B427-843B-4558-8B38-FFD433CE654E}"/>
              </a:ext>
            </a:extLst>
          </p:cNvPr>
          <p:cNvSpPr>
            <a:spLocks xmlns:a="http://schemas.openxmlformats.org/drawingml/2006/main" noGrp="1"/>
          </p:cNvSpPr>
          <p:nvPr/>
        </p:nvSpPr>
        <p:spPr>
          <a:xfrm xmlns:a="http://schemas.openxmlformats.org/drawingml/2006/main">
            <a:off x="9639300" y="314325"/>
            <a:ext cx="209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750" b="1" i="0">
                <a:solidFill>
                  <a:srgbClr val="5F6D80"/>
                </a:solidFill>
              </a:defRPr>
            </a:pPr>
            <a:r>
              <a:rPr sz="750" b="1" i="0">
                <a:solidFill>
                  <a:srgbClr val="5F6D80"/>
                </a:solidFill>
              </a:rPr>
              <a:t>RXRELAY  /  02</a:t>
            </a:r>
          </a:p>
        </p:txBody>
      </p:sp>
      <p:sp>
        <p:nvSpPr>
          <p:cNvPr id="3" name="">
            <a:extLst xmlns:a="http://schemas.openxmlformats.org/drawingml/2006/main">
              <a:ext uri="{FF2B5EF4-FFF2-40B4-BE49-F238E27FC236}">
                <a16:creationId xmlns:a16="http://schemas.microsoft.com/office/drawing/2014/main" id="{A3FEFB86-BC7D-42AD-912A-67A66D3B19D9}"/>
              </a:ext>
            </a:extLst>
          </p:cNvPr>
          <p:cNvSpPr>
            <a:spLocks xmlns:a="http://schemas.openxmlformats.org/drawingml/2006/main" noGrp="1"/>
          </p:cNvSpPr>
          <p:nvPr/>
        </p:nvSpPr>
        <p:spPr>
          <a:xfrm xmlns:a="http://schemas.openxmlformats.org/drawingml/2006/main">
            <a:off x="457200" y="552450"/>
            <a:ext cx="11277600" cy="9525"/>
          </a:xfrm>
          <a:prstGeom xmlns:a="http://schemas.openxmlformats.org/drawingml/2006/main" prst="rect">
            <a:avLst/>
          </a:prstGeom>
          <a:solidFill xmlns:a="http://schemas.openxmlformats.org/drawingml/2006/main">
            <a:srgbClr val="D8E0E7"/>
          </a:solidFill>
          <a:ln xmlns:a="http://schemas.openxmlformats.org/drawingml/2006/main" w="0">
            <a:solidFill>
              <a:srgbClr val="D8E0E7"/>
            </a:solidFill>
            <a:prstDash val="solid"/>
          </a:ln>
        </p:spPr>
      </p:sp>
      <p:sp>
        <p:nvSpPr>
          <p:cNvPr id="4" name="title">
            <a:extLst xmlns:a="http://schemas.openxmlformats.org/drawingml/2006/main">
              <a:ext uri="{FF2B5EF4-FFF2-40B4-BE49-F238E27FC236}">
                <a16:creationId xmlns:a16="http://schemas.microsoft.com/office/drawing/2014/main" id="{F6E2B292-23C4-48E9-860D-D78BCCCBFB8E}"/>
              </a:ext>
            </a:extLst>
          </p:cNvPr>
          <p:cNvSpPr>
            <a:spLocks xmlns:a="http://schemas.openxmlformats.org/drawingml/2006/main" noGrp="1"/>
          </p:cNvSpPr>
          <p:nvPr/>
        </p:nvSpPr>
        <p:spPr>
          <a:xfrm xmlns:a="http://schemas.openxmlformats.org/drawingml/2006/main">
            <a:off x="457200" y="876300"/>
            <a:ext cx="8096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75" b="1" i="0">
                <a:solidFill>
                  <a:srgbClr val="0B1F33"/>
                </a:solidFill>
              </a:defRPr>
            </a:pPr>
            <a:r>
              <a:rPr sz="3975" b="1" i="0">
                <a:solidFill>
                  <a:srgbClr val="0B1F33"/>
                </a:solidFill>
              </a:rPr>
              <a:t>The patient becomes the switchboard.</a:t>
            </a:r>
          </a:p>
        </p:txBody>
      </p:sp>
      <p:sp>
        <p:nvSpPr>
          <p:cNvPr id="5" name="subtitle">
            <a:extLst xmlns:a="http://schemas.openxmlformats.org/drawingml/2006/main">
              <a:ext uri="{FF2B5EF4-FFF2-40B4-BE49-F238E27FC236}">
                <a16:creationId xmlns:a16="http://schemas.microsoft.com/office/drawing/2014/main" id="{4214931B-4514-4F90-91FC-02E174DE3180}"/>
              </a:ext>
            </a:extLst>
          </p:cNvPr>
          <p:cNvSpPr>
            <a:spLocks xmlns:a="http://schemas.openxmlformats.org/drawingml/2006/main" noGrp="1"/>
          </p:cNvSpPr>
          <p:nvPr/>
        </p:nvSpPr>
        <p:spPr>
          <a:xfrm xmlns:a="http://schemas.openxmlformats.org/drawingml/2006/main">
            <a:off x="457200" y="2057400"/>
            <a:ext cx="7143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5F6D80"/>
                </a:solidFill>
              </a:defRPr>
            </a:pPr>
            <a:r>
              <a:rPr sz="1350" b="0" i="0">
                <a:solidFill>
                  <a:srgbClr val="5F6D80"/>
                </a:solidFill>
              </a:rPr>
              <a:t>When a prescription stalls, the person who needs it is often left to repeat the same story across pharmacy, clinic, and insurer.</a:t>
            </a:r>
          </a:p>
        </p:txBody>
      </p:sp>
      <p:sp>
        <p:nvSpPr>
          <p:cNvPr id="6" name="">
            <a:extLst xmlns:a="http://schemas.openxmlformats.org/drawingml/2006/main">
              <a:ext uri="{FF2B5EF4-FFF2-40B4-BE49-F238E27FC236}">
                <a16:creationId xmlns:a16="http://schemas.microsoft.com/office/drawing/2014/main" id="{361FD8B8-9EE0-49D5-B3AF-81C28B6F2B95}"/>
              </a:ext>
            </a:extLst>
          </p:cNvPr>
          <p:cNvSpPr>
            <a:spLocks xmlns:a="http://schemas.openxmlformats.org/drawingml/2006/main" noGrp="1"/>
          </p:cNvSpPr>
          <p:nvPr/>
        </p:nvSpPr>
        <p:spPr>
          <a:xfrm xmlns:a="http://schemas.openxmlformats.org/drawingml/2006/main">
            <a:off x="476250" y="3162300"/>
            <a:ext cx="2809875" cy="1428750"/>
          </a:xfrm>
          <a:prstGeom xmlns:a="http://schemas.openxmlformats.org/drawingml/2006/main" prst="roundRect">
            <a:avLst>
              <a:gd name="adj" fmla="val 8000"/>
            </a:avLst>
          </a:prstGeom>
          <a:solidFill xmlns:a="http://schemas.openxmlformats.org/drawingml/2006/main">
            <a:srgbClr val="FFF1D7"/>
          </a:solidFill>
          <a:ln xmlns:a="http://schemas.openxmlformats.org/drawingml/2006/main" w="9525">
            <a:solidFill>
              <a:srgbClr val="FFF1D7"/>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53D9BADE-A628-4E09-A1C2-0346DB299269}"/>
              </a:ext>
            </a:extLst>
          </p:cNvPr>
          <p:cNvSpPr>
            <a:spLocks xmlns:a="http://schemas.openxmlformats.org/drawingml/2006/main" noGrp="1"/>
          </p:cNvSpPr>
          <p:nvPr/>
        </p:nvSpPr>
        <p:spPr>
          <a:xfrm xmlns:a="http://schemas.openxmlformats.org/drawingml/2006/main">
            <a:off x="685800" y="3400425"/>
            <a:ext cx="209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750" b="1" i="0">
                <a:solidFill>
                  <a:srgbClr val="E6A037"/>
                </a:solidFill>
              </a:defRPr>
            </a:pPr>
            <a:r>
              <a:rPr sz="750" b="1" i="0">
                <a:solidFill>
                  <a:srgbClr val="E6A037"/>
                </a:solidFill>
              </a:rPr>
              <a:t>PHARMACY</a:t>
            </a:r>
          </a:p>
        </p:txBody>
      </p:sp>
      <p:sp>
        <p:nvSpPr>
          <p:cNvPr id="8" name="">
            <a:extLst xmlns:a="http://schemas.openxmlformats.org/drawingml/2006/main">
              <a:ext uri="{FF2B5EF4-FFF2-40B4-BE49-F238E27FC236}">
                <a16:creationId xmlns:a16="http://schemas.microsoft.com/office/drawing/2014/main" id="{F5E9E347-7AA0-452B-8AA6-9856D545F0B2}"/>
              </a:ext>
            </a:extLst>
          </p:cNvPr>
          <p:cNvSpPr>
            <a:spLocks xmlns:a="http://schemas.openxmlformats.org/drawingml/2006/main" noGrp="1"/>
          </p:cNvSpPr>
          <p:nvPr/>
        </p:nvSpPr>
        <p:spPr>
          <a:xfrm xmlns:a="http://schemas.openxmlformats.org/drawingml/2006/main">
            <a:off x="685800" y="3800475"/>
            <a:ext cx="228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i="0">
                <a:solidFill>
                  <a:srgbClr val="0B1F33"/>
                </a:solidFill>
              </a:defRPr>
            </a:pPr>
            <a:r>
              <a:rPr sz="1350" b="1" i="0">
                <a:solidFill>
                  <a:srgbClr val="0B1F33"/>
                </a:solidFill>
              </a:rPr>
              <a:t>“We need a prior authorization.”</a:t>
            </a:r>
          </a:p>
        </p:txBody>
      </p:sp>
      <p:sp>
        <p:nvSpPr>
          <p:cNvPr id="9" name="">
            <a:extLst xmlns:a="http://schemas.openxmlformats.org/drawingml/2006/main">
              <a:ext uri="{FF2B5EF4-FFF2-40B4-BE49-F238E27FC236}">
                <a16:creationId xmlns:a16="http://schemas.microsoft.com/office/drawing/2014/main" id="{0BBB285A-05EC-41D0-A5B3-7FF983650FC8}"/>
              </a:ext>
            </a:extLst>
          </p:cNvPr>
          <p:cNvSpPr>
            <a:spLocks xmlns:a="http://schemas.openxmlformats.org/drawingml/2006/main" noGrp="1"/>
          </p:cNvSpPr>
          <p:nvPr/>
        </p:nvSpPr>
        <p:spPr>
          <a:xfrm xmlns:a="http://schemas.openxmlformats.org/drawingml/2006/main">
            <a:off x="3352800" y="3705225"/>
            <a:ext cx="28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0" i="0">
                <a:solidFill>
                  <a:srgbClr val="A4B0BE"/>
                </a:solidFill>
              </a:defRPr>
            </a:pPr>
            <a:r>
              <a:rPr sz="2100" b="0" i="0">
                <a:solidFill>
                  <a:srgbClr val="A4B0BE"/>
                </a:solidFill>
              </a:rPr>
              <a:t>→</a:t>
            </a:r>
          </a:p>
        </p:txBody>
      </p:sp>
      <p:sp>
        <p:nvSpPr>
          <p:cNvPr id="10" name="">
            <a:extLst xmlns:a="http://schemas.openxmlformats.org/drawingml/2006/main">
              <a:ext uri="{FF2B5EF4-FFF2-40B4-BE49-F238E27FC236}">
                <a16:creationId xmlns:a16="http://schemas.microsoft.com/office/drawing/2014/main" id="{21FA726D-E219-44E3-BCA1-A732DC46A2F3}"/>
              </a:ext>
            </a:extLst>
          </p:cNvPr>
          <p:cNvSpPr>
            <a:spLocks xmlns:a="http://schemas.openxmlformats.org/drawingml/2006/main" noGrp="1"/>
          </p:cNvSpPr>
          <p:nvPr/>
        </p:nvSpPr>
        <p:spPr>
          <a:xfrm xmlns:a="http://schemas.openxmlformats.org/drawingml/2006/main">
            <a:off x="3762375" y="3162300"/>
            <a:ext cx="2809875" cy="1428750"/>
          </a:xfrm>
          <a:prstGeom xmlns:a="http://schemas.openxmlformats.org/drawingml/2006/main" prst="roundRect">
            <a:avLst>
              <a:gd name="adj" fmla="val 8000"/>
            </a:avLst>
          </a:prstGeom>
          <a:solidFill xmlns:a="http://schemas.openxmlformats.org/drawingml/2006/main">
            <a:srgbClr val="EEE9FF"/>
          </a:solidFill>
          <a:ln xmlns:a="http://schemas.openxmlformats.org/drawingml/2006/main" w="9525">
            <a:solidFill>
              <a:srgbClr val="EEE9FF"/>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
            <a:extLst xmlns:a="http://schemas.openxmlformats.org/drawingml/2006/main">
              <a:ext uri="{FF2B5EF4-FFF2-40B4-BE49-F238E27FC236}">
                <a16:creationId xmlns:a16="http://schemas.microsoft.com/office/drawing/2014/main" id="{92E89D58-CD62-4607-B33B-62BBEE0D951F}"/>
              </a:ext>
            </a:extLst>
          </p:cNvPr>
          <p:cNvSpPr>
            <a:spLocks xmlns:a="http://schemas.openxmlformats.org/drawingml/2006/main" noGrp="1"/>
          </p:cNvSpPr>
          <p:nvPr/>
        </p:nvSpPr>
        <p:spPr>
          <a:xfrm xmlns:a="http://schemas.openxmlformats.org/drawingml/2006/main">
            <a:off x="3971925" y="3400425"/>
            <a:ext cx="209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750" b="1" i="0">
                <a:solidFill>
                  <a:srgbClr val="7B61D4"/>
                </a:solidFill>
              </a:defRPr>
            </a:pPr>
            <a:r>
              <a:rPr sz="750" b="1" i="0">
                <a:solidFill>
                  <a:srgbClr val="7B61D4"/>
                </a:solidFill>
              </a:rPr>
              <a:t>CLINIC</a:t>
            </a:r>
          </a:p>
        </p:txBody>
      </p:sp>
      <p:sp>
        <p:nvSpPr>
          <p:cNvPr id="12" name="">
            <a:extLst xmlns:a="http://schemas.openxmlformats.org/drawingml/2006/main">
              <a:ext uri="{FF2B5EF4-FFF2-40B4-BE49-F238E27FC236}">
                <a16:creationId xmlns:a16="http://schemas.microsoft.com/office/drawing/2014/main" id="{F51025DA-F59C-49CD-8A2B-F736EE08A2B3}"/>
              </a:ext>
            </a:extLst>
          </p:cNvPr>
          <p:cNvSpPr>
            <a:spLocks xmlns:a="http://schemas.openxmlformats.org/drawingml/2006/main" noGrp="1"/>
          </p:cNvSpPr>
          <p:nvPr/>
        </p:nvSpPr>
        <p:spPr>
          <a:xfrm xmlns:a="http://schemas.openxmlformats.org/drawingml/2006/main">
            <a:off x="3971925" y="3800475"/>
            <a:ext cx="228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i="0">
                <a:solidFill>
                  <a:srgbClr val="0B1F33"/>
                </a:solidFill>
              </a:defRPr>
            </a:pPr>
            <a:r>
              <a:rPr sz="1350" b="1" i="0">
                <a:solidFill>
                  <a:srgbClr val="0B1F33"/>
                </a:solidFill>
              </a:rPr>
              <a:t>“We sent it—call your insurer.”</a:t>
            </a:r>
          </a:p>
        </p:txBody>
      </p:sp>
      <p:sp>
        <p:nvSpPr>
          <p:cNvPr id="13" name="">
            <a:extLst xmlns:a="http://schemas.openxmlformats.org/drawingml/2006/main">
              <a:ext uri="{FF2B5EF4-FFF2-40B4-BE49-F238E27FC236}">
                <a16:creationId xmlns:a16="http://schemas.microsoft.com/office/drawing/2014/main" id="{30E36237-7751-41A1-9CEA-959D868C24B8}"/>
              </a:ext>
            </a:extLst>
          </p:cNvPr>
          <p:cNvSpPr>
            <a:spLocks xmlns:a="http://schemas.openxmlformats.org/drawingml/2006/main" noGrp="1"/>
          </p:cNvSpPr>
          <p:nvPr/>
        </p:nvSpPr>
        <p:spPr>
          <a:xfrm xmlns:a="http://schemas.openxmlformats.org/drawingml/2006/main">
            <a:off x="6638925" y="3705225"/>
            <a:ext cx="28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0" i="0">
                <a:solidFill>
                  <a:srgbClr val="A4B0BE"/>
                </a:solidFill>
              </a:defRPr>
            </a:pPr>
            <a:r>
              <a:rPr sz="2100" b="0" i="0">
                <a:solidFill>
                  <a:srgbClr val="A4B0BE"/>
                </a:solidFill>
              </a:rPr>
              <a:t>→</a:t>
            </a:r>
          </a:p>
        </p:txBody>
      </p:sp>
      <p:sp>
        <p:nvSpPr>
          <p:cNvPr id="14" name="">
            <a:extLst xmlns:a="http://schemas.openxmlformats.org/drawingml/2006/main">
              <a:ext uri="{FF2B5EF4-FFF2-40B4-BE49-F238E27FC236}">
                <a16:creationId xmlns:a16="http://schemas.microsoft.com/office/drawing/2014/main" id="{DEF953FB-D3D2-4814-B694-CE829F887B70}"/>
              </a:ext>
            </a:extLst>
          </p:cNvPr>
          <p:cNvSpPr>
            <a:spLocks xmlns:a="http://schemas.openxmlformats.org/drawingml/2006/main" noGrp="1"/>
          </p:cNvSpPr>
          <p:nvPr/>
        </p:nvSpPr>
        <p:spPr>
          <a:xfrm xmlns:a="http://schemas.openxmlformats.org/drawingml/2006/main">
            <a:off x="7048500" y="3162300"/>
            <a:ext cx="2809875" cy="1428750"/>
          </a:xfrm>
          <a:prstGeom xmlns:a="http://schemas.openxmlformats.org/drawingml/2006/main" prst="roundRect">
            <a:avLst>
              <a:gd name="adj" fmla="val 8000"/>
            </a:avLst>
          </a:prstGeom>
          <a:solidFill xmlns:a="http://schemas.openxmlformats.org/drawingml/2006/main">
            <a:srgbClr val="E5F0FF"/>
          </a:solidFill>
          <a:ln xmlns:a="http://schemas.openxmlformats.org/drawingml/2006/main" w="9525">
            <a:solidFill>
              <a:srgbClr val="E5F0FF"/>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
            <a:extLst xmlns:a="http://schemas.openxmlformats.org/drawingml/2006/main">
              <a:ext uri="{FF2B5EF4-FFF2-40B4-BE49-F238E27FC236}">
                <a16:creationId xmlns:a16="http://schemas.microsoft.com/office/drawing/2014/main" id="{E099868B-F77B-492C-92C8-E64FFA9336B9}"/>
              </a:ext>
            </a:extLst>
          </p:cNvPr>
          <p:cNvSpPr>
            <a:spLocks xmlns:a="http://schemas.openxmlformats.org/drawingml/2006/main" noGrp="1"/>
          </p:cNvSpPr>
          <p:nvPr/>
        </p:nvSpPr>
        <p:spPr>
          <a:xfrm xmlns:a="http://schemas.openxmlformats.org/drawingml/2006/main">
            <a:off x="7258050" y="3400425"/>
            <a:ext cx="209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750" b="1" i="0">
                <a:solidFill>
                  <a:srgbClr val="3D8DFF"/>
                </a:solidFill>
              </a:defRPr>
            </a:pPr>
            <a:r>
              <a:rPr sz="750" b="1" i="0">
                <a:solidFill>
                  <a:srgbClr val="3D8DFF"/>
                </a:solidFill>
              </a:rPr>
              <a:t>INSURER</a:t>
            </a:r>
          </a:p>
        </p:txBody>
      </p:sp>
      <p:sp>
        <p:nvSpPr>
          <p:cNvPr id="16" name="">
            <a:extLst xmlns:a="http://schemas.openxmlformats.org/drawingml/2006/main">
              <a:ext uri="{FF2B5EF4-FFF2-40B4-BE49-F238E27FC236}">
                <a16:creationId xmlns:a16="http://schemas.microsoft.com/office/drawing/2014/main" id="{A591185F-BF8C-4DA4-9508-D988EAD7589F}"/>
              </a:ext>
            </a:extLst>
          </p:cNvPr>
          <p:cNvSpPr>
            <a:spLocks xmlns:a="http://schemas.openxmlformats.org/drawingml/2006/main" noGrp="1"/>
          </p:cNvSpPr>
          <p:nvPr/>
        </p:nvSpPr>
        <p:spPr>
          <a:xfrm xmlns:a="http://schemas.openxmlformats.org/drawingml/2006/main">
            <a:off x="7258050" y="3800475"/>
            <a:ext cx="228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i="0">
                <a:solidFill>
                  <a:srgbClr val="0B1F33"/>
                </a:solidFill>
              </a:defRPr>
            </a:pPr>
            <a:r>
              <a:rPr sz="1350" b="1" i="0">
                <a:solidFill>
                  <a:srgbClr val="0B1F33"/>
                </a:solidFill>
              </a:rPr>
              <a:t>“Ask the pharmacy for the status.”</a:t>
            </a:r>
          </a:p>
        </p:txBody>
      </p:sp>
      <p:sp>
        <p:nvSpPr>
          <p:cNvPr id="17" name="">
            <a:extLst xmlns:a="http://schemas.openxmlformats.org/drawingml/2006/main">
              <a:ext uri="{FF2B5EF4-FFF2-40B4-BE49-F238E27FC236}">
                <a16:creationId xmlns:a16="http://schemas.microsoft.com/office/drawing/2014/main" id="{031DFA36-B032-4350-A06C-AE6D765277A1}"/>
              </a:ext>
            </a:extLst>
          </p:cNvPr>
          <p:cNvSpPr>
            <a:spLocks xmlns:a="http://schemas.openxmlformats.org/drawingml/2006/main" noGrp="1"/>
          </p:cNvSpPr>
          <p:nvPr/>
        </p:nvSpPr>
        <p:spPr>
          <a:xfrm xmlns:a="http://schemas.openxmlformats.org/drawingml/2006/main">
            <a:off x="10344150" y="2524125"/>
            <a:ext cx="1390650" cy="2724150"/>
          </a:xfrm>
          <a:prstGeom xmlns:a="http://schemas.openxmlformats.org/drawingml/2006/main" prst="roundRect">
            <a:avLst>
              <a:gd name="adj" fmla="val 8219"/>
            </a:avLst>
          </a:prstGeom>
          <a:solidFill xmlns:a="http://schemas.openxmlformats.org/drawingml/2006/main">
            <a:srgbClr val="071A2B"/>
          </a:solidFill>
          <a:ln xmlns:a="http://schemas.openxmlformats.org/drawingml/2006/main" w="9525">
            <a:solidFill>
              <a:srgbClr val="071A2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8" name="">
            <a:extLst xmlns:a="http://schemas.openxmlformats.org/drawingml/2006/main">
              <a:ext uri="{FF2B5EF4-FFF2-40B4-BE49-F238E27FC236}">
                <a16:creationId xmlns:a16="http://schemas.microsoft.com/office/drawing/2014/main" id="{1501C62C-178B-45F7-9577-4C72D46C1228}"/>
              </a:ext>
            </a:extLst>
          </p:cNvPr>
          <p:cNvSpPr>
            <a:spLocks xmlns:a="http://schemas.openxmlformats.org/drawingml/2006/main" noGrp="1"/>
          </p:cNvSpPr>
          <p:nvPr/>
        </p:nvSpPr>
        <p:spPr>
          <a:xfrm xmlns:a="http://schemas.openxmlformats.org/drawingml/2006/main">
            <a:off x="10544175" y="2857500"/>
            <a:ext cx="95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825" b="1" i="0">
                <a:solidFill>
                  <a:srgbClr val="AEC1D1"/>
                </a:solidFill>
              </a:defRPr>
            </a:pPr>
            <a:r>
              <a:rPr sz="825" b="1" i="0">
                <a:solidFill>
                  <a:srgbClr val="AEC1D1"/>
                </a:solidFill>
              </a:rPr>
              <a:t>THE</a:t>
            </a:r>
          </a:p>
          <a:p xmlns:a="http://schemas.openxmlformats.org/drawingml/2006/main">
            <a:pPr algn="ctr">
              <a:defRPr sz="825" b="1" i="0">
                <a:solidFill>
                  <a:srgbClr val="AEC1D1"/>
                </a:solidFill>
              </a:defRPr>
            </a:pPr>
            <a:r>
              <a:rPr sz="825" b="1" i="0">
                <a:solidFill>
                  <a:srgbClr val="AEC1D1"/>
                </a:solidFill>
              </a:rPr>
              <a:t>PATIENT</a:t>
            </a:r>
          </a:p>
        </p:txBody>
      </p:sp>
      <p:sp>
        <p:nvSpPr>
          <p:cNvPr id="19" name="">
            <a:extLst xmlns:a="http://schemas.openxmlformats.org/drawingml/2006/main">
              <a:ext uri="{FF2B5EF4-FFF2-40B4-BE49-F238E27FC236}">
                <a16:creationId xmlns:a16="http://schemas.microsoft.com/office/drawing/2014/main" id="{4F48D4F9-8E19-43F0-838B-866D7BDD8600}"/>
              </a:ext>
            </a:extLst>
          </p:cNvPr>
          <p:cNvSpPr>
            <a:spLocks xmlns:a="http://schemas.openxmlformats.org/drawingml/2006/main" noGrp="1"/>
          </p:cNvSpPr>
          <p:nvPr/>
        </p:nvSpPr>
        <p:spPr>
          <a:xfrm xmlns:a="http://schemas.openxmlformats.org/drawingml/2006/main">
            <a:off x="10715625" y="3524250"/>
            <a:ext cx="647700" cy="647700"/>
          </a:xfrm>
          <a:prstGeom xmlns:a="http://schemas.openxmlformats.org/drawingml/2006/main" prst="ellipse">
            <a:avLst/>
          </a:prstGeom>
          <a:solidFill xmlns:a="http://schemas.openxmlformats.org/drawingml/2006/main">
            <a:srgbClr val="0E9F8E"/>
          </a:solidFill>
          <a:ln xmlns:a="http://schemas.openxmlformats.org/drawingml/2006/main" w="0">
            <a:solidFill>
              <a:srgbClr val="0E9F8E"/>
            </a:solidFill>
            <a:prstDash val="solid"/>
          </a:ln>
        </p:spPr>
      </p:sp>
      <p:sp>
        <p:nvSpPr>
          <p:cNvPr id="20" name="">
            <a:extLst xmlns:a="http://schemas.openxmlformats.org/drawingml/2006/main">
              <a:ext uri="{FF2B5EF4-FFF2-40B4-BE49-F238E27FC236}">
                <a16:creationId xmlns:a16="http://schemas.microsoft.com/office/drawing/2014/main" id="{85F0CCA2-DD38-4B88-BD7C-DDFE061842E5}"/>
              </a:ext>
            </a:extLst>
          </p:cNvPr>
          <p:cNvSpPr>
            <a:spLocks xmlns:a="http://schemas.openxmlformats.org/drawingml/2006/main" noGrp="1"/>
          </p:cNvSpPr>
          <p:nvPr/>
        </p:nvSpPr>
        <p:spPr>
          <a:xfrm xmlns:a="http://schemas.openxmlformats.org/drawingml/2006/main">
            <a:off x="10877550" y="3600450"/>
            <a:ext cx="3238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850" b="1" i="0">
                <a:solidFill>
                  <a:srgbClr val="FFFFFF"/>
                </a:solidFill>
              </a:defRPr>
            </a:pPr>
            <a:r>
              <a:rPr sz="2850" b="1" i="0">
                <a:solidFill>
                  <a:srgbClr val="FFFFFF"/>
                </a:solidFill>
              </a:rPr>
              <a:t>?</a:t>
            </a:r>
          </a:p>
        </p:txBody>
      </p:sp>
      <p:sp>
        <p:nvSpPr>
          <p:cNvPr id="21" name="">
            <a:extLst xmlns:a="http://schemas.openxmlformats.org/drawingml/2006/main">
              <a:ext uri="{FF2B5EF4-FFF2-40B4-BE49-F238E27FC236}">
                <a16:creationId xmlns:a16="http://schemas.microsoft.com/office/drawing/2014/main" id="{AD8A29D1-6850-4474-A552-CE33111B0BCC}"/>
              </a:ext>
            </a:extLst>
          </p:cNvPr>
          <p:cNvSpPr>
            <a:spLocks xmlns:a="http://schemas.openxmlformats.org/drawingml/2006/main" noGrp="1"/>
          </p:cNvSpPr>
          <p:nvPr/>
        </p:nvSpPr>
        <p:spPr>
          <a:xfrm xmlns:a="http://schemas.openxmlformats.org/drawingml/2006/main">
            <a:off x="10496550" y="4438650"/>
            <a:ext cx="1066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975" b="0" i="0">
                <a:solidFill>
                  <a:srgbClr val="FFFFFF"/>
                </a:solidFill>
              </a:defRPr>
            </a:pPr>
            <a:r>
              <a:rPr sz="975" b="0" i="0">
                <a:solidFill>
                  <a:srgbClr val="FFFFFF"/>
                </a:solidFill>
              </a:rPr>
              <a:t>calling</a:t>
            </a:r>
          </a:p>
          <a:p xmlns:a="http://schemas.openxmlformats.org/drawingml/2006/main">
            <a:pPr algn="ctr">
              <a:defRPr sz="975" b="0" i="0">
                <a:solidFill>
                  <a:srgbClr val="FFFFFF"/>
                </a:solidFill>
              </a:defRPr>
            </a:pPr>
            <a:r>
              <a:rPr sz="975" b="0" i="0">
                <a:solidFill>
                  <a:srgbClr val="FFFFFF"/>
                </a:solidFill>
              </a:rPr>
              <a:t>again</a:t>
            </a:r>
          </a:p>
        </p:txBody>
      </p:sp>
      <p:sp>
        <p:nvSpPr>
          <p:cNvPr id="22" name="">
            <a:extLst xmlns:a="http://schemas.openxmlformats.org/drawingml/2006/main">
              <a:ext uri="{FF2B5EF4-FFF2-40B4-BE49-F238E27FC236}">
                <a16:creationId xmlns:a16="http://schemas.microsoft.com/office/drawing/2014/main" id="{B661A461-EB33-48C5-B3C7-C13C4FDD8D6C}"/>
              </a:ext>
            </a:extLst>
          </p:cNvPr>
          <p:cNvSpPr>
            <a:spLocks xmlns:a="http://schemas.openxmlformats.org/drawingml/2006/main" noGrp="1"/>
          </p:cNvSpPr>
          <p:nvPr/>
        </p:nvSpPr>
        <p:spPr>
          <a:xfrm xmlns:a="http://schemas.openxmlformats.org/drawingml/2006/main">
            <a:off x="457200" y="6457950"/>
            <a:ext cx="85725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75" b="0" i="0">
                <a:solidFill>
                  <a:srgbClr val="8090A1"/>
                </a:solidFill>
              </a:defRPr>
            </a:pPr>
            <a:r>
              <a:rPr sz="675" b="0" i="0">
                <a:solidFill>
                  <a:srgbClr val="8090A1"/>
                </a:solidFill>
              </a:rPr>
              <a:t>Patient-reported experiences point to repeated pharmacy calls during shortage and authorization friction.</a:t>
            </a:r>
          </a:p>
        </p:txBody>
      </p:sp>
      <p:sp>
        <p:nvSpPr>
          <p:cNvPr id="23" name="">
            <a:extLst xmlns:a="http://schemas.openxmlformats.org/drawingml/2006/main">
              <a:ext uri="{FF2B5EF4-FFF2-40B4-BE49-F238E27FC236}">
                <a16:creationId xmlns:a16="http://schemas.microsoft.com/office/drawing/2014/main" id="{9B243659-204F-4CD1-AA54-84C901EDD10F}"/>
              </a:ext>
            </a:extLst>
          </p:cNvPr>
          <p:cNvSpPr>
            <a:spLocks xmlns:a="http://schemas.openxmlformats.org/drawingml/2006/main" noGrp="1"/>
          </p:cNvSpPr>
          <p:nvPr/>
        </p:nvSpPr>
        <p:spPr>
          <a:xfrm xmlns:a="http://schemas.openxmlformats.org/drawingml/2006/main">
            <a:off x="8382000" y="6457950"/>
            <a:ext cx="3352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675" b="0" i="0">
                <a:solidFill>
                  <a:srgbClr val="8090A1"/>
                </a:solidFill>
              </a:defRPr>
            </a:pPr>
            <a:r>
              <a:rPr sz="675" b="0" i="0">
                <a:solidFill>
                  <a:srgbClr val="8090A1"/>
                </a:solidFill>
              </a:rPr>
              <a:t>A1MOBILE VOICE AI HACKATHON · 2026</a:t>
            </a:r>
          </a:p>
        </p:txBody>
      </p:sp>
    </p:spTree>
    <p:extLst>
      <p:ext uri="{BB962C8B-B14F-4D97-AF65-F5344CB8AC3E}">
        <p14:creationId xmlns:p14="http://schemas.microsoft.com/office/powerpoint/2010/main" val="230866231"/>
      </p:ext>
    </p:extLst>
  </p:cSld>
</p:sld>
</file>

<file path=ppt/slides/slide3.xml><?xml version="1.0" encoding="utf-8"?>
<p:sld xmlns:p="http://schemas.openxmlformats.org/presentationml/2006/main">
  <p:cSld>
    <p:bg>
      <p:bgPr>
        <a:solidFill xmlns:a="http://schemas.openxmlformats.org/drawingml/2006/main">
          <a:srgbClr val="F3F5F7"/>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ECBBE57-B9D3-4AA7-998C-D99F2F781B82}"/>
              </a:ext>
            </a:extLst>
          </p:cNvPr>
          <p:cNvSpPr>
            <a:spLocks xmlns:a="http://schemas.openxmlformats.org/drawingml/2006/main" noGrp="1"/>
          </p:cNvSpPr>
          <p:nvPr/>
        </p:nvSpPr>
        <p:spPr>
          <a:xfrm xmlns:a="http://schemas.openxmlformats.org/drawingml/2006/main">
            <a:off x="457200" y="314325"/>
            <a:ext cx="590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750" b="1" i="0">
                <a:solidFill>
                  <a:srgbClr val="5F6D80"/>
                </a:solidFill>
              </a:defRPr>
            </a:pPr>
            <a:r>
              <a:rPr sz="750" b="1" i="0">
                <a:solidFill>
                  <a:srgbClr val="5F6D80"/>
                </a:solidFill>
              </a:rPr>
              <a:t>THE MISSING LAYER</a:t>
            </a:r>
          </a:p>
        </p:txBody>
      </p:sp>
      <p:sp>
        <p:nvSpPr>
          <p:cNvPr id="2" name="">
            <a:extLst xmlns:a="http://schemas.openxmlformats.org/drawingml/2006/main">
              <a:ext uri="{FF2B5EF4-FFF2-40B4-BE49-F238E27FC236}">
                <a16:creationId xmlns:a16="http://schemas.microsoft.com/office/drawing/2014/main" id="{7F549CBE-2518-4C23-806D-6CA4FEC97E93}"/>
              </a:ext>
            </a:extLst>
          </p:cNvPr>
          <p:cNvSpPr>
            <a:spLocks xmlns:a="http://schemas.openxmlformats.org/drawingml/2006/main" noGrp="1"/>
          </p:cNvSpPr>
          <p:nvPr/>
        </p:nvSpPr>
        <p:spPr>
          <a:xfrm xmlns:a="http://schemas.openxmlformats.org/drawingml/2006/main">
            <a:off x="9639300" y="314325"/>
            <a:ext cx="209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750" b="1" i="0">
                <a:solidFill>
                  <a:srgbClr val="5F6D80"/>
                </a:solidFill>
              </a:defRPr>
            </a:pPr>
            <a:r>
              <a:rPr sz="750" b="1" i="0">
                <a:solidFill>
                  <a:srgbClr val="5F6D80"/>
                </a:solidFill>
              </a:rPr>
              <a:t>RXRELAY  /  03</a:t>
            </a:r>
          </a:p>
        </p:txBody>
      </p:sp>
      <p:sp>
        <p:nvSpPr>
          <p:cNvPr id="3" name="">
            <a:extLst xmlns:a="http://schemas.openxmlformats.org/drawingml/2006/main">
              <a:ext uri="{FF2B5EF4-FFF2-40B4-BE49-F238E27FC236}">
                <a16:creationId xmlns:a16="http://schemas.microsoft.com/office/drawing/2014/main" id="{E000BEDB-8AF8-414C-911E-B81932CA19D9}"/>
              </a:ext>
            </a:extLst>
          </p:cNvPr>
          <p:cNvSpPr>
            <a:spLocks xmlns:a="http://schemas.openxmlformats.org/drawingml/2006/main" noGrp="1"/>
          </p:cNvSpPr>
          <p:nvPr/>
        </p:nvSpPr>
        <p:spPr>
          <a:xfrm xmlns:a="http://schemas.openxmlformats.org/drawingml/2006/main">
            <a:off x="457200" y="552450"/>
            <a:ext cx="11277600" cy="9525"/>
          </a:xfrm>
          <a:prstGeom xmlns:a="http://schemas.openxmlformats.org/drawingml/2006/main" prst="rect">
            <a:avLst/>
          </a:prstGeom>
          <a:solidFill xmlns:a="http://schemas.openxmlformats.org/drawingml/2006/main">
            <a:srgbClr val="D8E0E7"/>
          </a:solidFill>
          <a:ln xmlns:a="http://schemas.openxmlformats.org/drawingml/2006/main" w="0">
            <a:solidFill>
              <a:srgbClr val="D8E0E7"/>
            </a:solidFill>
            <a:prstDash val="solid"/>
          </a:ln>
        </p:spPr>
      </p:sp>
      <p:sp>
        <p:nvSpPr>
          <p:cNvPr id="4" name="title">
            <a:extLst xmlns:a="http://schemas.openxmlformats.org/drawingml/2006/main">
              <a:ext uri="{FF2B5EF4-FFF2-40B4-BE49-F238E27FC236}">
                <a16:creationId xmlns:a16="http://schemas.microsoft.com/office/drawing/2014/main" id="{970C88CB-778A-42CA-9672-04C02328FAEA}"/>
              </a:ext>
            </a:extLst>
          </p:cNvPr>
          <p:cNvSpPr>
            <a:spLocks xmlns:a="http://schemas.openxmlformats.org/drawingml/2006/main" noGrp="1"/>
          </p:cNvSpPr>
          <p:nvPr/>
        </p:nvSpPr>
        <p:spPr>
          <a:xfrm xmlns:a="http://schemas.openxmlformats.org/drawingml/2006/main">
            <a:off x="457200" y="876300"/>
            <a:ext cx="8096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75" b="1" i="0">
                <a:solidFill>
                  <a:srgbClr val="0B1F33"/>
                </a:solidFill>
              </a:defRPr>
            </a:pPr>
            <a:r>
              <a:rPr sz="3975" b="1" i="0">
                <a:solidFill>
                  <a:srgbClr val="0B1F33"/>
                </a:solidFill>
              </a:rPr>
              <a:t>The problem is not finding a phone number.</a:t>
            </a:r>
          </a:p>
        </p:txBody>
      </p:sp>
      <p:sp>
        <p:nvSpPr>
          <p:cNvPr id="5" name="subtitle">
            <a:extLst xmlns:a="http://schemas.openxmlformats.org/drawingml/2006/main">
              <a:ext uri="{FF2B5EF4-FFF2-40B4-BE49-F238E27FC236}">
                <a16:creationId xmlns:a16="http://schemas.microsoft.com/office/drawing/2014/main" id="{4C807225-4696-44FD-895D-9C77D06C06DE}"/>
              </a:ext>
            </a:extLst>
          </p:cNvPr>
          <p:cNvSpPr>
            <a:spLocks xmlns:a="http://schemas.openxmlformats.org/drawingml/2006/main" noGrp="1"/>
          </p:cNvSpPr>
          <p:nvPr/>
        </p:nvSpPr>
        <p:spPr>
          <a:xfrm xmlns:a="http://schemas.openxmlformats.org/drawingml/2006/main">
            <a:off x="457200" y="2057400"/>
            <a:ext cx="7143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5F6D80"/>
                </a:solidFill>
              </a:defRPr>
            </a:pPr>
            <a:r>
              <a:rPr sz="1350" b="0" i="0">
                <a:solidFill>
                  <a:srgbClr val="5F6D80"/>
                </a:solidFill>
              </a:rPr>
              <a:t>It is closing the loop across institutions—without making the patient prove that every handoff happened.</a:t>
            </a:r>
          </a:p>
        </p:txBody>
      </p:sp>
      <p:sp>
        <p:nvSpPr>
          <p:cNvPr id="6" name="">
            <a:extLst xmlns:a="http://schemas.openxmlformats.org/drawingml/2006/main">
              <a:ext uri="{FF2B5EF4-FFF2-40B4-BE49-F238E27FC236}">
                <a16:creationId xmlns:a16="http://schemas.microsoft.com/office/drawing/2014/main" id="{1AE97E99-467A-497E-B324-C637A74022EA}"/>
              </a:ext>
            </a:extLst>
          </p:cNvPr>
          <p:cNvSpPr>
            <a:spLocks xmlns:a="http://schemas.openxmlformats.org/drawingml/2006/main" noGrp="1"/>
          </p:cNvSpPr>
          <p:nvPr/>
        </p:nvSpPr>
        <p:spPr>
          <a:xfrm xmlns:a="http://schemas.openxmlformats.org/drawingml/2006/main">
            <a:off x="457200" y="3190875"/>
            <a:ext cx="5000625" cy="2047875"/>
          </a:xfrm>
          <a:prstGeom xmlns:a="http://schemas.openxmlformats.org/drawingml/2006/main" prst="roundRect">
            <a:avLst>
              <a:gd name="adj" fmla="val 5581"/>
            </a:avLst>
          </a:prstGeom>
          <a:solidFill xmlns:a="http://schemas.openxmlformats.org/drawingml/2006/main">
            <a:srgbClr val="FFFFFF"/>
          </a:solidFill>
          <a:ln xmlns:a="http://schemas.openxmlformats.org/drawingml/2006/main" w="9525">
            <a:solidFill>
              <a:srgbClr val="D8E0E7"/>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B99CBA6F-AB95-4CFB-AA47-66B0FAE244EF}"/>
              </a:ext>
            </a:extLst>
          </p:cNvPr>
          <p:cNvSpPr>
            <a:spLocks xmlns:a="http://schemas.openxmlformats.org/drawingml/2006/main" noGrp="1"/>
          </p:cNvSpPr>
          <p:nvPr/>
        </p:nvSpPr>
        <p:spPr>
          <a:xfrm xmlns:a="http://schemas.openxmlformats.org/drawingml/2006/main">
            <a:off x="704850" y="3448050"/>
            <a:ext cx="11430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750" b="1" i="0">
                <a:solidFill>
                  <a:srgbClr val="D35656"/>
                </a:solidFill>
              </a:defRPr>
            </a:pPr>
            <a:r>
              <a:rPr sz="750" b="1" i="0">
                <a:solidFill>
                  <a:srgbClr val="D35656"/>
                </a:solidFill>
              </a:rPr>
              <a:t>TODAY</a:t>
            </a:r>
          </a:p>
        </p:txBody>
      </p:sp>
      <p:sp>
        <p:nvSpPr>
          <p:cNvPr id="8" name="">
            <a:extLst xmlns:a="http://schemas.openxmlformats.org/drawingml/2006/main">
              <a:ext uri="{FF2B5EF4-FFF2-40B4-BE49-F238E27FC236}">
                <a16:creationId xmlns:a16="http://schemas.microsoft.com/office/drawing/2014/main" id="{430EB3C2-276D-43CF-A243-24804D0B4AF5}"/>
              </a:ext>
            </a:extLst>
          </p:cNvPr>
          <p:cNvSpPr>
            <a:spLocks xmlns:a="http://schemas.openxmlformats.org/drawingml/2006/main" noGrp="1"/>
          </p:cNvSpPr>
          <p:nvPr/>
        </p:nvSpPr>
        <p:spPr>
          <a:xfrm xmlns:a="http://schemas.openxmlformats.org/drawingml/2006/main">
            <a:off x="704850" y="3848100"/>
            <a:ext cx="4095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i="0">
                <a:solidFill>
                  <a:srgbClr val="0B1F33"/>
                </a:solidFill>
              </a:defRPr>
            </a:pPr>
            <a:r>
              <a:rPr sz="2025" b="1" i="0">
                <a:solidFill>
                  <a:srgbClr val="0B1F33"/>
                </a:solidFill>
              </a:rPr>
              <a:t>Call → hold → repeat → hope</a:t>
            </a:r>
          </a:p>
        </p:txBody>
      </p:sp>
      <p:sp>
        <p:nvSpPr>
          <p:cNvPr id="9" name="">
            <a:extLst xmlns:a="http://schemas.openxmlformats.org/drawingml/2006/main">
              <a:ext uri="{FF2B5EF4-FFF2-40B4-BE49-F238E27FC236}">
                <a16:creationId xmlns:a16="http://schemas.microsoft.com/office/drawing/2014/main" id="{2411AD00-53B8-4B5C-8060-1C55DDF1C8A5}"/>
              </a:ext>
            </a:extLst>
          </p:cNvPr>
          <p:cNvSpPr>
            <a:spLocks xmlns:a="http://schemas.openxmlformats.org/drawingml/2006/main" noGrp="1"/>
          </p:cNvSpPr>
          <p:nvPr/>
        </p:nvSpPr>
        <p:spPr>
          <a:xfrm xmlns:a="http://schemas.openxmlformats.org/drawingml/2006/main">
            <a:off x="704850" y="4686300"/>
            <a:ext cx="3905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F6D80"/>
                </a:solidFill>
              </a:defRPr>
            </a:pPr>
            <a:r>
              <a:rPr sz="1125" b="0" i="0">
                <a:solidFill>
                  <a:srgbClr val="5F6D80"/>
                </a:solidFill>
              </a:rPr>
              <a:t>No shared state. No reliable owner. No proof that the next actor actually acted.</a:t>
            </a:r>
          </a:p>
        </p:txBody>
      </p:sp>
      <p:sp>
        <p:nvSpPr>
          <p:cNvPr id="10" name="">
            <a:extLst xmlns:a="http://schemas.openxmlformats.org/drawingml/2006/main">
              <a:ext uri="{FF2B5EF4-FFF2-40B4-BE49-F238E27FC236}">
                <a16:creationId xmlns:a16="http://schemas.microsoft.com/office/drawing/2014/main" id="{C9DD27B7-3F5D-4382-9DEC-B3AEA7E2224E}"/>
              </a:ext>
            </a:extLst>
          </p:cNvPr>
          <p:cNvSpPr>
            <a:spLocks xmlns:a="http://schemas.openxmlformats.org/drawingml/2006/main" noGrp="1"/>
          </p:cNvSpPr>
          <p:nvPr/>
        </p:nvSpPr>
        <p:spPr>
          <a:xfrm xmlns:a="http://schemas.openxmlformats.org/drawingml/2006/main">
            <a:off x="6257925" y="3190875"/>
            <a:ext cx="5476875" cy="2047875"/>
          </a:xfrm>
          <a:prstGeom xmlns:a="http://schemas.openxmlformats.org/drawingml/2006/main" prst="roundRect">
            <a:avLst>
              <a:gd name="adj" fmla="val 5581"/>
            </a:avLst>
          </a:prstGeom>
          <a:solidFill xmlns:a="http://schemas.openxmlformats.org/drawingml/2006/main">
            <a:srgbClr val="071A2B"/>
          </a:solidFill>
          <a:ln xmlns:a="http://schemas.openxmlformats.org/drawingml/2006/main" w="9525">
            <a:solidFill>
              <a:srgbClr val="071A2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
            <a:extLst xmlns:a="http://schemas.openxmlformats.org/drawingml/2006/main">
              <a:ext uri="{FF2B5EF4-FFF2-40B4-BE49-F238E27FC236}">
                <a16:creationId xmlns:a16="http://schemas.microsoft.com/office/drawing/2014/main" id="{DB2A5D76-75E2-44DA-B255-0A5AA70956E8}"/>
              </a:ext>
            </a:extLst>
          </p:cNvPr>
          <p:cNvSpPr>
            <a:spLocks xmlns:a="http://schemas.openxmlformats.org/drawingml/2006/main" noGrp="1"/>
          </p:cNvSpPr>
          <p:nvPr/>
        </p:nvSpPr>
        <p:spPr>
          <a:xfrm xmlns:a="http://schemas.openxmlformats.org/drawingml/2006/main">
            <a:off x="6524625" y="3448050"/>
            <a:ext cx="16192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750" b="1" i="0">
                <a:solidFill>
                  <a:srgbClr val="78E6D4"/>
                </a:solidFill>
              </a:defRPr>
            </a:pPr>
            <a:r>
              <a:rPr sz="750" b="1" i="0">
                <a:solidFill>
                  <a:srgbClr val="78E6D4"/>
                </a:solidFill>
              </a:rPr>
              <a:t>WITH RXRELAY</a:t>
            </a:r>
          </a:p>
        </p:txBody>
      </p:sp>
      <p:sp>
        <p:nvSpPr>
          <p:cNvPr id="12" name="">
            <a:extLst xmlns:a="http://schemas.openxmlformats.org/drawingml/2006/main">
              <a:ext uri="{FF2B5EF4-FFF2-40B4-BE49-F238E27FC236}">
                <a16:creationId xmlns:a16="http://schemas.microsoft.com/office/drawing/2014/main" id="{CA1D1240-3DFA-43B0-B11C-F5C3CB254A49}"/>
              </a:ext>
            </a:extLst>
          </p:cNvPr>
          <p:cNvSpPr>
            <a:spLocks xmlns:a="http://schemas.openxmlformats.org/drawingml/2006/main" noGrp="1"/>
          </p:cNvSpPr>
          <p:nvPr/>
        </p:nvSpPr>
        <p:spPr>
          <a:xfrm xmlns:a="http://schemas.openxmlformats.org/drawingml/2006/main">
            <a:off x="6524625" y="3848100"/>
            <a:ext cx="4572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325" b="1" i="0">
                <a:solidFill>
                  <a:srgbClr val="FFFFFF"/>
                </a:solidFill>
              </a:defRPr>
            </a:pPr>
            <a:r>
              <a:rPr sz="2325" b="1" i="0">
                <a:solidFill>
                  <a:srgbClr val="FFFFFF"/>
                </a:solidFill>
              </a:rPr>
              <a:t>Consent → coordinate → verify</a:t>
            </a:r>
          </a:p>
        </p:txBody>
      </p:sp>
      <p:sp>
        <p:nvSpPr>
          <p:cNvPr id="13" name="">
            <a:extLst xmlns:a="http://schemas.openxmlformats.org/drawingml/2006/main">
              <a:ext uri="{FF2B5EF4-FFF2-40B4-BE49-F238E27FC236}">
                <a16:creationId xmlns:a16="http://schemas.microsoft.com/office/drawing/2014/main" id="{83721EEE-611C-4236-BFE2-960D0B3ED992}"/>
              </a:ext>
            </a:extLst>
          </p:cNvPr>
          <p:cNvSpPr>
            <a:spLocks xmlns:a="http://schemas.openxmlformats.org/drawingml/2006/main" noGrp="1"/>
          </p:cNvSpPr>
          <p:nvPr/>
        </p:nvSpPr>
        <p:spPr>
          <a:xfrm xmlns:a="http://schemas.openxmlformats.org/drawingml/2006/main">
            <a:off x="6524625" y="4457700"/>
            <a:ext cx="442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B8CBDB"/>
                </a:solidFill>
              </a:defRPr>
            </a:pPr>
            <a:r>
              <a:rPr sz="1125" b="0" i="0">
                <a:solidFill>
                  <a:srgbClr val="B8CBDB"/>
                </a:solidFill>
              </a:rPr>
              <a:t>One case owns the handoffs. The patient sees evidence, not a vague assurance.</a:t>
            </a:r>
          </a:p>
        </p:txBody>
      </p:sp>
      <p:sp>
        <p:nvSpPr>
          <p:cNvPr id="14" name="">
            <a:extLst xmlns:a="http://schemas.openxmlformats.org/drawingml/2006/main">
              <a:ext uri="{FF2B5EF4-FFF2-40B4-BE49-F238E27FC236}">
                <a16:creationId xmlns:a16="http://schemas.microsoft.com/office/drawing/2014/main" id="{50449C96-7540-455D-B1DE-3B797BDE4F09}"/>
              </a:ext>
            </a:extLst>
          </p:cNvPr>
          <p:cNvSpPr>
            <a:spLocks xmlns:a="http://schemas.openxmlformats.org/drawingml/2006/main" noGrp="1"/>
          </p:cNvSpPr>
          <p:nvPr/>
        </p:nvSpPr>
        <p:spPr>
          <a:xfrm xmlns:a="http://schemas.openxmlformats.org/drawingml/2006/main">
            <a:off x="457200" y="5676900"/>
            <a:ext cx="11277600" cy="9525"/>
          </a:xfrm>
          <a:prstGeom xmlns:a="http://schemas.openxmlformats.org/drawingml/2006/main" prst="rect">
            <a:avLst/>
          </a:prstGeom>
          <a:solidFill xmlns:a="http://schemas.openxmlformats.org/drawingml/2006/main">
            <a:srgbClr val="D8E0E7"/>
          </a:solidFill>
          <a:ln xmlns:a="http://schemas.openxmlformats.org/drawingml/2006/main" w="0">
            <a:solidFill>
              <a:srgbClr val="D8E0E7"/>
            </a:solidFill>
            <a:prstDash val="solid"/>
          </a:ln>
        </p:spPr>
      </p:sp>
      <p:sp>
        <p:nvSpPr>
          <p:cNvPr id="15" name="">
            <a:extLst xmlns:a="http://schemas.openxmlformats.org/drawingml/2006/main">
              <a:ext uri="{FF2B5EF4-FFF2-40B4-BE49-F238E27FC236}">
                <a16:creationId xmlns:a16="http://schemas.microsoft.com/office/drawing/2014/main" id="{2392D6F5-F5C8-4DC6-A387-EAEC59BC0FCD}"/>
              </a:ext>
            </a:extLst>
          </p:cNvPr>
          <p:cNvSpPr>
            <a:spLocks xmlns:a="http://schemas.openxmlformats.org/drawingml/2006/main" noGrp="1"/>
          </p:cNvSpPr>
          <p:nvPr/>
        </p:nvSpPr>
        <p:spPr>
          <a:xfrm xmlns:a="http://schemas.openxmlformats.org/drawingml/2006/main">
            <a:off x="457200" y="5924550"/>
            <a:ext cx="15240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750" b="1" i="0">
                <a:solidFill>
                  <a:srgbClr val="5F6D80"/>
                </a:solidFill>
              </a:defRPr>
            </a:pPr>
            <a:r>
              <a:rPr sz="750" b="1" i="0">
                <a:solidFill>
                  <a:srgbClr val="5F6D80"/>
                </a:solidFill>
              </a:rPr>
              <a:t>THE SHIFT</a:t>
            </a:r>
          </a:p>
        </p:txBody>
      </p:sp>
      <p:sp>
        <p:nvSpPr>
          <p:cNvPr id="16" name="">
            <a:extLst xmlns:a="http://schemas.openxmlformats.org/drawingml/2006/main">
              <a:ext uri="{FF2B5EF4-FFF2-40B4-BE49-F238E27FC236}">
                <a16:creationId xmlns:a16="http://schemas.microsoft.com/office/drawing/2014/main" id="{1260ACE3-9538-4894-A00D-F12BAE358BFC}"/>
              </a:ext>
            </a:extLst>
          </p:cNvPr>
          <p:cNvSpPr>
            <a:spLocks xmlns:a="http://schemas.openxmlformats.org/drawingml/2006/main" noGrp="1"/>
          </p:cNvSpPr>
          <p:nvPr/>
        </p:nvSpPr>
        <p:spPr>
          <a:xfrm xmlns:a="http://schemas.openxmlformats.org/drawingml/2006/main">
            <a:off x="1981200" y="5886450"/>
            <a:ext cx="666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i="0">
                <a:solidFill>
                  <a:srgbClr val="0B1F33"/>
                </a:solidFill>
              </a:defRPr>
            </a:pPr>
            <a:r>
              <a:rPr sz="1275" b="1" i="0">
                <a:solidFill>
                  <a:srgbClr val="0B1F33"/>
                </a:solidFill>
              </a:rPr>
              <a:t>from a conversational agent to an accountable coordination system</a:t>
            </a:r>
          </a:p>
        </p:txBody>
      </p:sp>
      <p:sp>
        <p:nvSpPr>
          <p:cNvPr id="17" name="">
            <a:extLst xmlns:a="http://schemas.openxmlformats.org/drawingml/2006/main">
              <a:ext uri="{FF2B5EF4-FFF2-40B4-BE49-F238E27FC236}">
                <a16:creationId xmlns:a16="http://schemas.microsoft.com/office/drawing/2014/main" id="{3AB24E83-3503-443E-8CB8-C094E3678CE9}"/>
              </a:ext>
            </a:extLst>
          </p:cNvPr>
          <p:cNvSpPr>
            <a:spLocks xmlns:a="http://schemas.openxmlformats.org/drawingml/2006/main" noGrp="1"/>
          </p:cNvSpPr>
          <p:nvPr/>
        </p:nvSpPr>
        <p:spPr>
          <a:xfrm xmlns:a="http://schemas.openxmlformats.org/drawingml/2006/main">
            <a:off x="457200" y="6457950"/>
            <a:ext cx="85725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75" b="0" i="0">
                <a:solidFill>
                  <a:srgbClr val="8090A1"/>
                </a:solidFill>
              </a:defRPr>
            </a:pPr>
            <a:r>
              <a:rPr sz="675" b="0" i="0">
                <a:solidFill>
                  <a:srgbClr val="8090A1"/>
                </a:solidFill>
              </a:rPr>
              <a:t>RxRelay automates only the bounded, non-clinical coordination work.</a:t>
            </a:r>
          </a:p>
        </p:txBody>
      </p:sp>
      <p:sp>
        <p:nvSpPr>
          <p:cNvPr id="18" name="">
            <a:extLst xmlns:a="http://schemas.openxmlformats.org/drawingml/2006/main">
              <a:ext uri="{FF2B5EF4-FFF2-40B4-BE49-F238E27FC236}">
                <a16:creationId xmlns:a16="http://schemas.microsoft.com/office/drawing/2014/main" id="{515C7DD3-68B3-4A1C-8458-F85C8B8556F5}"/>
              </a:ext>
            </a:extLst>
          </p:cNvPr>
          <p:cNvSpPr>
            <a:spLocks xmlns:a="http://schemas.openxmlformats.org/drawingml/2006/main" noGrp="1"/>
          </p:cNvSpPr>
          <p:nvPr/>
        </p:nvSpPr>
        <p:spPr>
          <a:xfrm xmlns:a="http://schemas.openxmlformats.org/drawingml/2006/main">
            <a:off x="8382000" y="6457950"/>
            <a:ext cx="3352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675" b="0" i="0">
                <a:solidFill>
                  <a:srgbClr val="8090A1"/>
                </a:solidFill>
              </a:defRPr>
            </a:pPr>
            <a:r>
              <a:rPr sz="675" b="0" i="0">
                <a:solidFill>
                  <a:srgbClr val="8090A1"/>
                </a:solidFill>
              </a:rPr>
              <a:t>A1MOBILE VOICE AI HACKATHON · 2026</a:t>
            </a:r>
          </a:p>
        </p:txBody>
      </p:sp>
    </p:spTree>
    <p:extLst>
      <p:ext uri="{BB962C8B-B14F-4D97-AF65-F5344CB8AC3E}">
        <p14:creationId xmlns:p14="http://schemas.microsoft.com/office/powerpoint/2010/main" val="108501721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C386725A-E461-4884-B8ED-0BCF317EC419}"/>
              </a:ext>
            </a:extLst>
          </p:cNvPr>
          <p:cNvSpPr>
            <a:spLocks xmlns:a="http://schemas.openxmlformats.org/drawingml/2006/main" noGrp="1"/>
          </p:cNvSpPr>
          <p:nvPr/>
        </p:nvSpPr>
        <p:spPr>
          <a:xfrm xmlns:a="http://schemas.openxmlformats.org/drawingml/2006/main">
            <a:off x="457200" y="314325"/>
            <a:ext cx="590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750" b="1" i="0">
                <a:solidFill>
                  <a:srgbClr val="5F6D80"/>
                </a:solidFill>
              </a:defRPr>
            </a:pPr>
            <a:r>
              <a:rPr sz="750" b="1" i="0">
                <a:solidFill>
                  <a:srgbClr val="5F6D80"/>
                </a:solidFill>
              </a:rPr>
              <a:t>THE PRODUCT</a:t>
            </a:r>
          </a:p>
        </p:txBody>
      </p:sp>
      <p:sp>
        <p:nvSpPr>
          <p:cNvPr id="2" name="">
            <a:extLst xmlns:a="http://schemas.openxmlformats.org/drawingml/2006/main">
              <a:ext uri="{FF2B5EF4-FFF2-40B4-BE49-F238E27FC236}">
                <a16:creationId xmlns:a16="http://schemas.microsoft.com/office/drawing/2014/main" id="{D2530999-2B23-47A1-A98C-40E11505CA0F}"/>
              </a:ext>
            </a:extLst>
          </p:cNvPr>
          <p:cNvSpPr>
            <a:spLocks xmlns:a="http://schemas.openxmlformats.org/drawingml/2006/main" noGrp="1"/>
          </p:cNvSpPr>
          <p:nvPr/>
        </p:nvSpPr>
        <p:spPr>
          <a:xfrm xmlns:a="http://schemas.openxmlformats.org/drawingml/2006/main">
            <a:off x="9639300" y="314325"/>
            <a:ext cx="209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750" b="1" i="0">
                <a:solidFill>
                  <a:srgbClr val="5F6D80"/>
                </a:solidFill>
              </a:defRPr>
            </a:pPr>
            <a:r>
              <a:rPr sz="750" b="1" i="0">
                <a:solidFill>
                  <a:srgbClr val="5F6D80"/>
                </a:solidFill>
              </a:rPr>
              <a:t>RXRELAY  /  04</a:t>
            </a:r>
          </a:p>
        </p:txBody>
      </p:sp>
      <p:sp>
        <p:nvSpPr>
          <p:cNvPr id="3" name="">
            <a:extLst xmlns:a="http://schemas.openxmlformats.org/drawingml/2006/main">
              <a:ext uri="{FF2B5EF4-FFF2-40B4-BE49-F238E27FC236}">
                <a16:creationId xmlns:a16="http://schemas.microsoft.com/office/drawing/2014/main" id="{BA3C416B-2B2C-4DC5-86BC-4C47A48228C6}"/>
              </a:ext>
            </a:extLst>
          </p:cNvPr>
          <p:cNvSpPr>
            <a:spLocks xmlns:a="http://schemas.openxmlformats.org/drawingml/2006/main" noGrp="1"/>
          </p:cNvSpPr>
          <p:nvPr/>
        </p:nvSpPr>
        <p:spPr>
          <a:xfrm xmlns:a="http://schemas.openxmlformats.org/drawingml/2006/main">
            <a:off x="457200" y="552450"/>
            <a:ext cx="11277600" cy="9525"/>
          </a:xfrm>
          <a:prstGeom xmlns:a="http://schemas.openxmlformats.org/drawingml/2006/main" prst="rect">
            <a:avLst/>
          </a:prstGeom>
          <a:solidFill xmlns:a="http://schemas.openxmlformats.org/drawingml/2006/main">
            <a:srgbClr val="D8E0E7"/>
          </a:solidFill>
          <a:ln xmlns:a="http://schemas.openxmlformats.org/drawingml/2006/main" w="0">
            <a:solidFill>
              <a:srgbClr val="D8E0E7"/>
            </a:solidFill>
            <a:prstDash val="solid"/>
          </a:ln>
        </p:spPr>
      </p:sp>
      <p:sp>
        <p:nvSpPr>
          <p:cNvPr id="4" name="title">
            <a:extLst xmlns:a="http://schemas.openxmlformats.org/drawingml/2006/main">
              <a:ext uri="{FF2B5EF4-FFF2-40B4-BE49-F238E27FC236}">
                <a16:creationId xmlns:a16="http://schemas.microsoft.com/office/drawing/2014/main" id="{CAB6A7D5-7B14-43DE-8973-C1EBF4BF228A}"/>
              </a:ext>
            </a:extLst>
          </p:cNvPr>
          <p:cNvSpPr>
            <a:spLocks xmlns:a="http://schemas.openxmlformats.org/drawingml/2006/main" noGrp="1"/>
          </p:cNvSpPr>
          <p:nvPr/>
        </p:nvSpPr>
        <p:spPr>
          <a:xfrm xmlns:a="http://schemas.openxmlformats.org/drawingml/2006/main">
            <a:off x="457200" y="876300"/>
            <a:ext cx="8096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75" b="1" i="0">
                <a:solidFill>
                  <a:srgbClr val="0B1F33"/>
                </a:solidFill>
              </a:defRPr>
            </a:pPr>
            <a:r>
              <a:rPr sz="3975" b="1" i="0">
                <a:solidFill>
                  <a:srgbClr val="0B1F33"/>
                </a:solidFill>
              </a:rPr>
              <a:t>One consented voice request becomes a case with an owner.</a:t>
            </a:r>
          </a:p>
        </p:txBody>
      </p:sp>
      <p:sp>
        <p:nvSpPr>
          <p:cNvPr id="5" name="subtitle">
            <a:extLst xmlns:a="http://schemas.openxmlformats.org/drawingml/2006/main">
              <a:ext uri="{FF2B5EF4-FFF2-40B4-BE49-F238E27FC236}">
                <a16:creationId xmlns:a16="http://schemas.microsoft.com/office/drawing/2014/main" id="{6F90A6E6-B594-414C-99A8-52B75D5B5782}"/>
              </a:ext>
            </a:extLst>
          </p:cNvPr>
          <p:cNvSpPr>
            <a:spLocks xmlns:a="http://schemas.openxmlformats.org/drawingml/2006/main" noGrp="1"/>
          </p:cNvSpPr>
          <p:nvPr/>
        </p:nvSpPr>
        <p:spPr>
          <a:xfrm xmlns:a="http://schemas.openxmlformats.org/drawingml/2006/main">
            <a:off x="457200" y="2057400"/>
            <a:ext cx="7143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5F6D80"/>
                </a:solidFill>
              </a:defRPr>
            </a:pPr>
            <a:r>
              <a:rPr sz="1350" b="0" i="0">
                <a:solidFill>
                  <a:srgbClr val="5F6D80"/>
                </a:solidFill>
              </a:rPr>
              <a:t>RxRelay coordinates status—not medicine—and keeps every participant aligned on the next verified fact.</a:t>
            </a:r>
          </a:p>
        </p:txBody>
      </p:sp>
      <p:sp>
        <p:nvSpPr>
          <p:cNvPr id="6" name="">
            <a:extLst xmlns:a="http://schemas.openxmlformats.org/drawingml/2006/main">
              <a:ext uri="{FF2B5EF4-FFF2-40B4-BE49-F238E27FC236}">
                <a16:creationId xmlns:a16="http://schemas.microsoft.com/office/drawing/2014/main" id="{993D3ED2-9F89-4E47-B1BE-DA18B38A102E}"/>
              </a:ext>
            </a:extLst>
          </p:cNvPr>
          <p:cNvSpPr>
            <a:spLocks xmlns:a="http://schemas.openxmlformats.org/drawingml/2006/main" noGrp="1"/>
          </p:cNvSpPr>
          <p:nvPr/>
        </p:nvSpPr>
        <p:spPr>
          <a:xfrm xmlns:a="http://schemas.openxmlformats.org/drawingml/2006/main">
            <a:off x="457200" y="3352800"/>
            <a:ext cx="3333750" cy="2143125"/>
          </a:xfrm>
          <a:prstGeom xmlns:a="http://schemas.openxmlformats.org/drawingml/2006/main" prst="roundRect">
            <a:avLst>
              <a:gd name="adj" fmla="val 5333"/>
            </a:avLst>
          </a:prstGeom>
          <a:solidFill xmlns:a="http://schemas.openxmlformats.org/drawingml/2006/main">
            <a:srgbClr val="E5F0FF"/>
          </a:solidFill>
          <a:ln xmlns:a="http://schemas.openxmlformats.org/drawingml/2006/main" w="9525">
            <a:solidFill>
              <a:srgbClr val="E5F0FF"/>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F453CA05-4D32-4F4D-80BF-B79BA31B7060}"/>
              </a:ext>
            </a:extLst>
          </p:cNvPr>
          <p:cNvSpPr>
            <a:spLocks xmlns:a="http://schemas.openxmlformats.org/drawingml/2006/main" noGrp="1"/>
          </p:cNvSpPr>
          <p:nvPr/>
        </p:nvSpPr>
        <p:spPr>
          <a:xfrm xmlns:a="http://schemas.openxmlformats.org/drawingml/2006/main">
            <a:off x="676275" y="3571875"/>
            <a:ext cx="619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i="0">
                <a:solidFill>
                  <a:srgbClr val="3D8DFF"/>
                </a:solidFill>
              </a:defRPr>
            </a:pPr>
            <a:r>
              <a:rPr sz="1275" b="1" i="0">
                <a:solidFill>
                  <a:srgbClr val="3D8DFF"/>
                </a:solidFill>
              </a:rPr>
              <a:t>01</a:t>
            </a:r>
          </a:p>
        </p:txBody>
      </p:sp>
      <p:sp>
        <p:nvSpPr>
          <p:cNvPr id="8" name="">
            <a:extLst xmlns:a="http://schemas.openxmlformats.org/drawingml/2006/main">
              <a:ext uri="{FF2B5EF4-FFF2-40B4-BE49-F238E27FC236}">
                <a16:creationId xmlns:a16="http://schemas.microsoft.com/office/drawing/2014/main" id="{846FAF63-EB05-4BB6-BF7A-C4D415D22F33}"/>
              </a:ext>
            </a:extLst>
          </p:cNvPr>
          <p:cNvSpPr>
            <a:spLocks xmlns:a="http://schemas.openxmlformats.org/drawingml/2006/main" noGrp="1"/>
          </p:cNvSpPr>
          <p:nvPr/>
        </p:nvSpPr>
        <p:spPr>
          <a:xfrm xmlns:a="http://schemas.openxmlformats.org/drawingml/2006/main">
            <a:off x="676275" y="4019550"/>
            <a:ext cx="26479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i="0">
                <a:solidFill>
                  <a:srgbClr val="0B1F33"/>
                </a:solidFill>
              </a:defRPr>
            </a:pPr>
            <a:r>
              <a:rPr sz="2025" b="1" i="0">
                <a:solidFill>
                  <a:srgbClr val="0B1F33"/>
                </a:solidFill>
              </a:rPr>
              <a:t>Ask once</a:t>
            </a:r>
          </a:p>
        </p:txBody>
      </p:sp>
      <p:sp>
        <p:nvSpPr>
          <p:cNvPr id="9" name="">
            <a:extLst xmlns:a="http://schemas.openxmlformats.org/drawingml/2006/main">
              <a:ext uri="{FF2B5EF4-FFF2-40B4-BE49-F238E27FC236}">
                <a16:creationId xmlns:a16="http://schemas.microsoft.com/office/drawing/2014/main" id="{71889587-564A-4BE8-979C-91F6E1A1E967}"/>
              </a:ext>
            </a:extLst>
          </p:cNvPr>
          <p:cNvSpPr>
            <a:spLocks xmlns:a="http://schemas.openxmlformats.org/drawingml/2006/main" noGrp="1"/>
          </p:cNvSpPr>
          <p:nvPr/>
        </p:nvSpPr>
        <p:spPr>
          <a:xfrm xmlns:a="http://schemas.openxmlformats.org/drawingml/2006/main">
            <a:off x="676275" y="4495800"/>
            <a:ext cx="266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i="0">
                <a:solidFill>
                  <a:srgbClr val="5F6D80"/>
                </a:solidFill>
              </a:defRPr>
            </a:pPr>
            <a:r>
              <a:rPr sz="1050" b="0" i="0">
                <a:solidFill>
                  <a:srgbClr val="5F6D80"/>
                </a:solidFill>
              </a:rPr>
              <a:t>Patient speaks naturally. RxRelay captures narrow, explicit coordination consent.</a:t>
            </a:r>
          </a:p>
        </p:txBody>
      </p:sp>
      <p:sp>
        <p:nvSpPr>
          <p:cNvPr id="10" name="">
            <a:extLst xmlns:a="http://schemas.openxmlformats.org/drawingml/2006/main">
              <a:ext uri="{FF2B5EF4-FFF2-40B4-BE49-F238E27FC236}">
                <a16:creationId xmlns:a16="http://schemas.microsoft.com/office/drawing/2014/main" id="{31047B87-0A93-4E0C-A191-F3309C25B4BA}"/>
              </a:ext>
            </a:extLst>
          </p:cNvPr>
          <p:cNvSpPr>
            <a:spLocks xmlns:a="http://schemas.openxmlformats.org/drawingml/2006/main" noGrp="1"/>
          </p:cNvSpPr>
          <p:nvPr/>
        </p:nvSpPr>
        <p:spPr>
          <a:xfrm xmlns:a="http://schemas.openxmlformats.org/drawingml/2006/main">
            <a:off x="3838575" y="4238625"/>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0" i="0">
                <a:solidFill>
                  <a:srgbClr val="D8E0E7"/>
                </a:solidFill>
              </a:defRPr>
            </a:pPr>
            <a:r>
              <a:rPr sz="1950" b="0" i="0">
                <a:solidFill>
                  <a:srgbClr val="D8E0E7"/>
                </a:solidFill>
              </a:rPr>
              <a:t>→</a:t>
            </a:r>
          </a:p>
        </p:txBody>
      </p:sp>
      <p:sp>
        <p:nvSpPr>
          <p:cNvPr id="11" name="">
            <a:extLst xmlns:a="http://schemas.openxmlformats.org/drawingml/2006/main">
              <a:ext uri="{FF2B5EF4-FFF2-40B4-BE49-F238E27FC236}">
                <a16:creationId xmlns:a16="http://schemas.microsoft.com/office/drawing/2014/main" id="{B1B6F124-25EF-4A8F-934E-29B7AAC8D800}"/>
              </a:ext>
            </a:extLst>
          </p:cNvPr>
          <p:cNvSpPr>
            <a:spLocks xmlns:a="http://schemas.openxmlformats.org/drawingml/2006/main" noGrp="1"/>
          </p:cNvSpPr>
          <p:nvPr/>
        </p:nvSpPr>
        <p:spPr>
          <a:xfrm xmlns:a="http://schemas.openxmlformats.org/drawingml/2006/main">
            <a:off x="4267200" y="3352800"/>
            <a:ext cx="3333750" cy="2143125"/>
          </a:xfrm>
          <a:prstGeom xmlns:a="http://schemas.openxmlformats.org/drawingml/2006/main" prst="roundRect">
            <a:avLst>
              <a:gd name="adj" fmla="val 5333"/>
            </a:avLst>
          </a:prstGeom>
          <a:solidFill xmlns:a="http://schemas.openxmlformats.org/drawingml/2006/main">
            <a:srgbClr val="FFF1D7"/>
          </a:solidFill>
          <a:ln xmlns:a="http://schemas.openxmlformats.org/drawingml/2006/main" w="9525">
            <a:solidFill>
              <a:srgbClr val="FFF1D7"/>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2" name="">
            <a:extLst xmlns:a="http://schemas.openxmlformats.org/drawingml/2006/main">
              <a:ext uri="{FF2B5EF4-FFF2-40B4-BE49-F238E27FC236}">
                <a16:creationId xmlns:a16="http://schemas.microsoft.com/office/drawing/2014/main" id="{113D3A42-26A4-4A0E-BF0A-16C2466EF304}"/>
              </a:ext>
            </a:extLst>
          </p:cNvPr>
          <p:cNvSpPr>
            <a:spLocks xmlns:a="http://schemas.openxmlformats.org/drawingml/2006/main" noGrp="1"/>
          </p:cNvSpPr>
          <p:nvPr/>
        </p:nvSpPr>
        <p:spPr>
          <a:xfrm xmlns:a="http://schemas.openxmlformats.org/drawingml/2006/main">
            <a:off x="4486275" y="3571875"/>
            <a:ext cx="619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i="0">
                <a:solidFill>
                  <a:srgbClr val="E6A037"/>
                </a:solidFill>
              </a:defRPr>
            </a:pPr>
            <a:r>
              <a:rPr sz="1275" b="1" i="0">
                <a:solidFill>
                  <a:srgbClr val="E6A037"/>
                </a:solidFill>
              </a:rPr>
              <a:t>02</a:t>
            </a:r>
          </a:p>
        </p:txBody>
      </p:sp>
      <p:sp>
        <p:nvSpPr>
          <p:cNvPr id="13" name="">
            <a:extLst xmlns:a="http://schemas.openxmlformats.org/drawingml/2006/main">
              <a:ext uri="{FF2B5EF4-FFF2-40B4-BE49-F238E27FC236}">
                <a16:creationId xmlns:a16="http://schemas.microsoft.com/office/drawing/2014/main" id="{9F4972BD-79B1-46B3-969B-7DAA360B3D04}"/>
              </a:ext>
            </a:extLst>
          </p:cNvPr>
          <p:cNvSpPr>
            <a:spLocks xmlns:a="http://schemas.openxmlformats.org/drawingml/2006/main" noGrp="1"/>
          </p:cNvSpPr>
          <p:nvPr/>
        </p:nvSpPr>
        <p:spPr>
          <a:xfrm xmlns:a="http://schemas.openxmlformats.org/drawingml/2006/main">
            <a:off x="4486275" y="4019550"/>
            <a:ext cx="26479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i="0">
                <a:solidFill>
                  <a:srgbClr val="0B1F33"/>
                </a:solidFill>
              </a:defRPr>
            </a:pPr>
            <a:r>
              <a:rPr sz="2025" b="1" i="0">
                <a:solidFill>
                  <a:srgbClr val="0B1F33"/>
                </a:solidFill>
              </a:rPr>
              <a:t>Coordinate</a:t>
            </a:r>
          </a:p>
        </p:txBody>
      </p:sp>
      <p:sp>
        <p:nvSpPr>
          <p:cNvPr id="14" name="">
            <a:extLst xmlns:a="http://schemas.openxmlformats.org/drawingml/2006/main">
              <a:ext uri="{FF2B5EF4-FFF2-40B4-BE49-F238E27FC236}">
                <a16:creationId xmlns:a16="http://schemas.microsoft.com/office/drawing/2014/main" id="{7974B589-3136-4AC1-B30C-3292A71E366D}"/>
              </a:ext>
            </a:extLst>
          </p:cNvPr>
          <p:cNvSpPr>
            <a:spLocks xmlns:a="http://schemas.openxmlformats.org/drawingml/2006/main" noGrp="1"/>
          </p:cNvSpPr>
          <p:nvPr/>
        </p:nvSpPr>
        <p:spPr>
          <a:xfrm xmlns:a="http://schemas.openxmlformats.org/drawingml/2006/main">
            <a:off x="4486275" y="4495800"/>
            <a:ext cx="266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i="0">
                <a:solidFill>
                  <a:srgbClr val="5F6D80"/>
                </a:solidFill>
              </a:defRPr>
            </a:pPr>
            <a:r>
              <a:rPr sz="1050" b="0" i="0">
                <a:solidFill>
                  <a:srgbClr val="5F6D80"/>
                </a:solidFill>
              </a:rPr>
              <a:t>A policy gate permits only non-clinical status follow-up with the pharmacy or clinic.</a:t>
            </a:r>
          </a:p>
        </p:txBody>
      </p:sp>
      <p:sp>
        <p:nvSpPr>
          <p:cNvPr id="15" name="">
            <a:extLst xmlns:a="http://schemas.openxmlformats.org/drawingml/2006/main">
              <a:ext uri="{FF2B5EF4-FFF2-40B4-BE49-F238E27FC236}">
                <a16:creationId xmlns:a16="http://schemas.microsoft.com/office/drawing/2014/main" id="{9F3AC090-C8C4-44BC-8DE0-4B4BE30CA29A}"/>
              </a:ext>
            </a:extLst>
          </p:cNvPr>
          <p:cNvSpPr>
            <a:spLocks xmlns:a="http://schemas.openxmlformats.org/drawingml/2006/main" noGrp="1"/>
          </p:cNvSpPr>
          <p:nvPr/>
        </p:nvSpPr>
        <p:spPr>
          <a:xfrm xmlns:a="http://schemas.openxmlformats.org/drawingml/2006/main">
            <a:off x="7648575" y="4238625"/>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0" i="0">
                <a:solidFill>
                  <a:srgbClr val="D8E0E7"/>
                </a:solidFill>
              </a:defRPr>
            </a:pPr>
            <a:r>
              <a:rPr sz="1950" b="0" i="0">
                <a:solidFill>
                  <a:srgbClr val="D8E0E7"/>
                </a:solidFill>
              </a:rPr>
              <a:t>→</a:t>
            </a:r>
          </a:p>
        </p:txBody>
      </p:sp>
      <p:sp>
        <p:nvSpPr>
          <p:cNvPr id="16" name="">
            <a:extLst xmlns:a="http://schemas.openxmlformats.org/drawingml/2006/main">
              <a:ext uri="{FF2B5EF4-FFF2-40B4-BE49-F238E27FC236}">
                <a16:creationId xmlns:a16="http://schemas.microsoft.com/office/drawing/2014/main" id="{8EC37E80-2DFB-4608-999B-79220CCDCE11}"/>
              </a:ext>
            </a:extLst>
          </p:cNvPr>
          <p:cNvSpPr>
            <a:spLocks xmlns:a="http://schemas.openxmlformats.org/drawingml/2006/main" noGrp="1"/>
          </p:cNvSpPr>
          <p:nvPr/>
        </p:nvSpPr>
        <p:spPr>
          <a:xfrm xmlns:a="http://schemas.openxmlformats.org/drawingml/2006/main">
            <a:off x="8077200" y="3352800"/>
            <a:ext cx="3333750" cy="2143125"/>
          </a:xfrm>
          <a:prstGeom xmlns:a="http://schemas.openxmlformats.org/drawingml/2006/main" prst="roundRect">
            <a:avLst>
              <a:gd name="adj" fmla="val 5333"/>
            </a:avLst>
          </a:prstGeom>
          <a:solidFill xmlns:a="http://schemas.openxmlformats.org/drawingml/2006/main">
            <a:srgbClr val="DCF6F0"/>
          </a:solidFill>
          <a:ln xmlns:a="http://schemas.openxmlformats.org/drawingml/2006/main" w="9525">
            <a:solidFill>
              <a:srgbClr val="DCF6F0"/>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7" name="">
            <a:extLst xmlns:a="http://schemas.openxmlformats.org/drawingml/2006/main">
              <a:ext uri="{FF2B5EF4-FFF2-40B4-BE49-F238E27FC236}">
                <a16:creationId xmlns:a16="http://schemas.microsoft.com/office/drawing/2014/main" id="{190B8894-8781-4D91-80B0-07C439F324CF}"/>
              </a:ext>
            </a:extLst>
          </p:cNvPr>
          <p:cNvSpPr>
            <a:spLocks xmlns:a="http://schemas.openxmlformats.org/drawingml/2006/main" noGrp="1"/>
          </p:cNvSpPr>
          <p:nvPr/>
        </p:nvSpPr>
        <p:spPr>
          <a:xfrm xmlns:a="http://schemas.openxmlformats.org/drawingml/2006/main">
            <a:off x="8296275" y="3571875"/>
            <a:ext cx="619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i="0">
                <a:solidFill>
                  <a:srgbClr val="0E9F8E"/>
                </a:solidFill>
              </a:defRPr>
            </a:pPr>
            <a:r>
              <a:rPr sz="1275" b="1" i="0">
                <a:solidFill>
                  <a:srgbClr val="0E9F8E"/>
                </a:solidFill>
              </a:rPr>
              <a:t>03</a:t>
            </a:r>
          </a:p>
        </p:txBody>
      </p:sp>
      <p:sp>
        <p:nvSpPr>
          <p:cNvPr id="18" name="">
            <a:extLst xmlns:a="http://schemas.openxmlformats.org/drawingml/2006/main">
              <a:ext uri="{FF2B5EF4-FFF2-40B4-BE49-F238E27FC236}">
                <a16:creationId xmlns:a16="http://schemas.microsoft.com/office/drawing/2014/main" id="{3C0B02D6-3FAA-4F5B-8BA8-CADF30B6DE6B}"/>
              </a:ext>
            </a:extLst>
          </p:cNvPr>
          <p:cNvSpPr>
            <a:spLocks xmlns:a="http://schemas.openxmlformats.org/drawingml/2006/main" noGrp="1"/>
          </p:cNvSpPr>
          <p:nvPr/>
        </p:nvSpPr>
        <p:spPr>
          <a:xfrm xmlns:a="http://schemas.openxmlformats.org/drawingml/2006/main">
            <a:off x="8296275" y="4019550"/>
            <a:ext cx="26479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i="0">
                <a:solidFill>
                  <a:srgbClr val="0B1F33"/>
                </a:solidFill>
              </a:defRPr>
            </a:pPr>
            <a:r>
              <a:rPr sz="2025" b="1" i="0">
                <a:solidFill>
                  <a:srgbClr val="0B1F33"/>
                </a:solidFill>
              </a:rPr>
              <a:t>Prove</a:t>
            </a:r>
          </a:p>
        </p:txBody>
      </p:sp>
      <p:sp>
        <p:nvSpPr>
          <p:cNvPr id="19" name="">
            <a:extLst xmlns:a="http://schemas.openxmlformats.org/drawingml/2006/main">
              <a:ext uri="{FF2B5EF4-FFF2-40B4-BE49-F238E27FC236}">
                <a16:creationId xmlns:a16="http://schemas.microsoft.com/office/drawing/2014/main" id="{705E2B87-7669-4A9C-884F-74061F170C47}"/>
              </a:ext>
            </a:extLst>
          </p:cNvPr>
          <p:cNvSpPr>
            <a:spLocks xmlns:a="http://schemas.openxmlformats.org/drawingml/2006/main" noGrp="1"/>
          </p:cNvSpPr>
          <p:nvPr/>
        </p:nvSpPr>
        <p:spPr>
          <a:xfrm xmlns:a="http://schemas.openxmlformats.org/drawingml/2006/main">
            <a:off x="8296275" y="4495800"/>
            <a:ext cx="266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i="0">
                <a:solidFill>
                  <a:srgbClr val="5F6D80"/>
                </a:solidFill>
              </a:defRPr>
            </a:pPr>
            <a:r>
              <a:rPr sz="1050" b="0" i="0">
                <a:solidFill>
                  <a:srgbClr val="5F6D80"/>
                </a:solidFill>
              </a:rPr>
              <a:t>The case stays open until the final outcome and patient update are recorded.</a:t>
            </a:r>
          </a:p>
        </p:txBody>
      </p:sp>
      <p:sp>
        <p:nvSpPr>
          <p:cNvPr id="20" name="">
            <a:extLst xmlns:a="http://schemas.openxmlformats.org/drawingml/2006/main">
              <a:ext uri="{FF2B5EF4-FFF2-40B4-BE49-F238E27FC236}">
                <a16:creationId xmlns:a16="http://schemas.microsoft.com/office/drawing/2014/main" id="{F1C8E66C-C87F-4E84-BF63-45CCC0306395}"/>
              </a:ext>
            </a:extLst>
          </p:cNvPr>
          <p:cNvSpPr>
            <a:spLocks xmlns:a="http://schemas.openxmlformats.org/drawingml/2006/main" noGrp="1"/>
          </p:cNvSpPr>
          <p:nvPr/>
        </p:nvSpPr>
        <p:spPr>
          <a:xfrm xmlns:a="http://schemas.openxmlformats.org/drawingml/2006/main">
            <a:off x="457200" y="6457950"/>
            <a:ext cx="85725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75" b="0" i="0">
                <a:solidFill>
                  <a:srgbClr val="8090A1"/>
                </a:solidFill>
              </a:defRPr>
            </a:pPr>
            <a:r>
              <a:rPr sz="675" b="0" i="0">
                <a:solidFill>
                  <a:srgbClr val="8090A1"/>
                </a:solidFill>
              </a:rPr>
              <a:t>The voice layer earns trust by visibly narrowing its authority.</a:t>
            </a:r>
          </a:p>
        </p:txBody>
      </p:sp>
      <p:sp>
        <p:nvSpPr>
          <p:cNvPr id="21" name="">
            <a:extLst xmlns:a="http://schemas.openxmlformats.org/drawingml/2006/main">
              <a:ext uri="{FF2B5EF4-FFF2-40B4-BE49-F238E27FC236}">
                <a16:creationId xmlns:a16="http://schemas.microsoft.com/office/drawing/2014/main" id="{63E0240D-27FE-4EF4-A555-1DB7E6352710}"/>
              </a:ext>
            </a:extLst>
          </p:cNvPr>
          <p:cNvSpPr>
            <a:spLocks xmlns:a="http://schemas.openxmlformats.org/drawingml/2006/main" noGrp="1"/>
          </p:cNvSpPr>
          <p:nvPr/>
        </p:nvSpPr>
        <p:spPr>
          <a:xfrm xmlns:a="http://schemas.openxmlformats.org/drawingml/2006/main">
            <a:off x="8382000" y="6457950"/>
            <a:ext cx="3352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675" b="0" i="0">
                <a:solidFill>
                  <a:srgbClr val="8090A1"/>
                </a:solidFill>
              </a:defRPr>
            </a:pPr>
            <a:r>
              <a:rPr sz="675" b="0" i="0">
                <a:solidFill>
                  <a:srgbClr val="8090A1"/>
                </a:solidFill>
              </a:rPr>
              <a:t>A1MOBILE VOICE AI HACKATHON · 2026</a:t>
            </a:r>
          </a:p>
        </p:txBody>
      </p:sp>
    </p:spTree>
    <p:extLst>
      <p:ext uri="{BB962C8B-B14F-4D97-AF65-F5344CB8AC3E}">
        <p14:creationId xmlns:p14="http://schemas.microsoft.com/office/powerpoint/2010/main" val="84236876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7C2A9A61-834C-4AC2-83DF-3EBC515CCD31}"/>
              </a:ext>
            </a:extLst>
          </p:cNvPr>
          <p:cNvSpPr>
            <a:spLocks xmlns:a="http://schemas.openxmlformats.org/drawingml/2006/main" noGrp="1"/>
          </p:cNvSpPr>
          <p:nvPr/>
        </p:nvSpPr>
        <p:spPr>
          <a:xfrm xmlns:a="http://schemas.openxmlformats.org/drawingml/2006/main">
            <a:off x="457200" y="314325"/>
            <a:ext cx="590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750" b="1" i="0">
                <a:solidFill>
                  <a:srgbClr val="5F6D80"/>
                </a:solidFill>
              </a:defRPr>
            </a:pPr>
            <a:r>
              <a:rPr sz="750" b="1" i="0">
                <a:solidFill>
                  <a:srgbClr val="5F6D80"/>
                </a:solidFill>
              </a:rPr>
              <a:t>LIVE IN 100 SECONDS</a:t>
            </a:r>
          </a:p>
        </p:txBody>
      </p:sp>
      <p:sp>
        <p:nvSpPr>
          <p:cNvPr id="2" name="">
            <a:extLst xmlns:a="http://schemas.openxmlformats.org/drawingml/2006/main">
              <a:ext uri="{FF2B5EF4-FFF2-40B4-BE49-F238E27FC236}">
                <a16:creationId xmlns:a16="http://schemas.microsoft.com/office/drawing/2014/main" id="{1195D06D-6825-4FE0-AB70-CE1758E81928}"/>
              </a:ext>
            </a:extLst>
          </p:cNvPr>
          <p:cNvSpPr>
            <a:spLocks xmlns:a="http://schemas.openxmlformats.org/drawingml/2006/main" noGrp="1"/>
          </p:cNvSpPr>
          <p:nvPr/>
        </p:nvSpPr>
        <p:spPr>
          <a:xfrm xmlns:a="http://schemas.openxmlformats.org/drawingml/2006/main">
            <a:off x="9639300" y="314325"/>
            <a:ext cx="209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750" b="1" i="0">
                <a:solidFill>
                  <a:srgbClr val="5F6D80"/>
                </a:solidFill>
              </a:defRPr>
            </a:pPr>
            <a:r>
              <a:rPr sz="750" b="1" i="0">
                <a:solidFill>
                  <a:srgbClr val="5F6D80"/>
                </a:solidFill>
              </a:rPr>
              <a:t>RXRELAY  /  05</a:t>
            </a:r>
          </a:p>
        </p:txBody>
      </p:sp>
      <p:sp>
        <p:nvSpPr>
          <p:cNvPr id="3" name="">
            <a:extLst xmlns:a="http://schemas.openxmlformats.org/drawingml/2006/main">
              <a:ext uri="{FF2B5EF4-FFF2-40B4-BE49-F238E27FC236}">
                <a16:creationId xmlns:a16="http://schemas.microsoft.com/office/drawing/2014/main" id="{3E07AC9D-4AB7-4D4C-8F04-1ACDE2F581AF}"/>
              </a:ext>
            </a:extLst>
          </p:cNvPr>
          <p:cNvSpPr>
            <a:spLocks xmlns:a="http://schemas.openxmlformats.org/drawingml/2006/main" noGrp="1"/>
          </p:cNvSpPr>
          <p:nvPr/>
        </p:nvSpPr>
        <p:spPr>
          <a:xfrm xmlns:a="http://schemas.openxmlformats.org/drawingml/2006/main">
            <a:off x="457200" y="552450"/>
            <a:ext cx="11277600" cy="9525"/>
          </a:xfrm>
          <a:prstGeom xmlns:a="http://schemas.openxmlformats.org/drawingml/2006/main" prst="rect">
            <a:avLst/>
          </a:prstGeom>
          <a:solidFill xmlns:a="http://schemas.openxmlformats.org/drawingml/2006/main">
            <a:srgbClr val="D8E0E7"/>
          </a:solidFill>
          <a:ln xmlns:a="http://schemas.openxmlformats.org/drawingml/2006/main" w="0">
            <a:solidFill>
              <a:srgbClr val="D8E0E7"/>
            </a:solidFill>
            <a:prstDash val="solid"/>
          </a:ln>
        </p:spPr>
      </p:sp>
      <p:sp>
        <p:nvSpPr>
          <p:cNvPr id="4" name="title">
            <a:extLst xmlns:a="http://schemas.openxmlformats.org/drawingml/2006/main">
              <a:ext uri="{FF2B5EF4-FFF2-40B4-BE49-F238E27FC236}">
                <a16:creationId xmlns:a16="http://schemas.microsoft.com/office/drawing/2014/main" id="{16AA9315-8EBD-4288-88A6-8664219E6449}"/>
              </a:ext>
            </a:extLst>
          </p:cNvPr>
          <p:cNvSpPr>
            <a:spLocks xmlns:a="http://schemas.openxmlformats.org/drawingml/2006/main" noGrp="1"/>
          </p:cNvSpPr>
          <p:nvPr/>
        </p:nvSpPr>
        <p:spPr>
          <a:xfrm xmlns:a="http://schemas.openxmlformats.org/drawingml/2006/main">
            <a:off x="457200" y="876300"/>
            <a:ext cx="80962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75" b="1" i="0">
                <a:solidFill>
                  <a:srgbClr val="0B1F33"/>
                </a:solidFill>
              </a:defRPr>
            </a:pPr>
            <a:r>
              <a:rPr sz="3675" b="1" i="0">
                <a:solidFill>
                  <a:srgbClr val="0B1F33"/>
                </a:solidFill>
              </a:rPr>
              <a:t>A case turns green</a:t>
            </a:r>
          </a:p>
          <a:p xmlns:a="http://schemas.openxmlformats.org/drawingml/2006/main">
            <a:pPr algn="l">
              <a:defRPr sz="3675" b="1" i="0">
                <a:solidFill>
                  <a:srgbClr val="0B1F33"/>
                </a:solidFill>
              </a:defRPr>
            </a:pPr>
            <a:r>
              <a:rPr sz="3675" b="1" i="0">
                <a:solidFill>
                  <a:srgbClr val="0B1F33"/>
                </a:solidFill>
              </a:rPr>
              <a:t>only when evidence arrives.</a:t>
            </a:r>
          </a:p>
        </p:txBody>
      </p:sp>
      <p:sp>
        <p:nvSpPr>
          <p:cNvPr id="5" name="subtitle">
            <a:extLst xmlns:a="http://schemas.openxmlformats.org/drawingml/2006/main">
              <a:ext uri="{FF2B5EF4-FFF2-40B4-BE49-F238E27FC236}">
                <a16:creationId xmlns:a16="http://schemas.microsoft.com/office/drawing/2014/main" id="{46EA4ED6-C032-45A7-B11D-C669979B71AF}"/>
              </a:ext>
            </a:extLst>
          </p:cNvPr>
          <p:cNvSpPr>
            <a:spLocks xmlns:a="http://schemas.openxmlformats.org/drawingml/2006/main" noGrp="1"/>
          </p:cNvSpPr>
          <p:nvPr/>
        </p:nvSpPr>
        <p:spPr>
          <a:xfrm xmlns:a="http://schemas.openxmlformats.org/drawingml/2006/main">
            <a:off x="457200" y="2324100"/>
            <a:ext cx="7143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5F6D80"/>
                </a:solidFill>
              </a:defRPr>
            </a:pPr>
            <a:r>
              <a:rPr sz="1350" b="0" i="0">
                <a:solidFill>
                  <a:srgbClr val="5F6D80"/>
                </a:solidFill>
              </a:rPr>
              <a:t>The judged flow is deterministic, visible, and safe to run end to end in a sandbox.</a:t>
            </a:r>
          </a:p>
        </p:txBody>
      </p:sp>
      <p:sp>
        <p:nvSpPr>
          <p:cNvPr id="6" name="">
            <a:extLst xmlns:a="http://schemas.openxmlformats.org/drawingml/2006/main">
              <a:ext uri="{FF2B5EF4-FFF2-40B4-BE49-F238E27FC236}">
                <a16:creationId xmlns:a16="http://schemas.microsoft.com/office/drawing/2014/main" id="{31C623D8-BAEB-48F6-859A-8ED872FC850C}"/>
              </a:ext>
            </a:extLst>
          </p:cNvPr>
          <p:cNvSpPr>
            <a:spLocks xmlns:a="http://schemas.openxmlformats.org/drawingml/2006/main" noGrp="1"/>
          </p:cNvSpPr>
          <p:nvPr/>
        </p:nvSpPr>
        <p:spPr>
          <a:xfrm xmlns:a="http://schemas.openxmlformats.org/drawingml/2006/main">
            <a:off x="762000" y="3838575"/>
            <a:ext cx="10668000" cy="28575"/>
          </a:xfrm>
          <a:prstGeom xmlns:a="http://schemas.openxmlformats.org/drawingml/2006/main" prst="rect">
            <a:avLst/>
          </a:prstGeom>
          <a:solidFill xmlns:a="http://schemas.openxmlformats.org/drawingml/2006/main">
            <a:srgbClr val="D8E0E7"/>
          </a:solidFill>
          <a:ln xmlns:a="http://schemas.openxmlformats.org/drawingml/2006/main" w="0">
            <a:solidFill>
              <a:srgbClr val="D8E0E7"/>
            </a:solidFill>
            <a:prstDash val="solid"/>
          </a:ln>
        </p:spPr>
      </p:sp>
      <p:sp>
        <p:nvSpPr>
          <p:cNvPr id="7" name="">
            <a:extLst xmlns:a="http://schemas.openxmlformats.org/drawingml/2006/main">
              <a:ext uri="{FF2B5EF4-FFF2-40B4-BE49-F238E27FC236}">
                <a16:creationId xmlns:a16="http://schemas.microsoft.com/office/drawing/2014/main" id="{9A257126-211D-4E7F-BE28-61A4141C7B7D}"/>
              </a:ext>
            </a:extLst>
          </p:cNvPr>
          <p:cNvSpPr>
            <a:spLocks xmlns:a="http://schemas.openxmlformats.org/drawingml/2006/main" noGrp="1"/>
          </p:cNvSpPr>
          <p:nvPr/>
        </p:nvSpPr>
        <p:spPr>
          <a:xfrm xmlns:a="http://schemas.openxmlformats.org/drawingml/2006/main">
            <a:off x="714375" y="3781425"/>
            <a:ext cx="133350" cy="133350"/>
          </a:xfrm>
          <a:prstGeom xmlns:a="http://schemas.openxmlformats.org/drawingml/2006/main" prst="ellipse">
            <a:avLst/>
          </a:prstGeom>
          <a:solidFill xmlns:a="http://schemas.openxmlformats.org/drawingml/2006/main">
            <a:srgbClr val="0B1F33"/>
          </a:solidFill>
          <a:ln xmlns:a="http://schemas.openxmlformats.org/drawingml/2006/main" w="0">
            <a:solidFill>
              <a:srgbClr val="0B1F33"/>
            </a:solidFill>
            <a:prstDash val="solid"/>
          </a:ln>
        </p:spPr>
      </p:sp>
      <p:sp>
        <p:nvSpPr>
          <p:cNvPr id="8" name="">
            <a:extLst xmlns:a="http://schemas.openxmlformats.org/drawingml/2006/main">
              <a:ext uri="{FF2B5EF4-FFF2-40B4-BE49-F238E27FC236}">
                <a16:creationId xmlns:a16="http://schemas.microsoft.com/office/drawing/2014/main" id="{D9E9D542-A789-4F06-9AEA-D6A53D00E15D}"/>
              </a:ext>
            </a:extLst>
          </p:cNvPr>
          <p:cNvSpPr>
            <a:spLocks xmlns:a="http://schemas.openxmlformats.org/drawingml/2006/main" noGrp="1"/>
          </p:cNvSpPr>
          <p:nvPr/>
        </p:nvSpPr>
        <p:spPr>
          <a:xfrm xmlns:a="http://schemas.openxmlformats.org/drawingml/2006/main">
            <a:off x="714375" y="317182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25" b="1" i="0">
                <a:solidFill>
                  <a:srgbClr val="5F6D80"/>
                </a:solidFill>
              </a:defRPr>
            </a:pPr>
            <a:r>
              <a:rPr sz="825" b="1" i="0">
                <a:solidFill>
                  <a:srgbClr val="5F6D80"/>
                </a:solidFill>
              </a:rPr>
              <a:t>00:00</a:t>
            </a:r>
          </a:p>
        </p:txBody>
      </p:sp>
      <p:sp>
        <p:nvSpPr>
          <p:cNvPr id="9" name="">
            <a:extLst xmlns:a="http://schemas.openxmlformats.org/drawingml/2006/main">
              <a:ext uri="{FF2B5EF4-FFF2-40B4-BE49-F238E27FC236}">
                <a16:creationId xmlns:a16="http://schemas.microsoft.com/office/drawing/2014/main" id="{F545B78B-EAFA-4D6C-9771-BA036757390E}"/>
              </a:ext>
            </a:extLst>
          </p:cNvPr>
          <p:cNvSpPr>
            <a:spLocks xmlns:a="http://schemas.openxmlformats.org/drawingml/2006/main" noGrp="1"/>
          </p:cNvSpPr>
          <p:nvPr/>
        </p:nvSpPr>
        <p:spPr>
          <a:xfrm xmlns:a="http://schemas.openxmlformats.org/drawingml/2006/main">
            <a:off x="714375" y="4143375"/>
            <a:ext cx="17145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i="0">
                <a:solidFill>
                  <a:srgbClr val="0B1F33"/>
                </a:solidFill>
              </a:defRPr>
            </a:pPr>
            <a:r>
              <a:rPr sz="1350" b="1" i="0">
                <a:solidFill>
                  <a:srgbClr val="0B1F33"/>
                </a:solidFill>
              </a:rPr>
              <a:t>Consent</a:t>
            </a:r>
          </a:p>
        </p:txBody>
      </p:sp>
      <p:sp>
        <p:nvSpPr>
          <p:cNvPr id="10" name="">
            <a:extLst xmlns:a="http://schemas.openxmlformats.org/drawingml/2006/main">
              <a:ext uri="{FF2B5EF4-FFF2-40B4-BE49-F238E27FC236}">
                <a16:creationId xmlns:a16="http://schemas.microsoft.com/office/drawing/2014/main" id="{287B0647-182E-47A4-B1C9-E6E7DC4B8F68}"/>
              </a:ext>
            </a:extLst>
          </p:cNvPr>
          <p:cNvSpPr>
            <a:spLocks xmlns:a="http://schemas.openxmlformats.org/drawingml/2006/main" noGrp="1"/>
          </p:cNvSpPr>
          <p:nvPr/>
        </p:nvSpPr>
        <p:spPr>
          <a:xfrm xmlns:a="http://schemas.openxmlformats.org/drawingml/2006/main">
            <a:off x="714375" y="44577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i="0">
                <a:solidFill>
                  <a:srgbClr val="5F6D80"/>
                </a:solidFill>
              </a:defRPr>
            </a:pPr>
            <a:r>
              <a:rPr sz="900" b="0" i="0">
                <a:solidFill>
                  <a:srgbClr val="5F6D80"/>
                </a:solidFill>
              </a:rPr>
              <a:t>Patient permits a status follow-up.</a:t>
            </a:r>
          </a:p>
        </p:txBody>
      </p:sp>
      <p:sp>
        <p:nvSpPr>
          <p:cNvPr id="11" name="">
            <a:extLst xmlns:a="http://schemas.openxmlformats.org/drawingml/2006/main">
              <a:ext uri="{FF2B5EF4-FFF2-40B4-BE49-F238E27FC236}">
                <a16:creationId xmlns:a16="http://schemas.microsoft.com/office/drawing/2014/main" id="{AA7E34EA-D072-4356-9B28-59A7D71CE4D4}"/>
              </a:ext>
            </a:extLst>
          </p:cNvPr>
          <p:cNvSpPr>
            <a:spLocks xmlns:a="http://schemas.openxmlformats.org/drawingml/2006/main" noGrp="1"/>
          </p:cNvSpPr>
          <p:nvPr/>
        </p:nvSpPr>
        <p:spPr>
          <a:xfrm xmlns:a="http://schemas.openxmlformats.org/drawingml/2006/main">
            <a:off x="3095625" y="3781425"/>
            <a:ext cx="133350" cy="133350"/>
          </a:xfrm>
          <a:prstGeom xmlns:a="http://schemas.openxmlformats.org/drawingml/2006/main" prst="ellipse">
            <a:avLst/>
          </a:prstGeom>
          <a:solidFill xmlns:a="http://schemas.openxmlformats.org/drawingml/2006/main">
            <a:srgbClr val="0B1F33"/>
          </a:solidFill>
          <a:ln xmlns:a="http://schemas.openxmlformats.org/drawingml/2006/main" w="0">
            <a:solidFill>
              <a:srgbClr val="0B1F33"/>
            </a:solidFill>
            <a:prstDash val="solid"/>
          </a:ln>
        </p:spPr>
      </p:sp>
      <p:sp>
        <p:nvSpPr>
          <p:cNvPr id="12" name="">
            <a:extLst xmlns:a="http://schemas.openxmlformats.org/drawingml/2006/main">
              <a:ext uri="{FF2B5EF4-FFF2-40B4-BE49-F238E27FC236}">
                <a16:creationId xmlns:a16="http://schemas.microsoft.com/office/drawing/2014/main" id="{E5FF1936-B6ED-42DC-8070-88ABACBF45FC}"/>
              </a:ext>
            </a:extLst>
          </p:cNvPr>
          <p:cNvSpPr>
            <a:spLocks xmlns:a="http://schemas.openxmlformats.org/drawingml/2006/main" noGrp="1"/>
          </p:cNvSpPr>
          <p:nvPr/>
        </p:nvSpPr>
        <p:spPr>
          <a:xfrm xmlns:a="http://schemas.openxmlformats.org/drawingml/2006/main">
            <a:off x="3095625" y="317182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25" b="1" i="0">
                <a:solidFill>
                  <a:srgbClr val="5F6D80"/>
                </a:solidFill>
              </a:defRPr>
            </a:pPr>
            <a:r>
              <a:rPr sz="825" b="1" i="0">
                <a:solidFill>
                  <a:srgbClr val="5F6D80"/>
                </a:solidFill>
              </a:rPr>
              <a:t>00:20</a:t>
            </a:r>
          </a:p>
        </p:txBody>
      </p:sp>
      <p:sp>
        <p:nvSpPr>
          <p:cNvPr id="13" name="">
            <a:extLst xmlns:a="http://schemas.openxmlformats.org/drawingml/2006/main">
              <a:ext uri="{FF2B5EF4-FFF2-40B4-BE49-F238E27FC236}">
                <a16:creationId xmlns:a16="http://schemas.microsoft.com/office/drawing/2014/main" id="{A9353CA0-020C-498B-8F1E-D48A366D4B8A}"/>
              </a:ext>
            </a:extLst>
          </p:cNvPr>
          <p:cNvSpPr>
            <a:spLocks xmlns:a="http://schemas.openxmlformats.org/drawingml/2006/main" noGrp="1"/>
          </p:cNvSpPr>
          <p:nvPr/>
        </p:nvSpPr>
        <p:spPr>
          <a:xfrm xmlns:a="http://schemas.openxmlformats.org/drawingml/2006/main">
            <a:off x="3095625" y="4143375"/>
            <a:ext cx="17145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i="0">
                <a:solidFill>
                  <a:srgbClr val="0B1F33"/>
                </a:solidFill>
              </a:defRPr>
            </a:pPr>
            <a:r>
              <a:rPr sz="1350" b="1" i="0">
                <a:solidFill>
                  <a:srgbClr val="0B1F33"/>
                </a:solidFill>
              </a:rPr>
              <a:t>Pharmacy</a:t>
            </a:r>
          </a:p>
        </p:txBody>
      </p:sp>
      <p:sp>
        <p:nvSpPr>
          <p:cNvPr id="14" name="">
            <a:extLst xmlns:a="http://schemas.openxmlformats.org/drawingml/2006/main">
              <a:ext uri="{FF2B5EF4-FFF2-40B4-BE49-F238E27FC236}">
                <a16:creationId xmlns:a16="http://schemas.microsoft.com/office/drawing/2014/main" id="{4BAF669D-3A4D-4E53-8E06-FD83DED4DB84}"/>
              </a:ext>
            </a:extLst>
          </p:cNvPr>
          <p:cNvSpPr>
            <a:spLocks xmlns:a="http://schemas.openxmlformats.org/drawingml/2006/main" noGrp="1"/>
          </p:cNvSpPr>
          <p:nvPr/>
        </p:nvSpPr>
        <p:spPr>
          <a:xfrm xmlns:a="http://schemas.openxmlformats.org/drawingml/2006/main">
            <a:off x="3095625" y="44577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i="0">
                <a:solidFill>
                  <a:srgbClr val="5F6D80"/>
                </a:solidFill>
              </a:defRPr>
            </a:pPr>
            <a:r>
              <a:rPr sz="900" b="0" i="0">
                <a:solidFill>
                  <a:srgbClr val="5F6D80"/>
                </a:solidFill>
              </a:rPr>
              <a:t>Blocker: prior authorization needed.</a:t>
            </a:r>
          </a:p>
        </p:txBody>
      </p:sp>
      <p:sp>
        <p:nvSpPr>
          <p:cNvPr id="15" name="">
            <a:extLst xmlns:a="http://schemas.openxmlformats.org/drawingml/2006/main">
              <a:ext uri="{FF2B5EF4-FFF2-40B4-BE49-F238E27FC236}">
                <a16:creationId xmlns:a16="http://schemas.microsoft.com/office/drawing/2014/main" id="{F83A5806-3D88-4454-B8CE-C20F5F739C0F}"/>
              </a:ext>
            </a:extLst>
          </p:cNvPr>
          <p:cNvSpPr>
            <a:spLocks xmlns:a="http://schemas.openxmlformats.org/drawingml/2006/main" noGrp="1"/>
          </p:cNvSpPr>
          <p:nvPr/>
        </p:nvSpPr>
        <p:spPr>
          <a:xfrm xmlns:a="http://schemas.openxmlformats.org/drawingml/2006/main">
            <a:off x="5476875" y="3781425"/>
            <a:ext cx="133350" cy="133350"/>
          </a:xfrm>
          <a:prstGeom xmlns:a="http://schemas.openxmlformats.org/drawingml/2006/main" prst="ellipse">
            <a:avLst/>
          </a:prstGeom>
          <a:solidFill xmlns:a="http://schemas.openxmlformats.org/drawingml/2006/main">
            <a:srgbClr val="0B1F33"/>
          </a:solidFill>
          <a:ln xmlns:a="http://schemas.openxmlformats.org/drawingml/2006/main" w="0">
            <a:solidFill>
              <a:srgbClr val="0B1F33"/>
            </a:solidFill>
            <a:prstDash val="solid"/>
          </a:ln>
        </p:spPr>
      </p:sp>
      <p:sp>
        <p:nvSpPr>
          <p:cNvPr id="16" name="">
            <a:extLst xmlns:a="http://schemas.openxmlformats.org/drawingml/2006/main">
              <a:ext uri="{FF2B5EF4-FFF2-40B4-BE49-F238E27FC236}">
                <a16:creationId xmlns:a16="http://schemas.microsoft.com/office/drawing/2014/main" id="{32C63EE9-8C97-4585-A0C1-BCE06E8C9763}"/>
              </a:ext>
            </a:extLst>
          </p:cNvPr>
          <p:cNvSpPr>
            <a:spLocks xmlns:a="http://schemas.openxmlformats.org/drawingml/2006/main" noGrp="1"/>
          </p:cNvSpPr>
          <p:nvPr/>
        </p:nvSpPr>
        <p:spPr>
          <a:xfrm xmlns:a="http://schemas.openxmlformats.org/drawingml/2006/main">
            <a:off x="5476875" y="317182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25" b="1" i="0">
                <a:solidFill>
                  <a:srgbClr val="5F6D80"/>
                </a:solidFill>
              </a:defRPr>
            </a:pPr>
            <a:r>
              <a:rPr sz="825" b="1" i="0">
                <a:solidFill>
                  <a:srgbClr val="5F6D80"/>
                </a:solidFill>
              </a:rPr>
              <a:t>00:45</a:t>
            </a:r>
          </a:p>
        </p:txBody>
      </p:sp>
      <p:sp>
        <p:nvSpPr>
          <p:cNvPr id="17" name="">
            <a:extLst xmlns:a="http://schemas.openxmlformats.org/drawingml/2006/main">
              <a:ext uri="{FF2B5EF4-FFF2-40B4-BE49-F238E27FC236}">
                <a16:creationId xmlns:a16="http://schemas.microsoft.com/office/drawing/2014/main" id="{9DC73817-F53A-452B-92E3-C17840403F3D}"/>
              </a:ext>
            </a:extLst>
          </p:cNvPr>
          <p:cNvSpPr>
            <a:spLocks xmlns:a="http://schemas.openxmlformats.org/drawingml/2006/main" noGrp="1"/>
          </p:cNvSpPr>
          <p:nvPr/>
        </p:nvSpPr>
        <p:spPr>
          <a:xfrm xmlns:a="http://schemas.openxmlformats.org/drawingml/2006/main">
            <a:off x="5476875" y="4143375"/>
            <a:ext cx="17145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i="0">
                <a:solidFill>
                  <a:srgbClr val="0B1F33"/>
                </a:solidFill>
              </a:defRPr>
            </a:pPr>
            <a:r>
              <a:rPr sz="1350" b="1" i="0">
                <a:solidFill>
                  <a:srgbClr val="0B1F33"/>
                </a:solidFill>
              </a:rPr>
              <a:t>Clinic</a:t>
            </a:r>
          </a:p>
        </p:txBody>
      </p:sp>
      <p:sp>
        <p:nvSpPr>
          <p:cNvPr id="18" name="">
            <a:extLst xmlns:a="http://schemas.openxmlformats.org/drawingml/2006/main">
              <a:ext uri="{FF2B5EF4-FFF2-40B4-BE49-F238E27FC236}">
                <a16:creationId xmlns:a16="http://schemas.microsoft.com/office/drawing/2014/main" id="{F3371C20-4FDF-497C-9426-BA35D419F67A}"/>
              </a:ext>
            </a:extLst>
          </p:cNvPr>
          <p:cNvSpPr>
            <a:spLocks xmlns:a="http://schemas.openxmlformats.org/drawingml/2006/main" noGrp="1"/>
          </p:cNvSpPr>
          <p:nvPr/>
        </p:nvSpPr>
        <p:spPr>
          <a:xfrm xmlns:a="http://schemas.openxmlformats.org/drawingml/2006/main">
            <a:off x="5476875" y="44577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i="0">
                <a:solidFill>
                  <a:srgbClr val="5F6D80"/>
                </a:solidFill>
              </a:defRPr>
            </a:pPr>
            <a:r>
              <a:rPr sz="900" b="0" i="0">
                <a:solidFill>
                  <a:srgbClr val="5F6D80"/>
                </a:solidFill>
              </a:rPr>
              <a:t>Required follow-up is submitted.</a:t>
            </a:r>
          </a:p>
        </p:txBody>
      </p:sp>
      <p:sp>
        <p:nvSpPr>
          <p:cNvPr id="19" name="">
            <a:extLst xmlns:a="http://schemas.openxmlformats.org/drawingml/2006/main">
              <a:ext uri="{FF2B5EF4-FFF2-40B4-BE49-F238E27FC236}">
                <a16:creationId xmlns:a16="http://schemas.microsoft.com/office/drawing/2014/main" id="{1A1D7D02-650C-4FDA-B5E9-40ACA2B7CBF3}"/>
              </a:ext>
            </a:extLst>
          </p:cNvPr>
          <p:cNvSpPr>
            <a:spLocks xmlns:a="http://schemas.openxmlformats.org/drawingml/2006/main" noGrp="1"/>
          </p:cNvSpPr>
          <p:nvPr/>
        </p:nvSpPr>
        <p:spPr>
          <a:xfrm xmlns:a="http://schemas.openxmlformats.org/drawingml/2006/main">
            <a:off x="7858125" y="3781425"/>
            <a:ext cx="133350" cy="133350"/>
          </a:xfrm>
          <a:prstGeom xmlns:a="http://schemas.openxmlformats.org/drawingml/2006/main" prst="ellipse">
            <a:avLst/>
          </a:prstGeom>
          <a:solidFill xmlns:a="http://schemas.openxmlformats.org/drawingml/2006/main">
            <a:srgbClr val="0B1F33"/>
          </a:solidFill>
          <a:ln xmlns:a="http://schemas.openxmlformats.org/drawingml/2006/main" w="0">
            <a:solidFill>
              <a:srgbClr val="0B1F33"/>
            </a:solidFill>
            <a:prstDash val="solid"/>
          </a:ln>
        </p:spPr>
      </p:sp>
      <p:sp>
        <p:nvSpPr>
          <p:cNvPr id="20" name="">
            <a:extLst xmlns:a="http://schemas.openxmlformats.org/drawingml/2006/main">
              <a:ext uri="{FF2B5EF4-FFF2-40B4-BE49-F238E27FC236}">
                <a16:creationId xmlns:a16="http://schemas.microsoft.com/office/drawing/2014/main" id="{69398E44-58F1-48CE-9D05-388EDB79156B}"/>
              </a:ext>
            </a:extLst>
          </p:cNvPr>
          <p:cNvSpPr>
            <a:spLocks xmlns:a="http://schemas.openxmlformats.org/drawingml/2006/main" noGrp="1"/>
          </p:cNvSpPr>
          <p:nvPr/>
        </p:nvSpPr>
        <p:spPr>
          <a:xfrm xmlns:a="http://schemas.openxmlformats.org/drawingml/2006/main">
            <a:off x="7858125" y="317182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25" b="1" i="0">
                <a:solidFill>
                  <a:srgbClr val="5F6D80"/>
                </a:solidFill>
              </a:defRPr>
            </a:pPr>
            <a:r>
              <a:rPr sz="825" b="1" i="0">
                <a:solidFill>
                  <a:srgbClr val="5F6D80"/>
                </a:solidFill>
              </a:rPr>
              <a:t>01:10</a:t>
            </a:r>
          </a:p>
        </p:txBody>
      </p:sp>
      <p:sp>
        <p:nvSpPr>
          <p:cNvPr id="21" name="">
            <a:extLst xmlns:a="http://schemas.openxmlformats.org/drawingml/2006/main">
              <a:ext uri="{FF2B5EF4-FFF2-40B4-BE49-F238E27FC236}">
                <a16:creationId xmlns:a16="http://schemas.microsoft.com/office/drawing/2014/main" id="{06E8C34D-6FFA-46B3-9573-A97B7A09602A}"/>
              </a:ext>
            </a:extLst>
          </p:cNvPr>
          <p:cNvSpPr>
            <a:spLocks xmlns:a="http://schemas.openxmlformats.org/drawingml/2006/main" noGrp="1"/>
          </p:cNvSpPr>
          <p:nvPr/>
        </p:nvSpPr>
        <p:spPr>
          <a:xfrm xmlns:a="http://schemas.openxmlformats.org/drawingml/2006/main">
            <a:off x="7858125" y="4143375"/>
            <a:ext cx="17145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i="0">
                <a:solidFill>
                  <a:srgbClr val="0B1F33"/>
                </a:solidFill>
              </a:defRPr>
            </a:pPr>
            <a:r>
              <a:rPr sz="1350" b="1" i="0">
                <a:solidFill>
                  <a:srgbClr val="0B1F33"/>
                </a:solidFill>
              </a:rPr>
              <a:t>Verify</a:t>
            </a:r>
          </a:p>
        </p:txBody>
      </p:sp>
      <p:sp>
        <p:nvSpPr>
          <p:cNvPr id="22" name="">
            <a:extLst xmlns:a="http://schemas.openxmlformats.org/drawingml/2006/main">
              <a:ext uri="{FF2B5EF4-FFF2-40B4-BE49-F238E27FC236}">
                <a16:creationId xmlns:a16="http://schemas.microsoft.com/office/drawing/2014/main" id="{D0F2EFF9-24B6-4852-994A-97D5F147F4BB}"/>
              </a:ext>
            </a:extLst>
          </p:cNvPr>
          <p:cNvSpPr>
            <a:spLocks xmlns:a="http://schemas.openxmlformats.org/drawingml/2006/main" noGrp="1"/>
          </p:cNvSpPr>
          <p:nvPr/>
        </p:nvSpPr>
        <p:spPr>
          <a:xfrm xmlns:a="http://schemas.openxmlformats.org/drawingml/2006/main">
            <a:off x="7858125" y="44577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i="0">
                <a:solidFill>
                  <a:srgbClr val="5F6D80"/>
                </a:solidFill>
              </a:defRPr>
            </a:pPr>
            <a:r>
              <a:rPr sz="900" b="0" i="0">
                <a:solidFill>
                  <a:srgbClr val="5F6D80"/>
                </a:solidFill>
              </a:rPr>
              <a:t>Pharmacy confirms readiness.</a:t>
            </a:r>
          </a:p>
        </p:txBody>
      </p:sp>
      <p:sp>
        <p:nvSpPr>
          <p:cNvPr id="23" name="">
            <a:extLst xmlns:a="http://schemas.openxmlformats.org/drawingml/2006/main">
              <a:ext uri="{FF2B5EF4-FFF2-40B4-BE49-F238E27FC236}">
                <a16:creationId xmlns:a16="http://schemas.microsoft.com/office/drawing/2014/main" id="{C3890484-3E84-467F-A3DF-3DD5DAF87402}"/>
              </a:ext>
            </a:extLst>
          </p:cNvPr>
          <p:cNvSpPr>
            <a:spLocks xmlns:a="http://schemas.openxmlformats.org/drawingml/2006/main" noGrp="1"/>
          </p:cNvSpPr>
          <p:nvPr/>
        </p:nvSpPr>
        <p:spPr>
          <a:xfrm xmlns:a="http://schemas.openxmlformats.org/drawingml/2006/main">
            <a:off x="10239375" y="3781425"/>
            <a:ext cx="133350" cy="133350"/>
          </a:xfrm>
          <a:prstGeom xmlns:a="http://schemas.openxmlformats.org/drawingml/2006/main" prst="ellipse">
            <a:avLst/>
          </a:prstGeom>
          <a:solidFill xmlns:a="http://schemas.openxmlformats.org/drawingml/2006/main">
            <a:srgbClr val="0E9F8E"/>
          </a:solidFill>
          <a:ln xmlns:a="http://schemas.openxmlformats.org/drawingml/2006/main" w="0">
            <a:solidFill>
              <a:srgbClr val="0E9F8E"/>
            </a:solidFill>
            <a:prstDash val="solid"/>
          </a:ln>
        </p:spPr>
      </p:sp>
      <p:sp>
        <p:nvSpPr>
          <p:cNvPr id="24" name="">
            <a:extLst xmlns:a="http://schemas.openxmlformats.org/drawingml/2006/main">
              <a:ext uri="{FF2B5EF4-FFF2-40B4-BE49-F238E27FC236}">
                <a16:creationId xmlns:a16="http://schemas.microsoft.com/office/drawing/2014/main" id="{5945E541-5D4F-4EBB-84E4-E6C6CEF7A489}"/>
              </a:ext>
            </a:extLst>
          </p:cNvPr>
          <p:cNvSpPr>
            <a:spLocks xmlns:a="http://schemas.openxmlformats.org/drawingml/2006/main" noGrp="1"/>
          </p:cNvSpPr>
          <p:nvPr/>
        </p:nvSpPr>
        <p:spPr>
          <a:xfrm xmlns:a="http://schemas.openxmlformats.org/drawingml/2006/main">
            <a:off x="10239375" y="317182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25" b="1" i="0">
                <a:solidFill>
                  <a:srgbClr val="5F6D80"/>
                </a:solidFill>
              </a:defRPr>
            </a:pPr>
            <a:r>
              <a:rPr sz="825" b="1" i="0">
                <a:solidFill>
                  <a:srgbClr val="5F6D80"/>
                </a:solidFill>
              </a:rPr>
              <a:t>01:22</a:t>
            </a:r>
          </a:p>
        </p:txBody>
      </p:sp>
      <p:sp>
        <p:nvSpPr>
          <p:cNvPr id="25" name="">
            <a:extLst xmlns:a="http://schemas.openxmlformats.org/drawingml/2006/main">
              <a:ext uri="{FF2B5EF4-FFF2-40B4-BE49-F238E27FC236}">
                <a16:creationId xmlns:a16="http://schemas.microsoft.com/office/drawing/2014/main" id="{2A5433BD-398C-45F9-A2A8-3F5ECED37301}"/>
              </a:ext>
            </a:extLst>
          </p:cNvPr>
          <p:cNvSpPr>
            <a:spLocks xmlns:a="http://schemas.openxmlformats.org/drawingml/2006/main" noGrp="1"/>
          </p:cNvSpPr>
          <p:nvPr/>
        </p:nvSpPr>
        <p:spPr>
          <a:xfrm xmlns:a="http://schemas.openxmlformats.org/drawingml/2006/main">
            <a:off x="10239375" y="4143375"/>
            <a:ext cx="17145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i="0">
                <a:solidFill>
                  <a:srgbClr val="0B1F33"/>
                </a:solidFill>
              </a:defRPr>
            </a:pPr>
            <a:r>
              <a:rPr sz="1350" b="1" i="0">
                <a:solidFill>
                  <a:srgbClr val="0B1F33"/>
                </a:solidFill>
              </a:rPr>
              <a:t>Update</a:t>
            </a:r>
          </a:p>
        </p:txBody>
      </p:sp>
      <p:sp>
        <p:nvSpPr>
          <p:cNvPr id="26" name="">
            <a:extLst xmlns:a="http://schemas.openxmlformats.org/drawingml/2006/main">
              <a:ext uri="{FF2B5EF4-FFF2-40B4-BE49-F238E27FC236}">
                <a16:creationId xmlns:a16="http://schemas.microsoft.com/office/drawing/2014/main" id="{22206D2B-B125-41A7-ADBE-6A2EA1A496F7}"/>
              </a:ext>
            </a:extLst>
          </p:cNvPr>
          <p:cNvSpPr>
            <a:spLocks xmlns:a="http://schemas.openxmlformats.org/drawingml/2006/main" noGrp="1"/>
          </p:cNvSpPr>
          <p:nvPr/>
        </p:nvSpPr>
        <p:spPr>
          <a:xfrm xmlns:a="http://schemas.openxmlformats.org/drawingml/2006/main">
            <a:off x="10239375" y="44577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i="0">
                <a:solidFill>
                  <a:srgbClr val="5F6D80"/>
                </a:solidFill>
              </a:defRPr>
            </a:pPr>
            <a:r>
              <a:rPr sz="900" b="0" i="0">
                <a:solidFill>
                  <a:srgbClr val="5F6D80"/>
                </a:solidFill>
              </a:rPr>
              <a:t>Consented patient SMS is sent.</a:t>
            </a:r>
          </a:p>
        </p:txBody>
      </p:sp>
      <p:sp>
        <p:nvSpPr>
          <p:cNvPr id="27" name="">
            <a:extLst xmlns:a="http://schemas.openxmlformats.org/drawingml/2006/main">
              <a:ext uri="{FF2B5EF4-FFF2-40B4-BE49-F238E27FC236}">
                <a16:creationId xmlns:a16="http://schemas.microsoft.com/office/drawing/2014/main" id="{D67FFF86-9FBC-44A5-A62A-1600945761EB}"/>
              </a:ext>
            </a:extLst>
          </p:cNvPr>
          <p:cNvSpPr>
            <a:spLocks xmlns:a="http://schemas.openxmlformats.org/drawingml/2006/main" noGrp="1"/>
          </p:cNvSpPr>
          <p:nvPr/>
        </p:nvSpPr>
        <p:spPr>
          <a:xfrm xmlns:a="http://schemas.openxmlformats.org/drawingml/2006/main">
            <a:off x="7353300" y="5372100"/>
            <a:ext cx="4381500" cy="704850"/>
          </a:xfrm>
          <a:prstGeom xmlns:a="http://schemas.openxmlformats.org/drawingml/2006/main" prst="roundRect">
            <a:avLst>
              <a:gd name="adj" fmla="val 16216"/>
            </a:avLst>
          </a:prstGeom>
          <a:solidFill xmlns:a="http://schemas.openxmlformats.org/drawingml/2006/main">
            <a:srgbClr val="DCF6F0"/>
          </a:solidFill>
          <a:ln xmlns:a="http://schemas.openxmlformats.org/drawingml/2006/main" w="9525">
            <a:solidFill>
              <a:srgbClr val="DCF6F0"/>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8" name="">
            <a:extLst xmlns:a="http://schemas.openxmlformats.org/drawingml/2006/main">
              <a:ext uri="{FF2B5EF4-FFF2-40B4-BE49-F238E27FC236}">
                <a16:creationId xmlns:a16="http://schemas.microsoft.com/office/drawing/2014/main" id="{D54BDAA3-E11A-457E-B394-154792186683}"/>
              </a:ext>
            </a:extLst>
          </p:cNvPr>
          <p:cNvSpPr>
            <a:spLocks xmlns:a="http://schemas.openxmlformats.org/drawingml/2006/main" noGrp="1"/>
          </p:cNvSpPr>
          <p:nvPr/>
        </p:nvSpPr>
        <p:spPr>
          <a:xfrm xmlns:a="http://schemas.openxmlformats.org/drawingml/2006/main">
            <a:off x="7600950" y="5591175"/>
            <a:ext cx="3619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i="0">
                <a:solidFill>
                  <a:srgbClr val="0E9F8E"/>
                </a:solidFill>
              </a:defRPr>
            </a:pPr>
            <a:r>
              <a:rPr sz="1350" b="1" i="0">
                <a:solidFill>
                  <a:srgbClr val="0E9F8E"/>
                </a:solidFill>
              </a:rPr>
              <a:t>✓  4/4 proof conditions complete</a:t>
            </a:r>
          </a:p>
        </p:txBody>
      </p:sp>
      <p:sp>
        <p:nvSpPr>
          <p:cNvPr id="29" name="">
            <a:extLst xmlns:a="http://schemas.openxmlformats.org/drawingml/2006/main">
              <a:ext uri="{FF2B5EF4-FFF2-40B4-BE49-F238E27FC236}">
                <a16:creationId xmlns:a16="http://schemas.microsoft.com/office/drawing/2014/main" id="{6CB927A7-CB6D-49F1-A25F-F034006E72E9}"/>
              </a:ext>
            </a:extLst>
          </p:cNvPr>
          <p:cNvSpPr>
            <a:spLocks xmlns:a="http://schemas.openxmlformats.org/drawingml/2006/main" noGrp="1"/>
          </p:cNvSpPr>
          <p:nvPr/>
        </p:nvSpPr>
        <p:spPr>
          <a:xfrm xmlns:a="http://schemas.openxmlformats.org/drawingml/2006/main">
            <a:off x="457200" y="6457950"/>
            <a:ext cx="85725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75" b="0" i="0">
                <a:solidFill>
                  <a:srgbClr val="8090A1"/>
                </a:solidFill>
              </a:defRPr>
            </a:pPr>
            <a:r>
              <a:rPr sz="675" b="0" i="0">
                <a:solidFill>
                  <a:srgbClr val="8090A1"/>
                </a:solidFill>
              </a:rPr>
              <a:t>Every UI action hits the real demo case state machine—no pre-baked animation.</a:t>
            </a:r>
          </a:p>
        </p:txBody>
      </p:sp>
      <p:sp>
        <p:nvSpPr>
          <p:cNvPr id="30" name="">
            <a:extLst xmlns:a="http://schemas.openxmlformats.org/drawingml/2006/main">
              <a:ext uri="{FF2B5EF4-FFF2-40B4-BE49-F238E27FC236}">
                <a16:creationId xmlns:a16="http://schemas.microsoft.com/office/drawing/2014/main" id="{BD7E254C-FF78-45B1-9C83-61DA76B4B0D9}"/>
              </a:ext>
            </a:extLst>
          </p:cNvPr>
          <p:cNvSpPr>
            <a:spLocks xmlns:a="http://schemas.openxmlformats.org/drawingml/2006/main" noGrp="1"/>
          </p:cNvSpPr>
          <p:nvPr/>
        </p:nvSpPr>
        <p:spPr>
          <a:xfrm xmlns:a="http://schemas.openxmlformats.org/drawingml/2006/main">
            <a:off x="8382000" y="6457950"/>
            <a:ext cx="3352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675" b="0" i="0">
                <a:solidFill>
                  <a:srgbClr val="8090A1"/>
                </a:solidFill>
              </a:defRPr>
            </a:pPr>
            <a:r>
              <a:rPr sz="675" b="0" i="0">
                <a:solidFill>
                  <a:srgbClr val="8090A1"/>
                </a:solidFill>
              </a:rPr>
              <a:t>A1MOBILE VOICE AI HACKATHON · 2026</a:t>
            </a:r>
          </a:p>
        </p:txBody>
      </p:sp>
    </p:spTree>
    <p:extLst>
      <p:ext uri="{BB962C8B-B14F-4D97-AF65-F5344CB8AC3E}">
        <p14:creationId xmlns:p14="http://schemas.microsoft.com/office/powerpoint/2010/main" val="1104770661"/>
      </p:ext>
    </p:extLst>
  </p:cSld>
</p:sld>
</file>

<file path=ppt/slides/slide6.xml><?xml version="1.0" encoding="utf-8"?>
<p:sld xmlns:p="http://schemas.openxmlformats.org/presentationml/2006/main">
  <p:cSld>
    <p:bg>
      <p:bgPr>
        <a:solidFill xmlns:a="http://schemas.openxmlformats.org/drawingml/2006/main">
          <a:srgbClr val="F3F5F7"/>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C4851629-3A3D-41AF-8FF1-12F5864E2569}"/>
              </a:ext>
            </a:extLst>
          </p:cNvPr>
          <p:cNvSpPr>
            <a:spLocks xmlns:a="http://schemas.openxmlformats.org/drawingml/2006/main" noGrp="1"/>
          </p:cNvSpPr>
          <p:nvPr/>
        </p:nvSpPr>
        <p:spPr>
          <a:xfrm xmlns:a="http://schemas.openxmlformats.org/drawingml/2006/main">
            <a:off x="457200" y="314325"/>
            <a:ext cx="590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750" b="1" i="0">
                <a:solidFill>
                  <a:srgbClr val="5F6D80"/>
                </a:solidFill>
              </a:defRPr>
            </a:pPr>
            <a:r>
              <a:rPr sz="750" b="1" i="0">
                <a:solidFill>
                  <a:srgbClr val="5F6D80"/>
                </a:solidFill>
              </a:rPr>
              <a:t>THE PROOF BOARD</a:t>
            </a:r>
          </a:p>
        </p:txBody>
      </p:sp>
      <p:sp>
        <p:nvSpPr>
          <p:cNvPr id="2" name="">
            <a:extLst xmlns:a="http://schemas.openxmlformats.org/drawingml/2006/main">
              <a:ext uri="{FF2B5EF4-FFF2-40B4-BE49-F238E27FC236}">
                <a16:creationId xmlns:a16="http://schemas.microsoft.com/office/drawing/2014/main" id="{4B7EF463-D6F3-4C3A-9667-9147787D12E2}"/>
              </a:ext>
            </a:extLst>
          </p:cNvPr>
          <p:cNvSpPr>
            <a:spLocks xmlns:a="http://schemas.openxmlformats.org/drawingml/2006/main" noGrp="1"/>
          </p:cNvSpPr>
          <p:nvPr/>
        </p:nvSpPr>
        <p:spPr>
          <a:xfrm xmlns:a="http://schemas.openxmlformats.org/drawingml/2006/main">
            <a:off x="9639300" y="314325"/>
            <a:ext cx="209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750" b="1" i="0">
                <a:solidFill>
                  <a:srgbClr val="5F6D80"/>
                </a:solidFill>
              </a:defRPr>
            </a:pPr>
            <a:r>
              <a:rPr sz="750" b="1" i="0">
                <a:solidFill>
                  <a:srgbClr val="5F6D80"/>
                </a:solidFill>
              </a:rPr>
              <a:t>RXRELAY  /  06</a:t>
            </a:r>
          </a:p>
        </p:txBody>
      </p:sp>
      <p:sp>
        <p:nvSpPr>
          <p:cNvPr id="3" name="">
            <a:extLst xmlns:a="http://schemas.openxmlformats.org/drawingml/2006/main">
              <a:ext uri="{FF2B5EF4-FFF2-40B4-BE49-F238E27FC236}">
                <a16:creationId xmlns:a16="http://schemas.microsoft.com/office/drawing/2014/main" id="{FB15337D-ECE0-4F41-B812-B8FB9134C0C4}"/>
              </a:ext>
            </a:extLst>
          </p:cNvPr>
          <p:cNvSpPr>
            <a:spLocks xmlns:a="http://schemas.openxmlformats.org/drawingml/2006/main" noGrp="1"/>
          </p:cNvSpPr>
          <p:nvPr/>
        </p:nvSpPr>
        <p:spPr>
          <a:xfrm xmlns:a="http://schemas.openxmlformats.org/drawingml/2006/main">
            <a:off x="457200" y="552450"/>
            <a:ext cx="11277600" cy="9525"/>
          </a:xfrm>
          <a:prstGeom xmlns:a="http://schemas.openxmlformats.org/drawingml/2006/main" prst="rect">
            <a:avLst/>
          </a:prstGeom>
          <a:solidFill xmlns:a="http://schemas.openxmlformats.org/drawingml/2006/main">
            <a:srgbClr val="D8E0E7"/>
          </a:solidFill>
          <a:ln xmlns:a="http://schemas.openxmlformats.org/drawingml/2006/main" w="0">
            <a:solidFill>
              <a:srgbClr val="D8E0E7"/>
            </a:solidFill>
            <a:prstDash val="solid"/>
          </a:ln>
        </p:spPr>
      </p:sp>
      <p:sp>
        <p:nvSpPr>
          <p:cNvPr id="4" name="title">
            <a:extLst xmlns:a="http://schemas.openxmlformats.org/drawingml/2006/main">
              <a:ext uri="{FF2B5EF4-FFF2-40B4-BE49-F238E27FC236}">
                <a16:creationId xmlns:a16="http://schemas.microsoft.com/office/drawing/2014/main" id="{1E670F15-6C97-46C9-9642-ED67F6F6F4B8}"/>
              </a:ext>
            </a:extLst>
          </p:cNvPr>
          <p:cNvSpPr>
            <a:spLocks xmlns:a="http://schemas.openxmlformats.org/drawingml/2006/main" noGrp="1"/>
          </p:cNvSpPr>
          <p:nvPr/>
        </p:nvSpPr>
        <p:spPr>
          <a:xfrm xmlns:a="http://schemas.openxmlformats.org/drawingml/2006/main">
            <a:off x="457200" y="876300"/>
            <a:ext cx="8096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300" b="1" i="0">
                <a:solidFill>
                  <a:srgbClr val="0B1F33"/>
                </a:solidFill>
              </a:defRPr>
            </a:pPr>
            <a:r>
              <a:rPr sz="3300" b="1" i="0">
                <a:solidFill>
                  <a:srgbClr val="0B1F33"/>
                </a:solidFill>
              </a:rPr>
              <a:t>The interface is designed to make a false “done” impossible.</a:t>
            </a:r>
          </a:p>
        </p:txBody>
      </p:sp>
      <p:sp>
        <p:nvSpPr>
          <p:cNvPr id="5" name="subtitle">
            <a:extLst xmlns:a="http://schemas.openxmlformats.org/drawingml/2006/main">
              <a:ext uri="{FF2B5EF4-FFF2-40B4-BE49-F238E27FC236}">
                <a16:creationId xmlns:a16="http://schemas.microsoft.com/office/drawing/2014/main" id="{BD8D3952-B60E-4C66-99C5-B39EDA9A3474}"/>
              </a:ext>
            </a:extLst>
          </p:cNvPr>
          <p:cNvSpPr>
            <a:spLocks xmlns:a="http://schemas.openxmlformats.org/drawingml/2006/main" noGrp="1"/>
          </p:cNvSpPr>
          <p:nvPr/>
        </p:nvSpPr>
        <p:spPr>
          <a:xfrm xmlns:a="http://schemas.openxmlformats.org/drawingml/2006/main">
            <a:off x="457200" y="1809750"/>
            <a:ext cx="7143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5F6D80"/>
                </a:solidFill>
              </a:defRPr>
            </a:pPr>
            <a:r>
              <a:rPr sz="1350" b="0" i="0">
                <a:solidFill>
                  <a:srgbClr val="5F6D80"/>
                </a:solidFill>
              </a:rPr>
              <a:t>Judges can see the exact difference between activity and resolution.</a:t>
            </a:r>
          </a:p>
        </p:txBody>
      </p:sp>
      <p:sp>
        <p:nvSpPr>
          <p:cNvPr id="6" name="">
            <a:extLst xmlns:a="http://schemas.openxmlformats.org/drawingml/2006/main">
              <a:ext uri="{FF2B5EF4-FFF2-40B4-BE49-F238E27FC236}">
                <a16:creationId xmlns:a16="http://schemas.microsoft.com/office/drawing/2014/main" id="{A9391C69-E846-490C-AA93-5491AB941AAB}"/>
              </a:ext>
            </a:extLst>
          </p:cNvPr>
          <p:cNvSpPr>
            <a:spLocks xmlns:a="http://schemas.openxmlformats.org/drawingml/2006/main" noGrp="1"/>
          </p:cNvSpPr>
          <p:nvPr/>
        </p:nvSpPr>
        <p:spPr>
          <a:xfrm xmlns:a="http://schemas.openxmlformats.org/drawingml/2006/main">
            <a:off x="457200" y="2847975"/>
            <a:ext cx="11277600" cy="31432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D8E0E7"/>
            </a:solidFill>
            <a:prstDash val="solid"/>
          </a:ln>
        </p:spPr>
        <p:style>
          <a:lnRef xmlns:a="http://schemas.openxmlformats.org/drawingml/2006/main" idx="0"/>
          <a:fillRef xmlns:a="http://schemas.openxmlformats.org/drawingml/2006/main" idx="0"/>
          <a:effectRef xmlns:a="http://schemas.openxmlformats.org/drawingml/2006/main" idx="6"/>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34F6196F-2325-4AB5-8D3E-37A11AA3CA77}"/>
              </a:ext>
            </a:extLst>
          </p:cNvPr>
          <p:cNvSpPr>
            <a:spLocks xmlns:a="http://schemas.openxmlformats.org/drawingml/2006/main" noGrp="1"/>
          </p:cNvSpPr>
          <p:nvPr/>
        </p:nvSpPr>
        <p:spPr>
          <a:xfrm xmlns:a="http://schemas.openxmlformats.org/drawingml/2006/main">
            <a:off x="723900" y="3105150"/>
            <a:ext cx="4857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i="0">
                <a:solidFill>
                  <a:srgbClr val="0B1F33"/>
                </a:solidFill>
              </a:defRPr>
            </a:pPr>
            <a:r>
              <a:rPr sz="1200" b="1" i="0">
                <a:solidFill>
                  <a:srgbClr val="0B1F33"/>
                </a:solidFill>
              </a:rPr>
              <a:t>RX-1048 · Demo prescription-access case</a:t>
            </a:r>
          </a:p>
        </p:txBody>
      </p:sp>
      <p:sp>
        <p:nvSpPr>
          <p:cNvPr id="8" name="">
            <a:extLst xmlns:a="http://schemas.openxmlformats.org/drawingml/2006/main">
              <a:ext uri="{FF2B5EF4-FFF2-40B4-BE49-F238E27FC236}">
                <a16:creationId xmlns:a16="http://schemas.microsoft.com/office/drawing/2014/main" id="{5DCE8D73-BE82-4984-8686-D5070E3083FA}"/>
              </a:ext>
            </a:extLst>
          </p:cNvPr>
          <p:cNvSpPr>
            <a:spLocks xmlns:a="http://schemas.openxmlformats.org/drawingml/2006/main" noGrp="1"/>
          </p:cNvSpPr>
          <p:nvPr/>
        </p:nvSpPr>
        <p:spPr>
          <a:xfrm xmlns:a="http://schemas.openxmlformats.org/drawingml/2006/main">
            <a:off x="9620250" y="3048000"/>
            <a:ext cx="1752600" cy="238125"/>
          </a:xfrm>
          <a:prstGeom xmlns:a="http://schemas.openxmlformats.org/drawingml/2006/main" prst="roundRect">
            <a:avLst>
              <a:gd name="adj" fmla="val 50000"/>
            </a:avLst>
          </a:prstGeom>
          <a:solidFill xmlns:a="http://schemas.openxmlformats.org/drawingml/2006/main">
            <a:srgbClr val="DCF6F0"/>
          </a:solidFill>
          <a:ln xmlns:a="http://schemas.openxmlformats.org/drawingml/2006/main" w="0">
            <a:solidFill>
              <a:srgbClr val="DCF6F0"/>
            </a:solidFill>
            <a:prstDash val="solid"/>
          </a:ln>
        </p:spPr>
      </p:sp>
      <p:sp>
        <p:nvSpPr>
          <p:cNvPr id="9" name="">
            <a:extLst xmlns:a="http://schemas.openxmlformats.org/drawingml/2006/main">
              <a:ext uri="{FF2B5EF4-FFF2-40B4-BE49-F238E27FC236}">
                <a16:creationId xmlns:a16="http://schemas.microsoft.com/office/drawing/2014/main" id="{423C4977-5FED-4B39-BFEB-09FE59B99EF1}"/>
              </a:ext>
            </a:extLst>
          </p:cNvPr>
          <p:cNvSpPr>
            <a:spLocks xmlns:a="http://schemas.openxmlformats.org/drawingml/2006/main" noGrp="1"/>
          </p:cNvSpPr>
          <p:nvPr/>
        </p:nvSpPr>
        <p:spPr>
          <a:xfrm xmlns:a="http://schemas.openxmlformats.org/drawingml/2006/main">
            <a:off x="9715500" y="3105150"/>
            <a:ext cx="15621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750" b="1" i="0">
                <a:solidFill>
                  <a:srgbClr val="0E9F8E"/>
                </a:solidFill>
              </a:defRPr>
            </a:pPr>
            <a:r>
              <a:rPr sz="750" b="1" i="0">
                <a:solidFill>
                  <a:srgbClr val="0E9F8E"/>
                </a:solidFill>
              </a:rPr>
              <a:t>RESOLUTION VERIFIED</a:t>
            </a:r>
          </a:p>
        </p:txBody>
      </p:sp>
      <p:sp>
        <p:nvSpPr>
          <p:cNvPr id="10" name="">
            <a:extLst xmlns:a="http://schemas.openxmlformats.org/drawingml/2006/main">
              <a:ext uri="{FF2B5EF4-FFF2-40B4-BE49-F238E27FC236}">
                <a16:creationId xmlns:a16="http://schemas.microsoft.com/office/drawing/2014/main" id="{D08E32EF-C592-4877-99BB-2F47E62E2769}"/>
              </a:ext>
            </a:extLst>
          </p:cNvPr>
          <p:cNvSpPr>
            <a:spLocks xmlns:a="http://schemas.openxmlformats.org/drawingml/2006/main" noGrp="1"/>
          </p:cNvSpPr>
          <p:nvPr/>
        </p:nvSpPr>
        <p:spPr>
          <a:xfrm xmlns:a="http://schemas.openxmlformats.org/drawingml/2006/main">
            <a:off x="723900" y="3590925"/>
            <a:ext cx="2076450" cy="1905000"/>
          </a:xfrm>
          <a:prstGeom xmlns:a="http://schemas.openxmlformats.org/drawingml/2006/main" prst="roundRect">
            <a:avLst>
              <a:gd name="adj" fmla="val 6000"/>
            </a:avLst>
          </a:prstGeom>
          <a:solidFill xmlns:a="http://schemas.openxmlformats.org/drawingml/2006/main">
            <a:srgbClr val="E5F0FF"/>
          </a:solidFill>
          <a:ln xmlns:a="http://schemas.openxmlformats.org/drawingml/2006/main" w="9525">
            <a:solidFill>
              <a:srgbClr val="E5F0FF"/>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
            <a:extLst xmlns:a="http://schemas.openxmlformats.org/drawingml/2006/main">
              <a:ext uri="{FF2B5EF4-FFF2-40B4-BE49-F238E27FC236}">
                <a16:creationId xmlns:a16="http://schemas.microsoft.com/office/drawing/2014/main" id="{DF01FE3B-36F7-4BC7-B5B2-478043229EB5}"/>
              </a:ext>
            </a:extLst>
          </p:cNvPr>
          <p:cNvSpPr>
            <a:spLocks xmlns:a="http://schemas.openxmlformats.org/drawingml/2006/main" noGrp="1"/>
          </p:cNvSpPr>
          <p:nvPr/>
        </p:nvSpPr>
        <p:spPr>
          <a:xfrm xmlns:a="http://schemas.openxmlformats.org/drawingml/2006/main">
            <a:off x="885825" y="3800475"/>
            <a:ext cx="1666875"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75" b="1" i="0">
                <a:solidFill>
                  <a:srgbClr val="3D8DFF"/>
                </a:solidFill>
              </a:defRPr>
            </a:pPr>
            <a:r>
              <a:rPr sz="675" b="1" i="0">
                <a:solidFill>
                  <a:srgbClr val="3D8DFF"/>
                </a:solidFill>
              </a:rPr>
              <a:t>PATIENT</a:t>
            </a:r>
          </a:p>
        </p:txBody>
      </p:sp>
      <p:sp>
        <p:nvSpPr>
          <p:cNvPr id="12" name="">
            <a:extLst xmlns:a="http://schemas.openxmlformats.org/drawingml/2006/main">
              <a:ext uri="{FF2B5EF4-FFF2-40B4-BE49-F238E27FC236}">
                <a16:creationId xmlns:a16="http://schemas.microsoft.com/office/drawing/2014/main" id="{4F92A310-B3FA-4982-9B19-5CA6DC620054}"/>
              </a:ext>
            </a:extLst>
          </p:cNvPr>
          <p:cNvSpPr>
            <a:spLocks xmlns:a="http://schemas.openxmlformats.org/drawingml/2006/main" noGrp="1"/>
          </p:cNvSpPr>
          <p:nvPr/>
        </p:nvSpPr>
        <p:spPr>
          <a:xfrm xmlns:a="http://schemas.openxmlformats.org/drawingml/2006/main">
            <a:off x="885825" y="4171950"/>
            <a:ext cx="16668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i="0">
                <a:solidFill>
                  <a:srgbClr val="0B1F33"/>
                </a:solidFill>
              </a:defRPr>
            </a:pPr>
            <a:r>
              <a:rPr sz="1350" b="1" i="0">
                <a:solidFill>
                  <a:srgbClr val="0B1F33"/>
                </a:solidFill>
              </a:rPr>
              <a:t>Consent recorded</a:t>
            </a:r>
          </a:p>
        </p:txBody>
      </p:sp>
      <p:sp>
        <p:nvSpPr>
          <p:cNvPr id="13" name="">
            <a:extLst xmlns:a="http://schemas.openxmlformats.org/drawingml/2006/main">
              <a:ext uri="{FF2B5EF4-FFF2-40B4-BE49-F238E27FC236}">
                <a16:creationId xmlns:a16="http://schemas.microsoft.com/office/drawing/2014/main" id="{DD7B232B-8753-4679-8674-FDDB4283E104}"/>
              </a:ext>
            </a:extLst>
          </p:cNvPr>
          <p:cNvSpPr>
            <a:spLocks xmlns:a="http://schemas.openxmlformats.org/drawingml/2006/main" noGrp="1"/>
          </p:cNvSpPr>
          <p:nvPr/>
        </p:nvSpPr>
        <p:spPr>
          <a:xfrm xmlns:a="http://schemas.openxmlformats.org/drawingml/2006/main">
            <a:off x="885825" y="4772025"/>
            <a:ext cx="1714500" cy="9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14" name="">
            <a:extLst xmlns:a="http://schemas.openxmlformats.org/drawingml/2006/main">
              <a:ext uri="{FF2B5EF4-FFF2-40B4-BE49-F238E27FC236}">
                <a16:creationId xmlns:a16="http://schemas.microsoft.com/office/drawing/2014/main" id="{91C718CC-B633-4304-847D-51CC5958805D}"/>
              </a:ext>
            </a:extLst>
          </p:cNvPr>
          <p:cNvSpPr>
            <a:spLocks xmlns:a="http://schemas.openxmlformats.org/drawingml/2006/main" noGrp="1"/>
          </p:cNvSpPr>
          <p:nvPr/>
        </p:nvSpPr>
        <p:spPr>
          <a:xfrm xmlns:a="http://schemas.openxmlformats.org/drawingml/2006/main">
            <a:off x="885825" y="4972050"/>
            <a:ext cx="16573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i="0">
                <a:solidFill>
                  <a:srgbClr val="5F6D80"/>
                </a:solidFill>
              </a:defRPr>
            </a:pPr>
            <a:r>
              <a:rPr sz="900" b="0" i="0">
                <a:solidFill>
                  <a:srgbClr val="5F6D80"/>
                </a:solidFill>
              </a:rPr>
              <a:t>Status update sent</a:t>
            </a:r>
          </a:p>
        </p:txBody>
      </p:sp>
      <p:sp>
        <p:nvSpPr>
          <p:cNvPr id="15" name="">
            <a:extLst xmlns:a="http://schemas.openxmlformats.org/drawingml/2006/main">
              <a:ext uri="{FF2B5EF4-FFF2-40B4-BE49-F238E27FC236}">
                <a16:creationId xmlns:a16="http://schemas.microsoft.com/office/drawing/2014/main" id="{CE1DB0D5-F299-43CC-8670-0DE0858E27AC}"/>
              </a:ext>
            </a:extLst>
          </p:cNvPr>
          <p:cNvSpPr>
            <a:spLocks xmlns:a="http://schemas.openxmlformats.org/drawingml/2006/main" noGrp="1"/>
          </p:cNvSpPr>
          <p:nvPr/>
        </p:nvSpPr>
        <p:spPr>
          <a:xfrm xmlns:a="http://schemas.openxmlformats.org/drawingml/2006/main">
            <a:off x="3028950" y="3590925"/>
            <a:ext cx="2076450" cy="1905000"/>
          </a:xfrm>
          <a:prstGeom xmlns:a="http://schemas.openxmlformats.org/drawingml/2006/main" prst="roundRect">
            <a:avLst>
              <a:gd name="adj" fmla="val 6000"/>
            </a:avLst>
          </a:prstGeom>
          <a:solidFill xmlns:a="http://schemas.openxmlformats.org/drawingml/2006/main">
            <a:srgbClr val="FFF1D7"/>
          </a:solidFill>
          <a:ln xmlns:a="http://schemas.openxmlformats.org/drawingml/2006/main" w="9525">
            <a:solidFill>
              <a:srgbClr val="FFF1D7"/>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6" name="">
            <a:extLst xmlns:a="http://schemas.openxmlformats.org/drawingml/2006/main">
              <a:ext uri="{FF2B5EF4-FFF2-40B4-BE49-F238E27FC236}">
                <a16:creationId xmlns:a16="http://schemas.microsoft.com/office/drawing/2014/main" id="{DE6ABCDC-78E2-4BBB-B2D9-7317C9D42D9C}"/>
              </a:ext>
            </a:extLst>
          </p:cNvPr>
          <p:cNvSpPr>
            <a:spLocks xmlns:a="http://schemas.openxmlformats.org/drawingml/2006/main" noGrp="1"/>
          </p:cNvSpPr>
          <p:nvPr/>
        </p:nvSpPr>
        <p:spPr>
          <a:xfrm xmlns:a="http://schemas.openxmlformats.org/drawingml/2006/main">
            <a:off x="3190875" y="3800475"/>
            <a:ext cx="1666875"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75" b="1" i="0">
                <a:solidFill>
                  <a:srgbClr val="E6A037"/>
                </a:solidFill>
              </a:defRPr>
            </a:pPr>
            <a:r>
              <a:rPr sz="675" b="1" i="0">
                <a:solidFill>
                  <a:srgbClr val="E6A037"/>
                </a:solidFill>
              </a:rPr>
              <a:t>PHARMACY</a:t>
            </a:r>
          </a:p>
        </p:txBody>
      </p:sp>
      <p:sp>
        <p:nvSpPr>
          <p:cNvPr id="17" name="">
            <a:extLst xmlns:a="http://schemas.openxmlformats.org/drawingml/2006/main">
              <a:ext uri="{FF2B5EF4-FFF2-40B4-BE49-F238E27FC236}">
                <a16:creationId xmlns:a16="http://schemas.microsoft.com/office/drawing/2014/main" id="{7FA6D9D1-2E66-4594-AE1E-EBC10B7A450F}"/>
              </a:ext>
            </a:extLst>
          </p:cNvPr>
          <p:cNvSpPr>
            <a:spLocks xmlns:a="http://schemas.openxmlformats.org/drawingml/2006/main" noGrp="1"/>
          </p:cNvSpPr>
          <p:nvPr/>
        </p:nvSpPr>
        <p:spPr>
          <a:xfrm xmlns:a="http://schemas.openxmlformats.org/drawingml/2006/main">
            <a:off x="3190875" y="4171950"/>
            <a:ext cx="16668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i="0">
                <a:solidFill>
                  <a:srgbClr val="0B1F33"/>
                </a:solidFill>
              </a:defRPr>
            </a:pPr>
            <a:r>
              <a:rPr sz="1350" b="1" i="0">
                <a:solidFill>
                  <a:srgbClr val="0B1F33"/>
                </a:solidFill>
              </a:rPr>
              <a:t>Ready for pickup</a:t>
            </a:r>
          </a:p>
        </p:txBody>
      </p:sp>
      <p:sp>
        <p:nvSpPr>
          <p:cNvPr id="18" name="">
            <a:extLst xmlns:a="http://schemas.openxmlformats.org/drawingml/2006/main">
              <a:ext uri="{FF2B5EF4-FFF2-40B4-BE49-F238E27FC236}">
                <a16:creationId xmlns:a16="http://schemas.microsoft.com/office/drawing/2014/main" id="{1B901946-2336-4AF8-8895-F4B710843DC3}"/>
              </a:ext>
            </a:extLst>
          </p:cNvPr>
          <p:cNvSpPr>
            <a:spLocks xmlns:a="http://schemas.openxmlformats.org/drawingml/2006/main" noGrp="1"/>
          </p:cNvSpPr>
          <p:nvPr/>
        </p:nvSpPr>
        <p:spPr>
          <a:xfrm xmlns:a="http://schemas.openxmlformats.org/drawingml/2006/main">
            <a:off x="3190875" y="4772025"/>
            <a:ext cx="1714500" cy="9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19" name="">
            <a:extLst xmlns:a="http://schemas.openxmlformats.org/drawingml/2006/main">
              <a:ext uri="{FF2B5EF4-FFF2-40B4-BE49-F238E27FC236}">
                <a16:creationId xmlns:a16="http://schemas.microsoft.com/office/drawing/2014/main" id="{0EEC37D5-C817-4B0C-B993-DAF4E2EC7C01}"/>
              </a:ext>
            </a:extLst>
          </p:cNvPr>
          <p:cNvSpPr>
            <a:spLocks xmlns:a="http://schemas.openxmlformats.org/drawingml/2006/main" noGrp="1"/>
          </p:cNvSpPr>
          <p:nvPr/>
        </p:nvSpPr>
        <p:spPr>
          <a:xfrm xmlns:a="http://schemas.openxmlformats.org/drawingml/2006/main">
            <a:off x="3190875" y="4972050"/>
            <a:ext cx="16573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i="0">
                <a:solidFill>
                  <a:srgbClr val="5F6D80"/>
                </a:solidFill>
              </a:defRPr>
            </a:pPr>
            <a:r>
              <a:rPr sz="900" b="0" i="0">
                <a:solidFill>
                  <a:srgbClr val="5F6D80"/>
                </a:solidFill>
              </a:rPr>
              <a:t>Outcome confirmed</a:t>
            </a:r>
          </a:p>
        </p:txBody>
      </p:sp>
      <p:sp>
        <p:nvSpPr>
          <p:cNvPr id="20" name="">
            <a:extLst xmlns:a="http://schemas.openxmlformats.org/drawingml/2006/main">
              <a:ext uri="{FF2B5EF4-FFF2-40B4-BE49-F238E27FC236}">
                <a16:creationId xmlns:a16="http://schemas.microsoft.com/office/drawing/2014/main" id="{D6B8C160-FA7B-486F-A6CB-25F076AD2060}"/>
              </a:ext>
            </a:extLst>
          </p:cNvPr>
          <p:cNvSpPr>
            <a:spLocks xmlns:a="http://schemas.openxmlformats.org/drawingml/2006/main" noGrp="1"/>
          </p:cNvSpPr>
          <p:nvPr/>
        </p:nvSpPr>
        <p:spPr>
          <a:xfrm xmlns:a="http://schemas.openxmlformats.org/drawingml/2006/main">
            <a:off x="5334000" y="3590925"/>
            <a:ext cx="2076450" cy="1905000"/>
          </a:xfrm>
          <a:prstGeom xmlns:a="http://schemas.openxmlformats.org/drawingml/2006/main" prst="roundRect">
            <a:avLst>
              <a:gd name="adj" fmla="val 6000"/>
            </a:avLst>
          </a:prstGeom>
          <a:solidFill xmlns:a="http://schemas.openxmlformats.org/drawingml/2006/main">
            <a:srgbClr val="EEE9FF"/>
          </a:solidFill>
          <a:ln xmlns:a="http://schemas.openxmlformats.org/drawingml/2006/main" w="9525">
            <a:solidFill>
              <a:srgbClr val="EEE9FF"/>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1" name="">
            <a:extLst xmlns:a="http://schemas.openxmlformats.org/drawingml/2006/main">
              <a:ext uri="{FF2B5EF4-FFF2-40B4-BE49-F238E27FC236}">
                <a16:creationId xmlns:a16="http://schemas.microsoft.com/office/drawing/2014/main" id="{6E7E0156-60D5-4AF8-A4AF-CCD66EE6DAC3}"/>
              </a:ext>
            </a:extLst>
          </p:cNvPr>
          <p:cNvSpPr>
            <a:spLocks xmlns:a="http://schemas.openxmlformats.org/drawingml/2006/main" noGrp="1"/>
          </p:cNvSpPr>
          <p:nvPr/>
        </p:nvSpPr>
        <p:spPr>
          <a:xfrm xmlns:a="http://schemas.openxmlformats.org/drawingml/2006/main">
            <a:off x="5495925" y="3800475"/>
            <a:ext cx="1666875"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75" b="1" i="0">
                <a:solidFill>
                  <a:srgbClr val="7B61D4"/>
                </a:solidFill>
              </a:defRPr>
            </a:pPr>
            <a:r>
              <a:rPr sz="675" b="1" i="0">
                <a:solidFill>
                  <a:srgbClr val="7B61D4"/>
                </a:solidFill>
              </a:rPr>
              <a:t>CLINIC / INSURER</a:t>
            </a:r>
          </a:p>
        </p:txBody>
      </p:sp>
      <p:sp>
        <p:nvSpPr>
          <p:cNvPr id="22" name="">
            <a:extLst xmlns:a="http://schemas.openxmlformats.org/drawingml/2006/main">
              <a:ext uri="{FF2B5EF4-FFF2-40B4-BE49-F238E27FC236}">
                <a16:creationId xmlns:a16="http://schemas.microsoft.com/office/drawing/2014/main" id="{C6965C97-065B-4296-8A9C-6C396F68490C}"/>
              </a:ext>
            </a:extLst>
          </p:cNvPr>
          <p:cNvSpPr>
            <a:spLocks xmlns:a="http://schemas.openxmlformats.org/drawingml/2006/main" noGrp="1"/>
          </p:cNvSpPr>
          <p:nvPr/>
        </p:nvSpPr>
        <p:spPr>
          <a:xfrm xmlns:a="http://schemas.openxmlformats.org/drawingml/2006/main">
            <a:off x="5495925" y="4171950"/>
            <a:ext cx="16668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i="0">
                <a:solidFill>
                  <a:srgbClr val="0B1F33"/>
                </a:solidFill>
              </a:defRPr>
            </a:pPr>
            <a:r>
              <a:rPr sz="1350" b="1" i="0">
                <a:solidFill>
                  <a:srgbClr val="0B1F33"/>
                </a:solidFill>
              </a:rPr>
              <a:t>PA submitted</a:t>
            </a:r>
          </a:p>
        </p:txBody>
      </p:sp>
      <p:sp>
        <p:nvSpPr>
          <p:cNvPr id="23" name="">
            <a:extLst xmlns:a="http://schemas.openxmlformats.org/drawingml/2006/main">
              <a:ext uri="{FF2B5EF4-FFF2-40B4-BE49-F238E27FC236}">
                <a16:creationId xmlns:a16="http://schemas.microsoft.com/office/drawing/2014/main" id="{4B7FD396-7605-4B2C-90FF-129D8B417F43}"/>
              </a:ext>
            </a:extLst>
          </p:cNvPr>
          <p:cNvSpPr>
            <a:spLocks xmlns:a="http://schemas.openxmlformats.org/drawingml/2006/main" noGrp="1"/>
          </p:cNvSpPr>
          <p:nvPr/>
        </p:nvSpPr>
        <p:spPr>
          <a:xfrm xmlns:a="http://schemas.openxmlformats.org/drawingml/2006/main">
            <a:off x="5495925" y="4772025"/>
            <a:ext cx="1714500" cy="9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24" name="">
            <a:extLst xmlns:a="http://schemas.openxmlformats.org/drawingml/2006/main">
              <a:ext uri="{FF2B5EF4-FFF2-40B4-BE49-F238E27FC236}">
                <a16:creationId xmlns:a16="http://schemas.microsoft.com/office/drawing/2014/main" id="{70572007-FE70-4960-86EE-155E8FBE3B5D}"/>
              </a:ext>
            </a:extLst>
          </p:cNvPr>
          <p:cNvSpPr>
            <a:spLocks xmlns:a="http://schemas.openxmlformats.org/drawingml/2006/main" noGrp="1"/>
          </p:cNvSpPr>
          <p:nvPr/>
        </p:nvSpPr>
        <p:spPr>
          <a:xfrm xmlns:a="http://schemas.openxmlformats.org/drawingml/2006/main">
            <a:off x="5495925" y="4972050"/>
            <a:ext cx="16573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i="0">
                <a:solidFill>
                  <a:srgbClr val="5F6D80"/>
                </a:solidFill>
              </a:defRPr>
            </a:pPr>
            <a:r>
              <a:rPr sz="900" b="0" i="0">
                <a:solidFill>
                  <a:srgbClr val="5F6D80"/>
                </a:solidFill>
              </a:rPr>
              <a:t>Follow-up recorded</a:t>
            </a:r>
          </a:p>
        </p:txBody>
      </p:sp>
      <p:sp>
        <p:nvSpPr>
          <p:cNvPr id="25" name="">
            <a:extLst xmlns:a="http://schemas.openxmlformats.org/drawingml/2006/main">
              <a:ext uri="{FF2B5EF4-FFF2-40B4-BE49-F238E27FC236}">
                <a16:creationId xmlns:a16="http://schemas.microsoft.com/office/drawing/2014/main" id="{01F3A974-3EAB-4D58-8148-4F75353B5B8A}"/>
              </a:ext>
            </a:extLst>
          </p:cNvPr>
          <p:cNvSpPr>
            <a:spLocks xmlns:a="http://schemas.openxmlformats.org/drawingml/2006/main" noGrp="1"/>
          </p:cNvSpPr>
          <p:nvPr/>
        </p:nvSpPr>
        <p:spPr>
          <a:xfrm xmlns:a="http://schemas.openxmlformats.org/drawingml/2006/main">
            <a:off x="8029575" y="3590925"/>
            <a:ext cx="3343275" cy="1905000"/>
          </a:xfrm>
          <a:prstGeom xmlns:a="http://schemas.openxmlformats.org/drawingml/2006/main" prst="roundRect">
            <a:avLst>
              <a:gd name="adj" fmla="val 6000"/>
            </a:avLst>
          </a:prstGeom>
          <a:solidFill xmlns:a="http://schemas.openxmlformats.org/drawingml/2006/main">
            <a:srgbClr val="071A2B"/>
          </a:solidFill>
          <a:ln xmlns:a="http://schemas.openxmlformats.org/drawingml/2006/main" w="9525">
            <a:solidFill>
              <a:srgbClr val="071A2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6" name="">
            <a:extLst xmlns:a="http://schemas.openxmlformats.org/drawingml/2006/main">
              <a:ext uri="{FF2B5EF4-FFF2-40B4-BE49-F238E27FC236}">
                <a16:creationId xmlns:a16="http://schemas.microsoft.com/office/drawing/2014/main" id="{E6A34DB5-28FE-4BDD-94BE-C42A86EA7CFA}"/>
              </a:ext>
            </a:extLst>
          </p:cNvPr>
          <p:cNvSpPr>
            <a:spLocks xmlns:a="http://schemas.openxmlformats.org/drawingml/2006/main" noGrp="1"/>
          </p:cNvSpPr>
          <p:nvPr/>
        </p:nvSpPr>
        <p:spPr>
          <a:xfrm xmlns:a="http://schemas.openxmlformats.org/drawingml/2006/main">
            <a:off x="8258175" y="3810000"/>
            <a:ext cx="2619375"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75" b="1" i="0">
                <a:solidFill>
                  <a:srgbClr val="91A9BC"/>
                </a:solidFill>
              </a:defRPr>
            </a:pPr>
            <a:r>
              <a:rPr sz="675" b="1" i="0">
                <a:solidFill>
                  <a:srgbClr val="91A9BC"/>
                </a:solidFill>
              </a:rPr>
              <a:t>DETERMINISTIC CLOSE GATE</a:t>
            </a:r>
          </a:p>
        </p:txBody>
      </p:sp>
      <p:sp>
        <p:nvSpPr>
          <p:cNvPr id="27" name="">
            <a:extLst xmlns:a="http://schemas.openxmlformats.org/drawingml/2006/main">
              <a:ext uri="{FF2B5EF4-FFF2-40B4-BE49-F238E27FC236}">
                <a16:creationId xmlns:a16="http://schemas.microsoft.com/office/drawing/2014/main" id="{66F8D6A7-D76A-401D-88BD-E35C0D949A09}"/>
              </a:ext>
            </a:extLst>
          </p:cNvPr>
          <p:cNvSpPr>
            <a:spLocks xmlns:a="http://schemas.openxmlformats.org/drawingml/2006/main" noGrp="1"/>
          </p:cNvSpPr>
          <p:nvPr/>
        </p:nvSpPr>
        <p:spPr>
          <a:xfrm xmlns:a="http://schemas.openxmlformats.org/drawingml/2006/main">
            <a:off x="8258175" y="4229100"/>
            <a:ext cx="161925" cy="161925"/>
          </a:xfrm>
          <a:prstGeom xmlns:a="http://schemas.openxmlformats.org/drawingml/2006/main" prst="ellipse">
            <a:avLst/>
          </a:prstGeom>
          <a:solidFill xmlns:a="http://schemas.openxmlformats.org/drawingml/2006/main">
            <a:srgbClr val="0E9F8E"/>
          </a:solidFill>
          <a:ln xmlns:a="http://schemas.openxmlformats.org/drawingml/2006/main" w="0">
            <a:solidFill>
              <a:srgbClr val="0E9F8E"/>
            </a:solidFill>
            <a:prstDash val="solid"/>
          </a:ln>
        </p:spPr>
      </p:sp>
      <p:sp>
        <p:nvSpPr>
          <p:cNvPr id="28" name="">
            <a:extLst xmlns:a="http://schemas.openxmlformats.org/drawingml/2006/main">
              <a:ext uri="{FF2B5EF4-FFF2-40B4-BE49-F238E27FC236}">
                <a16:creationId xmlns:a16="http://schemas.microsoft.com/office/drawing/2014/main" id="{CA1765EF-40BB-4196-8630-D519952590AD}"/>
              </a:ext>
            </a:extLst>
          </p:cNvPr>
          <p:cNvSpPr>
            <a:spLocks xmlns:a="http://schemas.openxmlformats.org/drawingml/2006/main" noGrp="1"/>
          </p:cNvSpPr>
          <p:nvPr/>
        </p:nvSpPr>
        <p:spPr>
          <a:xfrm xmlns:a="http://schemas.openxmlformats.org/drawingml/2006/main">
            <a:off x="8286750" y="4248150"/>
            <a:ext cx="104775"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675" b="1" i="0">
                <a:solidFill>
                  <a:srgbClr val="FFFFFF"/>
                </a:solidFill>
              </a:defRPr>
            </a:pPr>
            <a:r>
              <a:rPr sz="675" b="1" i="0">
                <a:solidFill>
                  <a:srgbClr val="FFFFFF"/>
                </a:solidFill>
              </a:rPr>
              <a:t>✓</a:t>
            </a:r>
          </a:p>
        </p:txBody>
      </p:sp>
      <p:sp>
        <p:nvSpPr>
          <p:cNvPr id="29" name="">
            <a:extLst xmlns:a="http://schemas.openxmlformats.org/drawingml/2006/main">
              <a:ext uri="{FF2B5EF4-FFF2-40B4-BE49-F238E27FC236}">
                <a16:creationId xmlns:a16="http://schemas.microsoft.com/office/drawing/2014/main" id="{CD78A38C-A768-4332-9209-B730C1D583CD}"/>
              </a:ext>
            </a:extLst>
          </p:cNvPr>
          <p:cNvSpPr>
            <a:spLocks xmlns:a="http://schemas.openxmlformats.org/drawingml/2006/main" noGrp="1"/>
          </p:cNvSpPr>
          <p:nvPr/>
        </p:nvSpPr>
        <p:spPr>
          <a:xfrm xmlns:a="http://schemas.openxmlformats.org/drawingml/2006/main">
            <a:off x="8486775" y="4248150"/>
            <a:ext cx="1000125"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25" b="1" i="0">
                <a:solidFill>
                  <a:srgbClr val="FFFFFF"/>
                </a:solidFill>
              </a:defRPr>
            </a:pPr>
            <a:r>
              <a:rPr sz="825" b="1" i="0">
                <a:solidFill>
                  <a:srgbClr val="FFFFFF"/>
                </a:solidFill>
              </a:rPr>
              <a:t>Consent</a:t>
            </a:r>
          </a:p>
        </p:txBody>
      </p:sp>
      <p:sp>
        <p:nvSpPr>
          <p:cNvPr id="30" name="">
            <a:extLst xmlns:a="http://schemas.openxmlformats.org/drawingml/2006/main">
              <a:ext uri="{FF2B5EF4-FFF2-40B4-BE49-F238E27FC236}">
                <a16:creationId xmlns:a16="http://schemas.microsoft.com/office/drawing/2014/main" id="{8A47A79F-C8CD-461A-B002-CA634760DEDF}"/>
              </a:ext>
            </a:extLst>
          </p:cNvPr>
          <p:cNvSpPr>
            <a:spLocks xmlns:a="http://schemas.openxmlformats.org/drawingml/2006/main" noGrp="1"/>
          </p:cNvSpPr>
          <p:nvPr/>
        </p:nvSpPr>
        <p:spPr>
          <a:xfrm xmlns:a="http://schemas.openxmlformats.org/drawingml/2006/main">
            <a:off x="8258175" y="4695825"/>
            <a:ext cx="161925" cy="161925"/>
          </a:xfrm>
          <a:prstGeom xmlns:a="http://schemas.openxmlformats.org/drawingml/2006/main" prst="ellipse">
            <a:avLst/>
          </a:prstGeom>
          <a:solidFill xmlns:a="http://schemas.openxmlformats.org/drawingml/2006/main">
            <a:srgbClr val="0E9F8E"/>
          </a:solidFill>
          <a:ln xmlns:a="http://schemas.openxmlformats.org/drawingml/2006/main" w="0">
            <a:solidFill>
              <a:srgbClr val="0E9F8E"/>
            </a:solidFill>
            <a:prstDash val="solid"/>
          </a:ln>
        </p:spPr>
      </p:sp>
      <p:sp>
        <p:nvSpPr>
          <p:cNvPr id="31" name="">
            <a:extLst xmlns:a="http://schemas.openxmlformats.org/drawingml/2006/main">
              <a:ext uri="{FF2B5EF4-FFF2-40B4-BE49-F238E27FC236}">
                <a16:creationId xmlns:a16="http://schemas.microsoft.com/office/drawing/2014/main" id="{F3BDC1D4-AC68-4C9D-9906-1981525C2F2D}"/>
              </a:ext>
            </a:extLst>
          </p:cNvPr>
          <p:cNvSpPr>
            <a:spLocks xmlns:a="http://schemas.openxmlformats.org/drawingml/2006/main" noGrp="1"/>
          </p:cNvSpPr>
          <p:nvPr/>
        </p:nvSpPr>
        <p:spPr>
          <a:xfrm xmlns:a="http://schemas.openxmlformats.org/drawingml/2006/main">
            <a:off x="8286750" y="4714875"/>
            <a:ext cx="104775"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675" b="1" i="0">
                <a:solidFill>
                  <a:srgbClr val="FFFFFF"/>
                </a:solidFill>
              </a:defRPr>
            </a:pPr>
            <a:r>
              <a:rPr sz="675" b="1" i="0">
                <a:solidFill>
                  <a:srgbClr val="FFFFFF"/>
                </a:solidFill>
              </a:rPr>
              <a:t>✓</a:t>
            </a:r>
          </a:p>
        </p:txBody>
      </p:sp>
      <p:sp>
        <p:nvSpPr>
          <p:cNvPr id="32" name="">
            <a:extLst xmlns:a="http://schemas.openxmlformats.org/drawingml/2006/main">
              <a:ext uri="{FF2B5EF4-FFF2-40B4-BE49-F238E27FC236}">
                <a16:creationId xmlns:a16="http://schemas.microsoft.com/office/drawing/2014/main" id="{9D55A071-96E4-4C69-A4F7-77BE2F4165A6}"/>
              </a:ext>
            </a:extLst>
          </p:cNvPr>
          <p:cNvSpPr>
            <a:spLocks xmlns:a="http://schemas.openxmlformats.org/drawingml/2006/main" noGrp="1"/>
          </p:cNvSpPr>
          <p:nvPr/>
        </p:nvSpPr>
        <p:spPr>
          <a:xfrm xmlns:a="http://schemas.openxmlformats.org/drawingml/2006/main">
            <a:off x="8486775" y="4714875"/>
            <a:ext cx="1000125"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25" b="1" i="0">
                <a:solidFill>
                  <a:srgbClr val="FFFFFF"/>
                </a:solidFill>
              </a:defRPr>
            </a:pPr>
            <a:r>
              <a:rPr sz="825" b="1" i="0">
                <a:solidFill>
                  <a:srgbClr val="FFFFFF"/>
                </a:solidFill>
              </a:rPr>
              <a:t>Action</a:t>
            </a:r>
          </a:p>
        </p:txBody>
      </p:sp>
      <p:sp>
        <p:nvSpPr>
          <p:cNvPr id="33" name="">
            <a:extLst xmlns:a="http://schemas.openxmlformats.org/drawingml/2006/main">
              <a:ext uri="{FF2B5EF4-FFF2-40B4-BE49-F238E27FC236}">
                <a16:creationId xmlns:a16="http://schemas.microsoft.com/office/drawing/2014/main" id="{017470E2-C4C9-4C9E-BA41-3EB739CBB626}"/>
              </a:ext>
            </a:extLst>
          </p:cNvPr>
          <p:cNvSpPr>
            <a:spLocks xmlns:a="http://schemas.openxmlformats.org/drawingml/2006/main" noGrp="1"/>
          </p:cNvSpPr>
          <p:nvPr/>
        </p:nvSpPr>
        <p:spPr>
          <a:xfrm xmlns:a="http://schemas.openxmlformats.org/drawingml/2006/main">
            <a:off x="9705975" y="4229100"/>
            <a:ext cx="161925" cy="161925"/>
          </a:xfrm>
          <a:prstGeom xmlns:a="http://schemas.openxmlformats.org/drawingml/2006/main" prst="ellipse">
            <a:avLst/>
          </a:prstGeom>
          <a:solidFill xmlns:a="http://schemas.openxmlformats.org/drawingml/2006/main">
            <a:srgbClr val="0E9F8E"/>
          </a:solidFill>
          <a:ln xmlns:a="http://schemas.openxmlformats.org/drawingml/2006/main" w="0">
            <a:solidFill>
              <a:srgbClr val="0E9F8E"/>
            </a:solidFill>
            <a:prstDash val="solid"/>
          </a:ln>
        </p:spPr>
      </p:sp>
      <p:sp>
        <p:nvSpPr>
          <p:cNvPr id="34" name="">
            <a:extLst xmlns:a="http://schemas.openxmlformats.org/drawingml/2006/main">
              <a:ext uri="{FF2B5EF4-FFF2-40B4-BE49-F238E27FC236}">
                <a16:creationId xmlns:a16="http://schemas.microsoft.com/office/drawing/2014/main" id="{889663F9-D553-4A86-9D7B-E84CE690ED67}"/>
              </a:ext>
            </a:extLst>
          </p:cNvPr>
          <p:cNvSpPr>
            <a:spLocks xmlns:a="http://schemas.openxmlformats.org/drawingml/2006/main" noGrp="1"/>
          </p:cNvSpPr>
          <p:nvPr/>
        </p:nvSpPr>
        <p:spPr>
          <a:xfrm xmlns:a="http://schemas.openxmlformats.org/drawingml/2006/main">
            <a:off x="9734550" y="4248150"/>
            <a:ext cx="104775"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675" b="1" i="0">
                <a:solidFill>
                  <a:srgbClr val="FFFFFF"/>
                </a:solidFill>
              </a:defRPr>
            </a:pPr>
            <a:r>
              <a:rPr sz="675" b="1" i="0">
                <a:solidFill>
                  <a:srgbClr val="FFFFFF"/>
                </a:solidFill>
              </a:rPr>
              <a:t>✓</a:t>
            </a:r>
          </a:p>
        </p:txBody>
      </p:sp>
      <p:sp>
        <p:nvSpPr>
          <p:cNvPr id="35" name="">
            <a:extLst xmlns:a="http://schemas.openxmlformats.org/drawingml/2006/main">
              <a:ext uri="{FF2B5EF4-FFF2-40B4-BE49-F238E27FC236}">
                <a16:creationId xmlns:a16="http://schemas.microsoft.com/office/drawing/2014/main" id="{DC820159-CC53-4B89-93F5-1404C5474FB9}"/>
              </a:ext>
            </a:extLst>
          </p:cNvPr>
          <p:cNvSpPr>
            <a:spLocks xmlns:a="http://schemas.openxmlformats.org/drawingml/2006/main" noGrp="1"/>
          </p:cNvSpPr>
          <p:nvPr/>
        </p:nvSpPr>
        <p:spPr>
          <a:xfrm xmlns:a="http://schemas.openxmlformats.org/drawingml/2006/main">
            <a:off x="9934575" y="4248150"/>
            <a:ext cx="1000125"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25" b="1" i="0">
                <a:solidFill>
                  <a:srgbClr val="FFFFFF"/>
                </a:solidFill>
              </a:defRPr>
            </a:pPr>
            <a:r>
              <a:rPr sz="825" b="1" i="0">
                <a:solidFill>
                  <a:srgbClr val="FFFFFF"/>
                </a:solidFill>
              </a:rPr>
              <a:t>Outcome</a:t>
            </a:r>
          </a:p>
        </p:txBody>
      </p:sp>
      <p:sp>
        <p:nvSpPr>
          <p:cNvPr id="36" name="">
            <a:extLst xmlns:a="http://schemas.openxmlformats.org/drawingml/2006/main">
              <a:ext uri="{FF2B5EF4-FFF2-40B4-BE49-F238E27FC236}">
                <a16:creationId xmlns:a16="http://schemas.microsoft.com/office/drawing/2014/main" id="{5B20FD49-BDEC-4031-996C-5911F9CD3AA9}"/>
              </a:ext>
            </a:extLst>
          </p:cNvPr>
          <p:cNvSpPr>
            <a:spLocks xmlns:a="http://schemas.openxmlformats.org/drawingml/2006/main" noGrp="1"/>
          </p:cNvSpPr>
          <p:nvPr/>
        </p:nvSpPr>
        <p:spPr>
          <a:xfrm xmlns:a="http://schemas.openxmlformats.org/drawingml/2006/main">
            <a:off x="9705975" y="4695825"/>
            <a:ext cx="161925" cy="161925"/>
          </a:xfrm>
          <a:prstGeom xmlns:a="http://schemas.openxmlformats.org/drawingml/2006/main" prst="ellipse">
            <a:avLst/>
          </a:prstGeom>
          <a:solidFill xmlns:a="http://schemas.openxmlformats.org/drawingml/2006/main">
            <a:srgbClr val="0E9F8E"/>
          </a:solidFill>
          <a:ln xmlns:a="http://schemas.openxmlformats.org/drawingml/2006/main" w="0">
            <a:solidFill>
              <a:srgbClr val="0E9F8E"/>
            </a:solidFill>
            <a:prstDash val="solid"/>
          </a:ln>
        </p:spPr>
      </p:sp>
      <p:sp>
        <p:nvSpPr>
          <p:cNvPr id="37" name="">
            <a:extLst xmlns:a="http://schemas.openxmlformats.org/drawingml/2006/main">
              <a:ext uri="{FF2B5EF4-FFF2-40B4-BE49-F238E27FC236}">
                <a16:creationId xmlns:a16="http://schemas.microsoft.com/office/drawing/2014/main" id="{70CA4A6D-A29C-417E-99FF-535DB665BE27}"/>
              </a:ext>
            </a:extLst>
          </p:cNvPr>
          <p:cNvSpPr>
            <a:spLocks xmlns:a="http://schemas.openxmlformats.org/drawingml/2006/main" noGrp="1"/>
          </p:cNvSpPr>
          <p:nvPr/>
        </p:nvSpPr>
        <p:spPr>
          <a:xfrm xmlns:a="http://schemas.openxmlformats.org/drawingml/2006/main">
            <a:off x="9734550" y="4714875"/>
            <a:ext cx="104775"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675" b="1" i="0">
                <a:solidFill>
                  <a:srgbClr val="FFFFFF"/>
                </a:solidFill>
              </a:defRPr>
            </a:pPr>
            <a:r>
              <a:rPr sz="675" b="1" i="0">
                <a:solidFill>
                  <a:srgbClr val="FFFFFF"/>
                </a:solidFill>
              </a:rPr>
              <a:t>✓</a:t>
            </a:r>
          </a:p>
        </p:txBody>
      </p:sp>
      <p:sp>
        <p:nvSpPr>
          <p:cNvPr id="38" name="">
            <a:extLst xmlns:a="http://schemas.openxmlformats.org/drawingml/2006/main">
              <a:ext uri="{FF2B5EF4-FFF2-40B4-BE49-F238E27FC236}">
                <a16:creationId xmlns:a16="http://schemas.microsoft.com/office/drawing/2014/main" id="{909DBFE4-0848-4BB0-84DD-95961A427438}"/>
              </a:ext>
            </a:extLst>
          </p:cNvPr>
          <p:cNvSpPr>
            <a:spLocks xmlns:a="http://schemas.openxmlformats.org/drawingml/2006/main" noGrp="1"/>
          </p:cNvSpPr>
          <p:nvPr/>
        </p:nvSpPr>
        <p:spPr>
          <a:xfrm xmlns:a="http://schemas.openxmlformats.org/drawingml/2006/main">
            <a:off x="9934575" y="4714875"/>
            <a:ext cx="1000125"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25" b="1" i="0">
                <a:solidFill>
                  <a:srgbClr val="FFFFFF"/>
                </a:solidFill>
              </a:defRPr>
            </a:pPr>
            <a:r>
              <a:rPr sz="825" b="1" i="0">
                <a:solidFill>
                  <a:srgbClr val="FFFFFF"/>
                </a:solidFill>
              </a:rPr>
              <a:t>Notification</a:t>
            </a:r>
          </a:p>
        </p:txBody>
      </p:sp>
      <p:sp>
        <p:nvSpPr>
          <p:cNvPr id="39" name="">
            <a:extLst xmlns:a="http://schemas.openxmlformats.org/drawingml/2006/main">
              <a:ext uri="{FF2B5EF4-FFF2-40B4-BE49-F238E27FC236}">
                <a16:creationId xmlns:a16="http://schemas.microsoft.com/office/drawing/2014/main" id="{7F20F8BF-E12A-4507-AC26-D6ECBD3CD06F}"/>
              </a:ext>
            </a:extLst>
          </p:cNvPr>
          <p:cNvSpPr>
            <a:spLocks xmlns:a="http://schemas.openxmlformats.org/drawingml/2006/main" noGrp="1"/>
          </p:cNvSpPr>
          <p:nvPr/>
        </p:nvSpPr>
        <p:spPr>
          <a:xfrm xmlns:a="http://schemas.openxmlformats.org/drawingml/2006/main">
            <a:off x="457200" y="6457950"/>
            <a:ext cx="85725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75" b="0" i="0">
                <a:solidFill>
                  <a:srgbClr val="8090A1"/>
                </a:solidFill>
              </a:defRPr>
            </a:pPr>
            <a:r>
              <a:rPr sz="675" b="0" i="0">
                <a:solidFill>
                  <a:srgbClr val="8090A1"/>
                </a:solidFill>
              </a:rPr>
              <a:t>The product language is intentionally evidence-centric: record, confirm, notify, prove.</a:t>
            </a:r>
          </a:p>
        </p:txBody>
      </p:sp>
      <p:sp>
        <p:nvSpPr>
          <p:cNvPr id="40" name="">
            <a:extLst xmlns:a="http://schemas.openxmlformats.org/drawingml/2006/main">
              <a:ext uri="{FF2B5EF4-FFF2-40B4-BE49-F238E27FC236}">
                <a16:creationId xmlns:a16="http://schemas.microsoft.com/office/drawing/2014/main" id="{FEE785A7-CEAD-440C-A3FA-DC675F53B830}"/>
              </a:ext>
            </a:extLst>
          </p:cNvPr>
          <p:cNvSpPr>
            <a:spLocks xmlns:a="http://schemas.openxmlformats.org/drawingml/2006/main" noGrp="1"/>
          </p:cNvSpPr>
          <p:nvPr/>
        </p:nvSpPr>
        <p:spPr>
          <a:xfrm xmlns:a="http://schemas.openxmlformats.org/drawingml/2006/main">
            <a:off x="8382000" y="6457950"/>
            <a:ext cx="3352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675" b="0" i="0">
                <a:solidFill>
                  <a:srgbClr val="8090A1"/>
                </a:solidFill>
              </a:defRPr>
            </a:pPr>
            <a:r>
              <a:rPr sz="675" b="0" i="0">
                <a:solidFill>
                  <a:srgbClr val="8090A1"/>
                </a:solidFill>
              </a:rPr>
              <a:t>A1MOBILE VOICE AI HACKATHON · 2026</a:t>
            </a:r>
          </a:p>
        </p:txBody>
      </p:sp>
    </p:spTree>
    <p:extLst>
      <p:ext uri="{BB962C8B-B14F-4D97-AF65-F5344CB8AC3E}">
        <p14:creationId xmlns:p14="http://schemas.microsoft.com/office/powerpoint/2010/main" val="892513421"/>
      </p:ext>
    </p:extLst>
  </p:cSld>
</p:sld>
</file>

<file path=ppt/slides/slide7.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A9B8ABF-A92F-4DD6-B60F-51FDD3BE9197}"/>
              </a:ext>
            </a:extLst>
          </p:cNvPr>
          <p:cNvSpPr>
            <a:spLocks xmlns:a="http://schemas.openxmlformats.org/drawingml/2006/main" noGrp="1"/>
          </p:cNvSpPr>
          <p:nvPr/>
        </p:nvSpPr>
        <p:spPr>
          <a:xfrm xmlns:a="http://schemas.openxmlformats.org/drawingml/2006/main">
            <a:off x="457200" y="314325"/>
            <a:ext cx="590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750" b="1" i="0">
                <a:solidFill>
                  <a:srgbClr val="A8BACB"/>
                </a:solidFill>
              </a:defRPr>
            </a:pPr>
            <a:r>
              <a:rPr sz="750" b="1" i="0">
                <a:solidFill>
                  <a:srgbClr val="A8BACB"/>
                </a:solidFill>
              </a:rPr>
              <a:t>WHY PAVO</a:t>
            </a:r>
          </a:p>
        </p:txBody>
      </p:sp>
      <p:sp>
        <p:nvSpPr>
          <p:cNvPr id="2" name="">
            <a:extLst xmlns:a="http://schemas.openxmlformats.org/drawingml/2006/main">
              <a:ext uri="{FF2B5EF4-FFF2-40B4-BE49-F238E27FC236}">
                <a16:creationId xmlns:a16="http://schemas.microsoft.com/office/drawing/2014/main" id="{0BD8E5BC-3324-425C-B466-5AC51FDAA7E5}"/>
              </a:ext>
            </a:extLst>
          </p:cNvPr>
          <p:cNvSpPr>
            <a:spLocks xmlns:a="http://schemas.openxmlformats.org/drawingml/2006/main" noGrp="1"/>
          </p:cNvSpPr>
          <p:nvPr/>
        </p:nvSpPr>
        <p:spPr>
          <a:xfrm xmlns:a="http://schemas.openxmlformats.org/drawingml/2006/main">
            <a:off x="9639300" y="314325"/>
            <a:ext cx="209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750" b="1" i="0">
                <a:solidFill>
                  <a:srgbClr val="A8BACB"/>
                </a:solidFill>
              </a:defRPr>
            </a:pPr>
            <a:r>
              <a:rPr sz="750" b="1" i="0">
                <a:solidFill>
                  <a:srgbClr val="A8BACB"/>
                </a:solidFill>
              </a:rPr>
              <a:t>RXRELAY  /  07</a:t>
            </a:r>
          </a:p>
        </p:txBody>
      </p:sp>
      <p:sp>
        <p:nvSpPr>
          <p:cNvPr id="3" name="">
            <a:extLst xmlns:a="http://schemas.openxmlformats.org/drawingml/2006/main">
              <a:ext uri="{FF2B5EF4-FFF2-40B4-BE49-F238E27FC236}">
                <a16:creationId xmlns:a16="http://schemas.microsoft.com/office/drawing/2014/main" id="{C3A66C7D-13DC-4DE4-B5C4-5AF8E4A6CF06}"/>
              </a:ext>
            </a:extLst>
          </p:cNvPr>
          <p:cNvSpPr>
            <a:spLocks xmlns:a="http://schemas.openxmlformats.org/drawingml/2006/main" noGrp="1"/>
          </p:cNvSpPr>
          <p:nvPr/>
        </p:nvSpPr>
        <p:spPr>
          <a:xfrm xmlns:a="http://schemas.openxmlformats.org/drawingml/2006/main">
            <a:off x="457200" y="552450"/>
            <a:ext cx="11277600" cy="9525"/>
          </a:xfrm>
          <a:prstGeom xmlns:a="http://schemas.openxmlformats.org/drawingml/2006/main" prst="rect">
            <a:avLst/>
          </a:prstGeom>
          <a:solidFill xmlns:a="http://schemas.openxmlformats.org/drawingml/2006/main">
            <a:srgbClr val="294257"/>
          </a:solidFill>
          <a:ln xmlns:a="http://schemas.openxmlformats.org/drawingml/2006/main" w="0">
            <a:solidFill>
              <a:srgbClr val="294257"/>
            </a:solidFill>
            <a:prstDash val="solid"/>
          </a:ln>
        </p:spPr>
      </p:sp>
      <p:sp>
        <p:nvSpPr>
          <p:cNvPr id="4" name="title">
            <a:extLst xmlns:a="http://schemas.openxmlformats.org/drawingml/2006/main">
              <a:ext uri="{FF2B5EF4-FFF2-40B4-BE49-F238E27FC236}">
                <a16:creationId xmlns:a16="http://schemas.microsoft.com/office/drawing/2014/main" id="{E0F374BF-30E6-4114-ADC8-FE5234F06404}"/>
              </a:ext>
            </a:extLst>
          </p:cNvPr>
          <p:cNvSpPr>
            <a:spLocks xmlns:a="http://schemas.openxmlformats.org/drawingml/2006/main" noGrp="1"/>
          </p:cNvSpPr>
          <p:nvPr/>
        </p:nvSpPr>
        <p:spPr>
          <a:xfrm xmlns:a="http://schemas.openxmlformats.org/drawingml/2006/main">
            <a:off x="457200" y="876300"/>
            <a:ext cx="8096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750" b="1" i="0">
                <a:solidFill>
                  <a:srgbClr val="FFFFFF"/>
                </a:solidFill>
              </a:defRPr>
            </a:pPr>
            <a:r>
              <a:rPr sz="3750" b="1" i="0">
                <a:solidFill>
                  <a:srgbClr val="FFFFFF"/>
                </a:solidFill>
              </a:rPr>
              <a:t>When the audio gets risky,</a:t>
            </a:r>
          </a:p>
          <a:p xmlns:a="http://schemas.openxmlformats.org/drawingml/2006/main">
            <a:pPr algn="l">
              <a:defRPr sz="3750" b="1" i="0">
                <a:solidFill>
                  <a:srgbClr val="FFFFFF"/>
                </a:solidFill>
              </a:defRPr>
            </a:pPr>
            <a:r>
              <a:rPr sz="3750" b="1" i="0">
                <a:solidFill>
                  <a:srgbClr val="FFFFFF"/>
                </a:solidFill>
              </a:rPr>
              <a:t>upgrade the whole pipeline.</a:t>
            </a:r>
          </a:p>
        </p:txBody>
      </p:sp>
      <p:sp>
        <p:nvSpPr>
          <p:cNvPr id="5" name="subtitle">
            <a:extLst xmlns:a="http://schemas.openxmlformats.org/drawingml/2006/main">
              <a:ext uri="{FF2B5EF4-FFF2-40B4-BE49-F238E27FC236}">
                <a16:creationId xmlns:a16="http://schemas.microsoft.com/office/drawing/2014/main" id="{11CB52D2-C29B-445B-B558-1A6F01A34CA9}"/>
              </a:ext>
            </a:extLst>
          </p:cNvPr>
          <p:cNvSpPr>
            <a:spLocks xmlns:a="http://schemas.openxmlformats.org/drawingml/2006/main" noGrp="1"/>
          </p:cNvSpPr>
          <p:nvPr/>
        </p:nvSpPr>
        <p:spPr>
          <a:xfrm xmlns:a="http://schemas.openxmlformats.org/drawingml/2006/main">
            <a:off x="457200" y="1990725"/>
            <a:ext cx="7143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B7C9D9"/>
                </a:solidFill>
              </a:defRPr>
            </a:pPr>
            <a:r>
              <a:rPr sz="1350" b="0" i="0">
                <a:solidFill>
                  <a:srgbClr val="B7C9D9"/>
                </a:solidFill>
              </a:rPr>
              <a:t>A stronger LLM cannot repair a misheard authorization number.</a:t>
            </a:r>
          </a:p>
        </p:txBody>
      </p:sp>
      <p:sp>
        <p:nvSpPr>
          <p:cNvPr id="6" name="">
            <a:extLst xmlns:a="http://schemas.openxmlformats.org/drawingml/2006/main">
              <a:ext uri="{FF2B5EF4-FFF2-40B4-BE49-F238E27FC236}">
                <a16:creationId xmlns:a16="http://schemas.microsoft.com/office/drawing/2014/main" id="{3F7E77AC-5BCC-4E97-BC13-7BC047BB5BE5}"/>
              </a:ext>
            </a:extLst>
          </p:cNvPr>
          <p:cNvSpPr>
            <a:spLocks xmlns:a="http://schemas.openxmlformats.org/drawingml/2006/main" noGrp="1"/>
          </p:cNvSpPr>
          <p:nvPr/>
        </p:nvSpPr>
        <p:spPr>
          <a:xfrm xmlns:a="http://schemas.openxmlformats.org/drawingml/2006/main">
            <a:off x="457200" y="3476625"/>
            <a:ext cx="2571750" cy="1762125"/>
          </a:xfrm>
          <a:prstGeom xmlns:a="http://schemas.openxmlformats.org/drawingml/2006/main" prst="roundRect">
            <a:avLst>
              <a:gd name="adj" fmla="val 6486"/>
            </a:avLst>
          </a:prstGeom>
          <a:solidFill xmlns:a="http://schemas.openxmlformats.org/drawingml/2006/main">
            <a:srgbClr val="274A64"/>
          </a:solidFill>
          <a:ln xmlns:a="http://schemas.openxmlformats.org/drawingml/2006/main" w="9525">
            <a:solidFill>
              <a:srgbClr val="274A64"/>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9207BBE8-A611-4242-B741-2C875F481FD4}"/>
              </a:ext>
            </a:extLst>
          </p:cNvPr>
          <p:cNvSpPr>
            <a:spLocks xmlns:a="http://schemas.openxmlformats.org/drawingml/2006/main" noGrp="1"/>
          </p:cNvSpPr>
          <p:nvPr/>
        </p:nvSpPr>
        <p:spPr>
          <a:xfrm xmlns:a="http://schemas.openxmlformats.org/drawingml/2006/main">
            <a:off x="638175" y="3714750"/>
            <a:ext cx="209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25" b="1" i="0">
                <a:solidFill>
                  <a:srgbClr val="D6E3EE"/>
                </a:solidFill>
              </a:defRPr>
            </a:pPr>
            <a:r>
              <a:rPr sz="825" b="1" i="0">
                <a:solidFill>
                  <a:srgbClr val="D6E3EE"/>
                </a:solidFill>
              </a:rPr>
              <a:t>FAST</a:t>
            </a:r>
          </a:p>
        </p:txBody>
      </p:sp>
      <p:sp>
        <p:nvSpPr>
          <p:cNvPr id="8" name="">
            <a:extLst xmlns:a="http://schemas.openxmlformats.org/drawingml/2006/main">
              <a:ext uri="{FF2B5EF4-FFF2-40B4-BE49-F238E27FC236}">
                <a16:creationId xmlns:a16="http://schemas.microsoft.com/office/drawing/2014/main" id="{045B1EDA-034F-4C72-8344-B1C5B29A6EB9}"/>
              </a:ext>
            </a:extLst>
          </p:cNvPr>
          <p:cNvSpPr>
            <a:spLocks xmlns:a="http://schemas.openxmlformats.org/drawingml/2006/main" noGrp="1"/>
          </p:cNvSpPr>
          <p:nvPr/>
        </p:nvSpPr>
        <p:spPr>
          <a:xfrm xmlns:a="http://schemas.openxmlformats.org/drawingml/2006/main">
            <a:off x="638175" y="4067175"/>
            <a:ext cx="2143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i="0">
                <a:solidFill>
                  <a:srgbClr val="FFFFFF"/>
                </a:solidFill>
              </a:defRPr>
            </a:pPr>
            <a:r>
              <a:rPr sz="1275" b="1" i="0">
                <a:solidFill>
                  <a:srgbClr val="FFFFFF"/>
                </a:solidFill>
              </a:rPr>
              <a:t>Greetings / yes-no</a:t>
            </a:r>
          </a:p>
        </p:txBody>
      </p:sp>
      <p:sp>
        <p:nvSpPr>
          <p:cNvPr id="9" name="">
            <a:extLst xmlns:a="http://schemas.openxmlformats.org/drawingml/2006/main">
              <a:ext uri="{FF2B5EF4-FFF2-40B4-BE49-F238E27FC236}">
                <a16:creationId xmlns:a16="http://schemas.microsoft.com/office/drawing/2014/main" id="{88876BDE-5D13-4707-843F-87B8C00A13B4}"/>
              </a:ext>
            </a:extLst>
          </p:cNvPr>
          <p:cNvSpPr>
            <a:spLocks xmlns:a="http://schemas.openxmlformats.org/drawingml/2006/main" noGrp="1"/>
          </p:cNvSpPr>
          <p:nvPr/>
        </p:nvSpPr>
        <p:spPr>
          <a:xfrm xmlns:a="http://schemas.openxmlformats.org/drawingml/2006/main">
            <a:off x="638175" y="4629150"/>
            <a:ext cx="2095500" cy="9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10" name="">
            <a:extLst xmlns:a="http://schemas.openxmlformats.org/drawingml/2006/main">
              <a:ext uri="{FF2B5EF4-FFF2-40B4-BE49-F238E27FC236}">
                <a16:creationId xmlns:a16="http://schemas.microsoft.com/office/drawing/2014/main" id="{45E859F5-2A9E-4AD2-B77D-D80C0CEF3B82}"/>
              </a:ext>
            </a:extLst>
          </p:cNvPr>
          <p:cNvSpPr>
            <a:spLocks xmlns:a="http://schemas.openxmlformats.org/drawingml/2006/main" noGrp="1"/>
          </p:cNvSpPr>
          <p:nvPr/>
        </p:nvSpPr>
        <p:spPr>
          <a:xfrm xmlns:a="http://schemas.openxmlformats.org/drawingml/2006/main">
            <a:off x="638175" y="4829175"/>
            <a:ext cx="2133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25" b="0" i="0">
                <a:solidFill>
                  <a:srgbClr val="FFFFFF"/>
                </a:solidFill>
              </a:defRPr>
            </a:pPr>
            <a:r>
              <a:rPr sz="825" b="0" i="0">
                <a:solidFill>
                  <a:srgbClr val="FFFFFF"/>
                </a:solidFill>
              </a:rPr>
              <a:t>Fast ASR → compact reasoning</a:t>
            </a:r>
          </a:p>
        </p:txBody>
      </p:sp>
      <p:sp>
        <p:nvSpPr>
          <p:cNvPr id="11" name="">
            <a:extLst xmlns:a="http://schemas.openxmlformats.org/drawingml/2006/main">
              <a:ext uri="{FF2B5EF4-FFF2-40B4-BE49-F238E27FC236}">
                <a16:creationId xmlns:a16="http://schemas.microsoft.com/office/drawing/2014/main" id="{78E21D4C-90BD-421F-A117-77A8D68044B9}"/>
              </a:ext>
            </a:extLst>
          </p:cNvPr>
          <p:cNvSpPr>
            <a:spLocks xmlns:a="http://schemas.openxmlformats.org/drawingml/2006/main" noGrp="1"/>
          </p:cNvSpPr>
          <p:nvPr/>
        </p:nvSpPr>
        <p:spPr>
          <a:xfrm xmlns:a="http://schemas.openxmlformats.org/drawingml/2006/main">
            <a:off x="3314700" y="3476625"/>
            <a:ext cx="2571750" cy="1762125"/>
          </a:xfrm>
          <a:prstGeom xmlns:a="http://schemas.openxmlformats.org/drawingml/2006/main" prst="roundRect">
            <a:avLst>
              <a:gd name="adj" fmla="val 6486"/>
            </a:avLst>
          </a:prstGeom>
          <a:solidFill xmlns:a="http://schemas.openxmlformats.org/drawingml/2006/main">
            <a:srgbClr val="2E6075"/>
          </a:solidFill>
          <a:ln xmlns:a="http://schemas.openxmlformats.org/drawingml/2006/main" w="9525">
            <a:solidFill>
              <a:srgbClr val="2E607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2" name="">
            <a:extLst xmlns:a="http://schemas.openxmlformats.org/drawingml/2006/main">
              <a:ext uri="{FF2B5EF4-FFF2-40B4-BE49-F238E27FC236}">
                <a16:creationId xmlns:a16="http://schemas.microsoft.com/office/drawing/2014/main" id="{D1E53F5F-C0CC-4FF1-8381-7F795A27FD6E}"/>
              </a:ext>
            </a:extLst>
          </p:cNvPr>
          <p:cNvSpPr>
            <a:spLocks xmlns:a="http://schemas.openxmlformats.org/drawingml/2006/main" noGrp="1"/>
          </p:cNvSpPr>
          <p:nvPr/>
        </p:nvSpPr>
        <p:spPr>
          <a:xfrm xmlns:a="http://schemas.openxmlformats.org/drawingml/2006/main">
            <a:off x="3495675" y="3714750"/>
            <a:ext cx="209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25" b="1" i="0">
                <a:solidFill>
                  <a:srgbClr val="D6F0F2"/>
                </a:solidFill>
              </a:defRPr>
            </a:pPr>
            <a:r>
              <a:rPr sz="825" b="1" i="0">
                <a:solidFill>
                  <a:srgbClr val="D6F0F2"/>
                </a:solidFill>
              </a:rPr>
              <a:t>BALANCED</a:t>
            </a:r>
          </a:p>
        </p:txBody>
      </p:sp>
      <p:sp>
        <p:nvSpPr>
          <p:cNvPr id="13" name="">
            <a:extLst xmlns:a="http://schemas.openxmlformats.org/drawingml/2006/main">
              <a:ext uri="{FF2B5EF4-FFF2-40B4-BE49-F238E27FC236}">
                <a16:creationId xmlns:a16="http://schemas.microsoft.com/office/drawing/2014/main" id="{7D2B642C-96A1-4A20-84F1-24211EACA854}"/>
              </a:ext>
            </a:extLst>
          </p:cNvPr>
          <p:cNvSpPr>
            <a:spLocks xmlns:a="http://schemas.openxmlformats.org/drawingml/2006/main" noGrp="1"/>
          </p:cNvSpPr>
          <p:nvPr/>
        </p:nvSpPr>
        <p:spPr>
          <a:xfrm xmlns:a="http://schemas.openxmlformats.org/drawingml/2006/main">
            <a:off x="3495675" y="4067175"/>
            <a:ext cx="2143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i="0">
                <a:solidFill>
                  <a:srgbClr val="FFFFFF"/>
                </a:solidFill>
              </a:defRPr>
            </a:pPr>
            <a:r>
              <a:rPr sz="1275" b="1" i="0">
                <a:solidFill>
                  <a:srgbClr val="FFFFFF"/>
                </a:solidFill>
              </a:rPr>
              <a:t>Routine coordination</a:t>
            </a:r>
          </a:p>
        </p:txBody>
      </p:sp>
      <p:sp>
        <p:nvSpPr>
          <p:cNvPr id="14" name="">
            <a:extLst xmlns:a="http://schemas.openxmlformats.org/drawingml/2006/main">
              <a:ext uri="{FF2B5EF4-FFF2-40B4-BE49-F238E27FC236}">
                <a16:creationId xmlns:a16="http://schemas.microsoft.com/office/drawing/2014/main" id="{1EFC6319-FA42-43B6-9ACB-7A60235F5DDE}"/>
              </a:ext>
            </a:extLst>
          </p:cNvPr>
          <p:cNvSpPr>
            <a:spLocks xmlns:a="http://schemas.openxmlformats.org/drawingml/2006/main" noGrp="1"/>
          </p:cNvSpPr>
          <p:nvPr/>
        </p:nvSpPr>
        <p:spPr>
          <a:xfrm xmlns:a="http://schemas.openxmlformats.org/drawingml/2006/main">
            <a:off x="3495675" y="4629150"/>
            <a:ext cx="2095500" cy="9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15" name="">
            <a:extLst xmlns:a="http://schemas.openxmlformats.org/drawingml/2006/main">
              <a:ext uri="{FF2B5EF4-FFF2-40B4-BE49-F238E27FC236}">
                <a16:creationId xmlns:a16="http://schemas.microsoft.com/office/drawing/2014/main" id="{63FC5EC1-81BB-4CE9-BF6B-66AB91BAFC85}"/>
              </a:ext>
            </a:extLst>
          </p:cNvPr>
          <p:cNvSpPr>
            <a:spLocks xmlns:a="http://schemas.openxmlformats.org/drawingml/2006/main" noGrp="1"/>
          </p:cNvSpPr>
          <p:nvPr/>
        </p:nvSpPr>
        <p:spPr>
          <a:xfrm xmlns:a="http://schemas.openxmlformats.org/drawingml/2006/main">
            <a:off x="3495675" y="4829175"/>
            <a:ext cx="2133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25" b="0" i="0">
                <a:solidFill>
                  <a:srgbClr val="FFFFFF"/>
                </a:solidFill>
              </a:defRPr>
            </a:pPr>
            <a:r>
              <a:rPr sz="825" b="0" i="0">
                <a:solidFill>
                  <a:srgbClr val="FFFFFF"/>
                </a:solidFill>
              </a:rPr>
              <a:t>Reliable ASR → tools</a:t>
            </a:r>
          </a:p>
        </p:txBody>
      </p:sp>
      <p:sp>
        <p:nvSpPr>
          <p:cNvPr id="16" name="">
            <a:extLst xmlns:a="http://schemas.openxmlformats.org/drawingml/2006/main">
              <a:ext uri="{FF2B5EF4-FFF2-40B4-BE49-F238E27FC236}">
                <a16:creationId xmlns:a16="http://schemas.microsoft.com/office/drawing/2014/main" id="{3C8C041F-E140-4C13-B835-864221319E54}"/>
              </a:ext>
            </a:extLst>
          </p:cNvPr>
          <p:cNvSpPr>
            <a:spLocks xmlns:a="http://schemas.openxmlformats.org/drawingml/2006/main" noGrp="1"/>
          </p:cNvSpPr>
          <p:nvPr/>
        </p:nvSpPr>
        <p:spPr>
          <a:xfrm xmlns:a="http://schemas.openxmlformats.org/drawingml/2006/main">
            <a:off x="6172200" y="3476625"/>
            <a:ext cx="2571750" cy="1762125"/>
          </a:xfrm>
          <a:prstGeom xmlns:a="http://schemas.openxmlformats.org/drawingml/2006/main" prst="roundRect">
            <a:avLst>
              <a:gd name="adj" fmla="val 6486"/>
            </a:avLst>
          </a:prstGeom>
          <a:solidFill xmlns:a="http://schemas.openxmlformats.org/drawingml/2006/main">
            <a:srgbClr val="0E9F8E"/>
          </a:solidFill>
          <a:ln xmlns:a="http://schemas.openxmlformats.org/drawingml/2006/main" w="9525">
            <a:solidFill>
              <a:srgbClr val="0E9F8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7" name="">
            <a:extLst xmlns:a="http://schemas.openxmlformats.org/drawingml/2006/main">
              <a:ext uri="{FF2B5EF4-FFF2-40B4-BE49-F238E27FC236}">
                <a16:creationId xmlns:a16="http://schemas.microsoft.com/office/drawing/2014/main" id="{92C65333-4913-4FFB-B01F-64D40AF95A60}"/>
              </a:ext>
            </a:extLst>
          </p:cNvPr>
          <p:cNvSpPr>
            <a:spLocks xmlns:a="http://schemas.openxmlformats.org/drawingml/2006/main" noGrp="1"/>
          </p:cNvSpPr>
          <p:nvPr/>
        </p:nvSpPr>
        <p:spPr>
          <a:xfrm xmlns:a="http://schemas.openxmlformats.org/drawingml/2006/main">
            <a:off x="6353175" y="3714750"/>
            <a:ext cx="209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25" b="1" i="0">
                <a:solidFill>
                  <a:srgbClr val="FFFFFF"/>
                </a:solidFill>
              </a:defRPr>
            </a:pPr>
            <a:r>
              <a:rPr sz="825" b="1" i="0">
                <a:solidFill>
                  <a:srgbClr val="FFFFFF"/>
                </a:solidFill>
              </a:rPr>
              <a:t>VERIFIED</a:t>
            </a:r>
          </a:p>
        </p:txBody>
      </p:sp>
      <p:sp>
        <p:nvSpPr>
          <p:cNvPr id="18" name="">
            <a:extLst xmlns:a="http://schemas.openxmlformats.org/drawingml/2006/main">
              <a:ext uri="{FF2B5EF4-FFF2-40B4-BE49-F238E27FC236}">
                <a16:creationId xmlns:a16="http://schemas.microsoft.com/office/drawing/2014/main" id="{5D8D6C36-BDB7-4872-A1C9-AD5844DB9B61}"/>
              </a:ext>
            </a:extLst>
          </p:cNvPr>
          <p:cNvSpPr>
            <a:spLocks xmlns:a="http://schemas.openxmlformats.org/drawingml/2006/main" noGrp="1"/>
          </p:cNvSpPr>
          <p:nvPr/>
        </p:nvSpPr>
        <p:spPr>
          <a:xfrm xmlns:a="http://schemas.openxmlformats.org/drawingml/2006/main">
            <a:off x="6353175" y="4067175"/>
            <a:ext cx="2143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i="0">
                <a:solidFill>
                  <a:srgbClr val="FFFFFF"/>
                </a:solidFill>
              </a:defRPr>
            </a:pPr>
            <a:r>
              <a:rPr sz="1275" b="1" i="0">
                <a:solidFill>
                  <a:srgbClr val="FFFFFF"/>
                </a:solidFill>
              </a:rPr>
              <a:t>Names · dates · prior auth · noise</a:t>
            </a:r>
          </a:p>
        </p:txBody>
      </p:sp>
      <p:sp>
        <p:nvSpPr>
          <p:cNvPr id="19" name="">
            <a:extLst xmlns:a="http://schemas.openxmlformats.org/drawingml/2006/main">
              <a:ext uri="{FF2B5EF4-FFF2-40B4-BE49-F238E27FC236}">
                <a16:creationId xmlns:a16="http://schemas.microsoft.com/office/drawing/2014/main" id="{EA0B03E6-3D0C-415A-9C28-FEE8BA69DF0B}"/>
              </a:ext>
            </a:extLst>
          </p:cNvPr>
          <p:cNvSpPr>
            <a:spLocks xmlns:a="http://schemas.openxmlformats.org/drawingml/2006/main" noGrp="1"/>
          </p:cNvSpPr>
          <p:nvPr/>
        </p:nvSpPr>
        <p:spPr>
          <a:xfrm xmlns:a="http://schemas.openxmlformats.org/drawingml/2006/main">
            <a:off x="6353175" y="4629150"/>
            <a:ext cx="2095500" cy="9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20" name="">
            <a:extLst xmlns:a="http://schemas.openxmlformats.org/drawingml/2006/main">
              <a:ext uri="{FF2B5EF4-FFF2-40B4-BE49-F238E27FC236}">
                <a16:creationId xmlns:a16="http://schemas.microsoft.com/office/drawing/2014/main" id="{461A7168-F121-46E1-92B1-F07AEB1C008F}"/>
              </a:ext>
            </a:extLst>
          </p:cNvPr>
          <p:cNvSpPr>
            <a:spLocks xmlns:a="http://schemas.openxmlformats.org/drawingml/2006/main" noGrp="1"/>
          </p:cNvSpPr>
          <p:nvPr/>
        </p:nvSpPr>
        <p:spPr>
          <a:xfrm xmlns:a="http://schemas.openxmlformats.org/drawingml/2006/main">
            <a:off x="6353175" y="4829175"/>
            <a:ext cx="2133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25" b="0" i="0">
                <a:solidFill>
                  <a:srgbClr val="FFFFFF"/>
                </a:solidFill>
              </a:defRPr>
            </a:pPr>
            <a:r>
              <a:rPr sz="825" b="0" i="0">
                <a:solidFill>
                  <a:srgbClr val="FFFFFF"/>
                </a:solidFill>
              </a:rPr>
              <a:t>High-accuracy ASR → structured verifier</a:t>
            </a:r>
          </a:p>
        </p:txBody>
      </p:sp>
      <p:sp>
        <p:nvSpPr>
          <p:cNvPr id="21" name="">
            <a:extLst xmlns:a="http://schemas.openxmlformats.org/drawingml/2006/main">
              <a:ext uri="{FF2B5EF4-FFF2-40B4-BE49-F238E27FC236}">
                <a16:creationId xmlns:a16="http://schemas.microsoft.com/office/drawing/2014/main" id="{48B6AF19-54B4-4268-85A0-76C6D8B51887}"/>
              </a:ext>
            </a:extLst>
          </p:cNvPr>
          <p:cNvSpPr>
            <a:spLocks xmlns:a="http://schemas.openxmlformats.org/drawingml/2006/main" noGrp="1"/>
          </p:cNvSpPr>
          <p:nvPr/>
        </p:nvSpPr>
        <p:spPr>
          <a:xfrm xmlns:a="http://schemas.openxmlformats.org/drawingml/2006/main">
            <a:off x="9029700" y="3476625"/>
            <a:ext cx="2571750" cy="1762125"/>
          </a:xfrm>
          <a:prstGeom xmlns:a="http://schemas.openxmlformats.org/drawingml/2006/main" prst="roundRect">
            <a:avLst>
              <a:gd name="adj" fmla="val 6486"/>
            </a:avLst>
          </a:prstGeom>
          <a:solidFill xmlns:a="http://schemas.openxmlformats.org/drawingml/2006/main">
            <a:srgbClr val="A04C50"/>
          </a:solidFill>
          <a:ln xmlns:a="http://schemas.openxmlformats.org/drawingml/2006/main" w="9525">
            <a:solidFill>
              <a:srgbClr val="A04C50"/>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BEDC5FA4-5067-408A-8B05-EC6617D94AB6}"/>
              </a:ext>
            </a:extLst>
          </p:cNvPr>
          <p:cNvSpPr>
            <a:spLocks xmlns:a="http://schemas.openxmlformats.org/drawingml/2006/main" noGrp="1"/>
          </p:cNvSpPr>
          <p:nvPr/>
        </p:nvSpPr>
        <p:spPr>
          <a:xfrm xmlns:a="http://schemas.openxmlformats.org/drawingml/2006/main">
            <a:off x="9210675" y="3714750"/>
            <a:ext cx="209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25" b="1" i="0">
                <a:solidFill>
                  <a:srgbClr val="FFFFFF"/>
                </a:solidFill>
              </a:defRPr>
            </a:pPr>
            <a:r>
              <a:rPr sz="825" b="1" i="0">
                <a:solidFill>
                  <a:srgbClr val="FFFFFF"/>
                </a:solidFill>
              </a:rPr>
              <a:t>SAFE STOP</a:t>
            </a:r>
          </a:p>
        </p:txBody>
      </p:sp>
      <p:sp>
        <p:nvSpPr>
          <p:cNvPr id="23" name="">
            <a:extLst xmlns:a="http://schemas.openxmlformats.org/drawingml/2006/main">
              <a:ext uri="{FF2B5EF4-FFF2-40B4-BE49-F238E27FC236}">
                <a16:creationId xmlns:a16="http://schemas.microsoft.com/office/drawing/2014/main" id="{E650A6A4-48BA-4E63-953C-4E70C867C6DC}"/>
              </a:ext>
            </a:extLst>
          </p:cNvPr>
          <p:cNvSpPr>
            <a:spLocks xmlns:a="http://schemas.openxmlformats.org/drawingml/2006/main" noGrp="1"/>
          </p:cNvSpPr>
          <p:nvPr/>
        </p:nvSpPr>
        <p:spPr>
          <a:xfrm xmlns:a="http://schemas.openxmlformats.org/drawingml/2006/main">
            <a:off x="9210675" y="4067175"/>
            <a:ext cx="2143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i="0">
                <a:solidFill>
                  <a:srgbClr val="FFFFFF"/>
                </a:solidFill>
              </a:defRPr>
            </a:pPr>
            <a:r>
              <a:rPr sz="1275" b="1" i="0">
                <a:solidFill>
                  <a:srgbClr val="FFFFFF"/>
                </a:solidFill>
              </a:rPr>
              <a:t>Clinical or unsafe request</a:t>
            </a:r>
          </a:p>
        </p:txBody>
      </p:sp>
      <p:sp>
        <p:nvSpPr>
          <p:cNvPr id="24" name="">
            <a:extLst xmlns:a="http://schemas.openxmlformats.org/drawingml/2006/main">
              <a:ext uri="{FF2B5EF4-FFF2-40B4-BE49-F238E27FC236}">
                <a16:creationId xmlns:a16="http://schemas.microsoft.com/office/drawing/2014/main" id="{1555E9A1-589B-48DD-B94A-61B8BB4D0750}"/>
              </a:ext>
            </a:extLst>
          </p:cNvPr>
          <p:cNvSpPr>
            <a:spLocks xmlns:a="http://schemas.openxmlformats.org/drawingml/2006/main" noGrp="1"/>
          </p:cNvSpPr>
          <p:nvPr/>
        </p:nvSpPr>
        <p:spPr>
          <a:xfrm xmlns:a="http://schemas.openxmlformats.org/drawingml/2006/main">
            <a:off x="9210675" y="4629150"/>
            <a:ext cx="2095500" cy="9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25" name="">
            <a:extLst xmlns:a="http://schemas.openxmlformats.org/drawingml/2006/main">
              <a:ext uri="{FF2B5EF4-FFF2-40B4-BE49-F238E27FC236}">
                <a16:creationId xmlns:a16="http://schemas.microsoft.com/office/drawing/2014/main" id="{30509AC7-71B5-4606-B931-4827BC3A08E3}"/>
              </a:ext>
            </a:extLst>
          </p:cNvPr>
          <p:cNvSpPr>
            <a:spLocks xmlns:a="http://schemas.openxmlformats.org/drawingml/2006/main" noGrp="1"/>
          </p:cNvSpPr>
          <p:nvPr/>
        </p:nvSpPr>
        <p:spPr>
          <a:xfrm xmlns:a="http://schemas.openxmlformats.org/drawingml/2006/main">
            <a:off x="9210675" y="4829175"/>
            <a:ext cx="2133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825" b="0" i="0">
                <a:solidFill>
                  <a:srgbClr val="FFFFFF"/>
                </a:solidFill>
              </a:defRPr>
            </a:pPr>
            <a:r>
              <a:rPr sz="825" b="0" i="0">
                <a:solidFill>
                  <a:srgbClr val="FFFFFF"/>
                </a:solidFill>
              </a:rPr>
              <a:t>No action → safe script → human</a:t>
            </a:r>
          </a:p>
        </p:txBody>
      </p:sp>
      <p:sp>
        <p:nvSpPr>
          <p:cNvPr id="26" name="">
            <a:extLst xmlns:a="http://schemas.openxmlformats.org/drawingml/2006/main">
              <a:ext uri="{FF2B5EF4-FFF2-40B4-BE49-F238E27FC236}">
                <a16:creationId xmlns:a16="http://schemas.microsoft.com/office/drawing/2014/main" id="{57CB1D90-6D05-422A-A91A-09A032A3F615}"/>
              </a:ext>
            </a:extLst>
          </p:cNvPr>
          <p:cNvSpPr>
            <a:spLocks xmlns:a="http://schemas.openxmlformats.org/drawingml/2006/main" noGrp="1"/>
          </p:cNvSpPr>
          <p:nvPr/>
        </p:nvSpPr>
        <p:spPr>
          <a:xfrm xmlns:a="http://schemas.openxmlformats.org/drawingml/2006/main">
            <a:off x="457200" y="5781675"/>
            <a:ext cx="1000125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750" b="1" i="0">
                <a:solidFill>
                  <a:srgbClr val="8AA4B8"/>
                </a:solidFill>
              </a:defRPr>
            </a:pPr>
            <a:r>
              <a:rPr sz="750" b="1" i="0">
                <a:solidFill>
                  <a:srgbClr val="8AA4B8"/>
                </a:solidFill>
              </a:rPr>
              <a:t>DEMAND-CONDITIONED ROUTING  •  CONFIDENCE  •  NOISE  •  CRITICAL ENTITIES  •  ACTION RISK</a:t>
            </a:r>
          </a:p>
        </p:txBody>
      </p:sp>
      <p:sp>
        <p:nvSpPr>
          <p:cNvPr id="27" name="">
            <a:extLst xmlns:a="http://schemas.openxmlformats.org/drawingml/2006/main">
              <a:ext uri="{FF2B5EF4-FFF2-40B4-BE49-F238E27FC236}">
                <a16:creationId xmlns:a16="http://schemas.microsoft.com/office/drawing/2014/main" id="{21ECA2B6-70FB-490C-B78E-E25E3473CF0D}"/>
              </a:ext>
            </a:extLst>
          </p:cNvPr>
          <p:cNvSpPr>
            <a:spLocks xmlns:a="http://schemas.openxmlformats.org/drawingml/2006/main" noGrp="1"/>
          </p:cNvSpPr>
          <p:nvPr/>
        </p:nvSpPr>
        <p:spPr>
          <a:xfrm xmlns:a="http://schemas.openxmlformats.org/drawingml/2006/main">
            <a:off x="457200" y="6457950"/>
            <a:ext cx="85725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75" b="0" i="0">
                <a:solidFill>
                  <a:srgbClr val="8BA1B5"/>
                </a:solidFill>
              </a:defRPr>
            </a:pPr>
            <a:r>
              <a:rPr sz="675" b="0" i="0">
                <a:solidFill>
                  <a:srgbClr val="8BA1B5"/>
                </a:solidFill>
              </a:rPr>
              <a:t>PAVO-inspired routing keeps fast turns fast—and raises assurance only when needed.</a:t>
            </a:r>
          </a:p>
        </p:txBody>
      </p:sp>
      <p:sp>
        <p:nvSpPr>
          <p:cNvPr id="28" name="">
            <a:extLst xmlns:a="http://schemas.openxmlformats.org/drawingml/2006/main">
              <a:ext uri="{FF2B5EF4-FFF2-40B4-BE49-F238E27FC236}">
                <a16:creationId xmlns:a16="http://schemas.microsoft.com/office/drawing/2014/main" id="{DF6BAEC4-230B-470C-AED6-66C71A2C443F}"/>
              </a:ext>
            </a:extLst>
          </p:cNvPr>
          <p:cNvSpPr>
            <a:spLocks xmlns:a="http://schemas.openxmlformats.org/drawingml/2006/main" noGrp="1"/>
          </p:cNvSpPr>
          <p:nvPr/>
        </p:nvSpPr>
        <p:spPr>
          <a:xfrm xmlns:a="http://schemas.openxmlformats.org/drawingml/2006/main">
            <a:off x="8382000" y="6457950"/>
            <a:ext cx="3352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675" b="0" i="0">
                <a:solidFill>
                  <a:srgbClr val="8BA1B5"/>
                </a:solidFill>
              </a:defRPr>
            </a:pPr>
            <a:r>
              <a:rPr sz="675" b="0" i="0">
                <a:solidFill>
                  <a:srgbClr val="8BA1B5"/>
                </a:solidFill>
              </a:rPr>
              <a:t>A1MOBILE VOICE AI HACKATHON · 2026</a:t>
            </a:r>
          </a:p>
        </p:txBody>
      </p:sp>
    </p:spTree>
    <p:extLst>
      <p:ext uri="{BB962C8B-B14F-4D97-AF65-F5344CB8AC3E}">
        <p14:creationId xmlns:p14="http://schemas.microsoft.com/office/powerpoint/2010/main" val="78871391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AD495059-FA37-4AD8-8873-9EC248FBA471}"/>
              </a:ext>
            </a:extLst>
          </p:cNvPr>
          <p:cNvSpPr>
            <a:spLocks xmlns:a="http://schemas.openxmlformats.org/drawingml/2006/main" noGrp="1"/>
          </p:cNvSpPr>
          <p:nvPr/>
        </p:nvSpPr>
        <p:spPr>
          <a:xfrm xmlns:a="http://schemas.openxmlformats.org/drawingml/2006/main">
            <a:off x="457200" y="314325"/>
            <a:ext cx="590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750" b="1" i="0">
                <a:solidFill>
                  <a:srgbClr val="5F6D80"/>
                </a:solidFill>
              </a:defRPr>
            </a:pPr>
            <a:r>
              <a:rPr sz="750" b="1" i="0">
                <a:solidFill>
                  <a:srgbClr val="5F6D80"/>
                </a:solidFill>
              </a:rPr>
              <a:t>ARCHITECTURE</a:t>
            </a:r>
          </a:p>
        </p:txBody>
      </p:sp>
      <p:sp>
        <p:nvSpPr>
          <p:cNvPr id="2" name="">
            <a:extLst xmlns:a="http://schemas.openxmlformats.org/drawingml/2006/main">
              <a:ext uri="{FF2B5EF4-FFF2-40B4-BE49-F238E27FC236}">
                <a16:creationId xmlns:a16="http://schemas.microsoft.com/office/drawing/2014/main" id="{EE4A2BE5-E0DB-44C5-B778-E0009AC9B54E}"/>
              </a:ext>
            </a:extLst>
          </p:cNvPr>
          <p:cNvSpPr>
            <a:spLocks xmlns:a="http://schemas.openxmlformats.org/drawingml/2006/main" noGrp="1"/>
          </p:cNvSpPr>
          <p:nvPr/>
        </p:nvSpPr>
        <p:spPr>
          <a:xfrm xmlns:a="http://schemas.openxmlformats.org/drawingml/2006/main">
            <a:off x="9639300" y="314325"/>
            <a:ext cx="209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750" b="1" i="0">
                <a:solidFill>
                  <a:srgbClr val="5F6D80"/>
                </a:solidFill>
              </a:defRPr>
            </a:pPr>
            <a:r>
              <a:rPr sz="750" b="1" i="0">
                <a:solidFill>
                  <a:srgbClr val="5F6D80"/>
                </a:solidFill>
              </a:rPr>
              <a:t>RXRELAY  /  08</a:t>
            </a:r>
          </a:p>
        </p:txBody>
      </p:sp>
      <p:sp>
        <p:nvSpPr>
          <p:cNvPr id="3" name="">
            <a:extLst xmlns:a="http://schemas.openxmlformats.org/drawingml/2006/main">
              <a:ext uri="{FF2B5EF4-FFF2-40B4-BE49-F238E27FC236}">
                <a16:creationId xmlns:a16="http://schemas.microsoft.com/office/drawing/2014/main" id="{9B9CF7FF-13B1-460E-9CCD-2160485AAF6A}"/>
              </a:ext>
            </a:extLst>
          </p:cNvPr>
          <p:cNvSpPr>
            <a:spLocks xmlns:a="http://schemas.openxmlformats.org/drawingml/2006/main" noGrp="1"/>
          </p:cNvSpPr>
          <p:nvPr/>
        </p:nvSpPr>
        <p:spPr>
          <a:xfrm xmlns:a="http://schemas.openxmlformats.org/drawingml/2006/main">
            <a:off x="457200" y="552450"/>
            <a:ext cx="11277600" cy="9525"/>
          </a:xfrm>
          <a:prstGeom xmlns:a="http://schemas.openxmlformats.org/drawingml/2006/main" prst="rect">
            <a:avLst/>
          </a:prstGeom>
          <a:solidFill xmlns:a="http://schemas.openxmlformats.org/drawingml/2006/main">
            <a:srgbClr val="D8E0E7"/>
          </a:solidFill>
          <a:ln xmlns:a="http://schemas.openxmlformats.org/drawingml/2006/main" w="0">
            <a:solidFill>
              <a:srgbClr val="D8E0E7"/>
            </a:solidFill>
            <a:prstDash val="solid"/>
          </a:ln>
        </p:spPr>
      </p:sp>
      <p:sp>
        <p:nvSpPr>
          <p:cNvPr id="4" name="title">
            <a:extLst xmlns:a="http://schemas.openxmlformats.org/drawingml/2006/main">
              <a:ext uri="{FF2B5EF4-FFF2-40B4-BE49-F238E27FC236}">
                <a16:creationId xmlns:a16="http://schemas.microsoft.com/office/drawing/2014/main" id="{FA1E72DC-5C43-4C62-B474-0B34E204DA83}"/>
              </a:ext>
            </a:extLst>
          </p:cNvPr>
          <p:cNvSpPr>
            <a:spLocks xmlns:a="http://schemas.openxmlformats.org/drawingml/2006/main" noGrp="1"/>
          </p:cNvSpPr>
          <p:nvPr/>
        </p:nvSpPr>
        <p:spPr>
          <a:xfrm xmlns:a="http://schemas.openxmlformats.org/drawingml/2006/main">
            <a:off x="457200" y="876300"/>
            <a:ext cx="809625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375" b="1" i="0">
                <a:solidFill>
                  <a:srgbClr val="0B1F33"/>
                </a:solidFill>
              </a:defRPr>
            </a:pPr>
            <a:r>
              <a:rPr sz="3375" b="1" i="0">
                <a:solidFill>
                  <a:srgbClr val="0B1F33"/>
                </a:solidFill>
              </a:rPr>
              <a:t>A voice agent with a real trust boundary.</a:t>
            </a:r>
          </a:p>
        </p:txBody>
      </p:sp>
      <p:sp>
        <p:nvSpPr>
          <p:cNvPr id="5" name="subtitle">
            <a:extLst xmlns:a="http://schemas.openxmlformats.org/drawingml/2006/main">
              <a:ext uri="{FF2B5EF4-FFF2-40B4-BE49-F238E27FC236}">
                <a16:creationId xmlns:a16="http://schemas.microsoft.com/office/drawing/2014/main" id="{93447955-D35D-4378-85CD-4214EDF268A1}"/>
              </a:ext>
            </a:extLst>
          </p:cNvPr>
          <p:cNvSpPr>
            <a:spLocks xmlns:a="http://schemas.openxmlformats.org/drawingml/2006/main" noGrp="1"/>
          </p:cNvSpPr>
          <p:nvPr/>
        </p:nvSpPr>
        <p:spPr>
          <a:xfrm xmlns:a="http://schemas.openxmlformats.org/drawingml/2006/main">
            <a:off x="457200" y="1819275"/>
            <a:ext cx="7143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5F6D80"/>
                </a:solidFill>
              </a:defRPr>
            </a:pPr>
            <a:r>
              <a:rPr sz="1350" b="0" i="0">
                <a:solidFill>
                  <a:srgbClr val="5F6D80"/>
                </a:solidFill>
              </a:rPr>
              <a:t>The big idea: an LLM proposes language. Deterministic policy and evidence decide what may happen.</a:t>
            </a:r>
          </a:p>
        </p:txBody>
      </p:sp>
      <p:sp>
        <p:nvSpPr>
          <p:cNvPr id="6" name="Patient">
            <a:extLst xmlns:a="http://schemas.openxmlformats.org/drawingml/2006/main">
              <a:ext uri="{FF2B5EF4-FFF2-40B4-BE49-F238E27FC236}">
                <a16:creationId xmlns:a16="http://schemas.microsoft.com/office/drawing/2014/main" id="{FBCE3A60-86B4-4CBA-8157-576F941430F1}"/>
              </a:ext>
            </a:extLst>
          </p:cNvPr>
          <p:cNvSpPr>
            <a:spLocks xmlns:a="http://schemas.openxmlformats.org/drawingml/2006/main" noGrp="1"/>
          </p:cNvSpPr>
          <p:nvPr/>
        </p:nvSpPr>
        <p:spPr>
          <a:xfrm xmlns:a="http://schemas.openxmlformats.org/drawingml/2006/main">
            <a:off x="457200" y="3181350"/>
            <a:ext cx="1428750" cy="904875"/>
          </a:xfrm>
          <a:prstGeom xmlns:a="http://schemas.openxmlformats.org/drawingml/2006/main" prst="roundRect">
            <a:avLst>
              <a:gd name="adj" fmla="val 12632"/>
            </a:avLst>
          </a:prstGeom>
          <a:solidFill xmlns:a="http://schemas.openxmlformats.org/drawingml/2006/main">
            <a:srgbClr val="E5F0FF"/>
          </a:solidFill>
          <a:ln xmlns:a="http://schemas.openxmlformats.org/drawingml/2006/main" w="9525">
            <a:solidFill>
              <a:srgbClr val="E5F0FF"/>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49CEBDDD-A9AC-40B9-BCC7-916B027EAF83}"/>
              </a:ext>
            </a:extLst>
          </p:cNvPr>
          <p:cNvSpPr>
            <a:spLocks xmlns:a="http://schemas.openxmlformats.org/drawingml/2006/main" noGrp="1"/>
          </p:cNvSpPr>
          <p:nvPr/>
        </p:nvSpPr>
        <p:spPr>
          <a:xfrm xmlns:a="http://schemas.openxmlformats.org/drawingml/2006/main">
            <a:off x="600075" y="3314700"/>
            <a:ext cx="11430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75" b="1" i="0">
                <a:solidFill>
                  <a:srgbClr val="3D8DFF"/>
                </a:solidFill>
              </a:defRPr>
            </a:pPr>
            <a:r>
              <a:rPr sz="675" b="1" i="0">
                <a:solidFill>
                  <a:srgbClr val="3D8DFF"/>
                </a:solidFill>
              </a:rPr>
              <a:t>PATIENT</a:t>
            </a:r>
          </a:p>
        </p:txBody>
      </p:sp>
      <p:sp>
        <p:nvSpPr>
          <p:cNvPr id="8" name="">
            <a:extLst xmlns:a="http://schemas.openxmlformats.org/drawingml/2006/main">
              <a:ext uri="{FF2B5EF4-FFF2-40B4-BE49-F238E27FC236}">
                <a16:creationId xmlns:a16="http://schemas.microsoft.com/office/drawing/2014/main" id="{69670A5F-B392-4CBD-8737-190A21B6BA34}"/>
              </a:ext>
            </a:extLst>
          </p:cNvPr>
          <p:cNvSpPr>
            <a:spLocks xmlns:a="http://schemas.openxmlformats.org/drawingml/2006/main" noGrp="1"/>
          </p:cNvSpPr>
          <p:nvPr/>
        </p:nvSpPr>
        <p:spPr>
          <a:xfrm xmlns:a="http://schemas.openxmlformats.org/drawingml/2006/main">
            <a:off x="600075" y="3581400"/>
            <a:ext cx="1143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0B1F33"/>
                </a:solidFill>
              </a:defRPr>
            </a:pPr>
            <a:r>
              <a:rPr sz="975" b="1" i="0">
                <a:solidFill>
                  <a:srgbClr val="0B1F33"/>
                </a:solidFill>
              </a:rPr>
              <a:t>Phone / text</a:t>
            </a:r>
          </a:p>
          <a:p xmlns:a="http://schemas.openxmlformats.org/drawingml/2006/main">
            <a:pPr algn="l">
              <a:defRPr sz="975" b="1" i="0">
                <a:solidFill>
                  <a:srgbClr val="0B1F33"/>
                </a:solidFill>
              </a:defRPr>
            </a:pPr>
            <a:r>
              <a:rPr sz="975" b="1" i="0">
                <a:solidFill>
                  <a:srgbClr val="0B1F33"/>
                </a:solidFill>
              </a:rPr>
              <a:t>consented only</a:t>
            </a:r>
          </a:p>
        </p:txBody>
      </p:sp>
      <p:sp>
        <p:nvSpPr>
          <p:cNvPr id="9" name="Voice ingress">
            <a:extLst xmlns:a="http://schemas.openxmlformats.org/drawingml/2006/main">
              <a:ext uri="{FF2B5EF4-FFF2-40B4-BE49-F238E27FC236}">
                <a16:creationId xmlns:a16="http://schemas.microsoft.com/office/drawing/2014/main" id="{06F1F105-6E17-4B39-946E-9884908CA6D7}"/>
              </a:ext>
            </a:extLst>
          </p:cNvPr>
          <p:cNvSpPr>
            <a:spLocks xmlns:a="http://schemas.openxmlformats.org/drawingml/2006/main" noGrp="1"/>
          </p:cNvSpPr>
          <p:nvPr/>
        </p:nvSpPr>
        <p:spPr>
          <a:xfrm xmlns:a="http://schemas.openxmlformats.org/drawingml/2006/main">
            <a:off x="2247900" y="3181350"/>
            <a:ext cx="1524000" cy="904875"/>
          </a:xfrm>
          <a:prstGeom xmlns:a="http://schemas.openxmlformats.org/drawingml/2006/main" prst="roundRect">
            <a:avLst>
              <a:gd name="adj" fmla="val 12632"/>
            </a:avLst>
          </a:prstGeom>
          <a:solidFill xmlns:a="http://schemas.openxmlformats.org/drawingml/2006/main">
            <a:srgbClr val="F2F5F8"/>
          </a:solidFill>
          <a:ln xmlns:a="http://schemas.openxmlformats.org/drawingml/2006/main" w="9525">
            <a:solidFill>
              <a:srgbClr val="F2F5F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807D2A66-10F8-427A-81D9-7D9056E23C39}"/>
              </a:ext>
            </a:extLst>
          </p:cNvPr>
          <p:cNvSpPr>
            <a:spLocks xmlns:a="http://schemas.openxmlformats.org/drawingml/2006/main" noGrp="1"/>
          </p:cNvSpPr>
          <p:nvPr/>
        </p:nvSpPr>
        <p:spPr>
          <a:xfrm xmlns:a="http://schemas.openxmlformats.org/drawingml/2006/main">
            <a:off x="2390775" y="3314700"/>
            <a:ext cx="123825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75" b="1" i="0">
                <a:solidFill>
                  <a:srgbClr val="5F6D80"/>
                </a:solidFill>
              </a:defRPr>
            </a:pPr>
            <a:r>
              <a:rPr sz="675" b="1" i="0">
                <a:solidFill>
                  <a:srgbClr val="5F6D80"/>
                </a:solidFill>
              </a:rPr>
              <a:t>VOICE INGRESS</a:t>
            </a:r>
          </a:p>
        </p:txBody>
      </p:sp>
      <p:sp>
        <p:nvSpPr>
          <p:cNvPr id="11" name="">
            <a:extLst xmlns:a="http://schemas.openxmlformats.org/drawingml/2006/main">
              <a:ext uri="{FF2B5EF4-FFF2-40B4-BE49-F238E27FC236}">
                <a16:creationId xmlns:a16="http://schemas.microsoft.com/office/drawing/2014/main" id="{B760DF83-4FDA-47A6-923A-C8345120C268}"/>
              </a:ext>
            </a:extLst>
          </p:cNvPr>
          <p:cNvSpPr>
            <a:spLocks xmlns:a="http://schemas.openxmlformats.org/drawingml/2006/main" noGrp="1"/>
          </p:cNvSpPr>
          <p:nvPr/>
        </p:nvSpPr>
        <p:spPr>
          <a:xfrm xmlns:a="http://schemas.openxmlformats.org/drawingml/2006/main">
            <a:off x="2390775" y="3581400"/>
            <a:ext cx="1238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0B1F33"/>
                </a:solidFill>
              </a:defRPr>
            </a:pPr>
            <a:r>
              <a:rPr sz="975" b="1" i="0">
                <a:solidFill>
                  <a:srgbClr val="0B1F33"/>
                </a:solidFill>
              </a:rPr>
              <a:t>a1mobile</a:t>
            </a:r>
          </a:p>
          <a:p xmlns:a="http://schemas.openxmlformats.org/drawingml/2006/main">
            <a:pPr algn="l">
              <a:defRPr sz="975" b="1" i="0">
                <a:solidFill>
                  <a:srgbClr val="0B1F33"/>
                </a:solidFill>
              </a:defRPr>
            </a:pPr>
            <a:r>
              <a:rPr sz="975" b="1" i="0">
                <a:solidFill>
                  <a:srgbClr val="0B1F33"/>
                </a:solidFill>
              </a:rPr>
              <a:t>webhook / MCP</a:t>
            </a:r>
          </a:p>
        </p:txBody>
      </p:sp>
      <p:sp>
        <p:nvSpPr>
          <p:cNvPr id="12" name="Policy gate">
            <a:extLst xmlns:a="http://schemas.openxmlformats.org/drawingml/2006/main">
              <a:ext uri="{FF2B5EF4-FFF2-40B4-BE49-F238E27FC236}">
                <a16:creationId xmlns:a16="http://schemas.microsoft.com/office/drawing/2014/main" id="{76CD1C0E-2872-4585-95AA-831F541D8E92}"/>
              </a:ext>
            </a:extLst>
          </p:cNvPr>
          <p:cNvSpPr>
            <a:spLocks xmlns:a="http://schemas.openxmlformats.org/drawingml/2006/main" noGrp="1"/>
          </p:cNvSpPr>
          <p:nvPr/>
        </p:nvSpPr>
        <p:spPr>
          <a:xfrm xmlns:a="http://schemas.openxmlformats.org/drawingml/2006/main">
            <a:off x="4143375" y="3181350"/>
            <a:ext cx="1428750" cy="904875"/>
          </a:xfrm>
          <a:prstGeom xmlns:a="http://schemas.openxmlformats.org/drawingml/2006/main" prst="roundRect">
            <a:avLst>
              <a:gd name="adj" fmla="val 12632"/>
            </a:avLst>
          </a:prstGeom>
          <a:solidFill xmlns:a="http://schemas.openxmlformats.org/drawingml/2006/main">
            <a:srgbClr val="FCE6E6"/>
          </a:solidFill>
          <a:ln xmlns:a="http://schemas.openxmlformats.org/drawingml/2006/main" w="9525">
            <a:solidFill>
              <a:srgbClr val="FCE6E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3" name="">
            <a:extLst xmlns:a="http://schemas.openxmlformats.org/drawingml/2006/main">
              <a:ext uri="{FF2B5EF4-FFF2-40B4-BE49-F238E27FC236}">
                <a16:creationId xmlns:a16="http://schemas.microsoft.com/office/drawing/2014/main" id="{9938B5FE-2748-420E-B207-C78FDB989079}"/>
              </a:ext>
            </a:extLst>
          </p:cNvPr>
          <p:cNvSpPr>
            <a:spLocks xmlns:a="http://schemas.openxmlformats.org/drawingml/2006/main" noGrp="1"/>
          </p:cNvSpPr>
          <p:nvPr/>
        </p:nvSpPr>
        <p:spPr>
          <a:xfrm xmlns:a="http://schemas.openxmlformats.org/drawingml/2006/main">
            <a:off x="4286250" y="3314700"/>
            <a:ext cx="11430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75" b="1" i="0">
                <a:solidFill>
                  <a:srgbClr val="D35656"/>
                </a:solidFill>
              </a:defRPr>
            </a:pPr>
            <a:r>
              <a:rPr sz="675" b="1" i="0">
                <a:solidFill>
                  <a:srgbClr val="D35656"/>
                </a:solidFill>
              </a:rPr>
              <a:t>POLICY GATE</a:t>
            </a:r>
          </a:p>
        </p:txBody>
      </p:sp>
      <p:sp>
        <p:nvSpPr>
          <p:cNvPr id="14" name="">
            <a:extLst xmlns:a="http://schemas.openxmlformats.org/drawingml/2006/main">
              <a:ext uri="{FF2B5EF4-FFF2-40B4-BE49-F238E27FC236}">
                <a16:creationId xmlns:a16="http://schemas.microsoft.com/office/drawing/2014/main" id="{1E7C5439-EDFB-44BF-9993-49EB70BCF852}"/>
              </a:ext>
            </a:extLst>
          </p:cNvPr>
          <p:cNvSpPr>
            <a:spLocks xmlns:a="http://schemas.openxmlformats.org/drawingml/2006/main" noGrp="1"/>
          </p:cNvSpPr>
          <p:nvPr/>
        </p:nvSpPr>
        <p:spPr>
          <a:xfrm xmlns:a="http://schemas.openxmlformats.org/drawingml/2006/main">
            <a:off x="4286250" y="3581400"/>
            <a:ext cx="1143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0B1F33"/>
                </a:solidFill>
              </a:defRPr>
            </a:pPr>
            <a:r>
              <a:rPr sz="975" b="1" i="0">
                <a:solidFill>
                  <a:srgbClr val="0B1F33"/>
                </a:solidFill>
              </a:rPr>
              <a:t>Consent +</a:t>
            </a:r>
          </a:p>
          <a:p xmlns:a="http://schemas.openxmlformats.org/drawingml/2006/main">
            <a:pPr algn="l">
              <a:defRPr sz="975" b="1" i="0">
                <a:solidFill>
                  <a:srgbClr val="0B1F33"/>
                </a:solidFill>
              </a:defRPr>
            </a:pPr>
            <a:r>
              <a:rPr sz="975" b="1" i="0">
                <a:solidFill>
                  <a:srgbClr val="0B1F33"/>
                </a:solidFill>
              </a:rPr>
              <a:t>safety scope</a:t>
            </a:r>
          </a:p>
        </p:txBody>
      </p:sp>
      <p:sp>
        <p:nvSpPr>
          <p:cNvPr id="15" name="PAVO router">
            <a:extLst xmlns:a="http://schemas.openxmlformats.org/drawingml/2006/main">
              <a:ext uri="{FF2B5EF4-FFF2-40B4-BE49-F238E27FC236}">
                <a16:creationId xmlns:a16="http://schemas.microsoft.com/office/drawing/2014/main" id="{77FEC29C-81D4-4EFA-86C6-0EFF48909CEB}"/>
              </a:ext>
            </a:extLst>
          </p:cNvPr>
          <p:cNvSpPr>
            <a:spLocks xmlns:a="http://schemas.openxmlformats.org/drawingml/2006/main" noGrp="1"/>
          </p:cNvSpPr>
          <p:nvPr/>
        </p:nvSpPr>
        <p:spPr>
          <a:xfrm xmlns:a="http://schemas.openxmlformats.org/drawingml/2006/main">
            <a:off x="5962650" y="3000375"/>
            <a:ext cx="1762125" cy="1257300"/>
          </a:xfrm>
          <a:prstGeom xmlns:a="http://schemas.openxmlformats.org/drawingml/2006/main" prst="roundRect">
            <a:avLst>
              <a:gd name="adj" fmla="val 9091"/>
            </a:avLst>
          </a:prstGeom>
          <a:solidFill xmlns:a="http://schemas.openxmlformats.org/drawingml/2006/main">
            <a:srgbClr val="DCF6F0"/>
          </a:solidFill>
          <a:ln xmlns:a="http://schemas.openxmlformats.org/drawingml/2006/main" w="9525">
            <a:solidFill>
              <a:srgbClr val="DCF6F0"/>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6" name="">
            <a:extLst xmlns:a="http://schemas.openxmlformats.org/drawingml/2006/main">
              <a:ext uri="{FF2B5EF4-FFF2-40B4-BE49-F238E27FC236}">
                <a16:creationId xmlns:a16="http://schemas.microsoft.com/office/drawing/2014/main" id="{99C5BADE-5A9D-4108-8DB4-EC73231A675B}"/>
              </a:ext>
            </a:extLst>
          </p:cNvPr>
          <p:cNvSpPr>
            <a:spLocks xmlns:a="http://schemas.openxmlformats.org/drawingml/2006/main" noGrp="1"/>
          </p:cNvSpPr>
          <p:nvPr/>
        </p:nvSpPr>
        <p:spPr>
          <a:xfrm xmlns:a="http://schemas.openxmlformats.org/drawingml/2006/main">
            <a:off x="6105525" y="3133725"/>
            <a:ext cx="1476375"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75" b="1" i="0">
                <a:solidFill>
                  <a:srgbClr val="0E9F8E"/>
                </a:solidFill>
              </a:defRPr>
            </a:pPr>
            <a:r>
              <a:rPr sz="675" b="1" i="0">
                <a:solidFill>
                  <a:srgbClr val="0E9F8E"/>
                </a:solidFill>
              </a:rPr>
              <a:t>PAVO ROUTER</a:t>
            </a:r>
          </a:p>
        </p:txBody>
      </p:sp>
      <p:sp>
        <p:nvSpPr>
          <p:cNvPr id="17" name="">
            <a:extLst xmlns:a="http://schemas.openxmlformats.org/drawingml/2006/main">
              <a:ext uri="{FF2B5EF4-FFF2-40B4-BE49-F238E27FC236}">
                <a16:creationId xmlns:a16="http://schemas.microsoft.com/office/drawing/2014/main" id="{2A6CD474-927F-4376-A089-A0EB5D0C0F58}"/>
              </a:ext>
            </a:extLst>
          </p:cNvPr>
          <p:cNvSpPr>
            <a:spLocks xmlns:a="http://schemas.openxmlformats.org/drawingml/2006/main" noGrp="1"/>
          </p:cNvSpPr>
          <p:nvPr/>
        </p:nvSpPr>
        <p:spPr>
          <a:xfrm xmlns:a="http://schemas.openxmlformats.org/drawingml/2006/main">
            <a:off x="6105525" y="3400425"/>
            <a:ext cx="147637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0B1F33"/>
                </a:solidFill>
              </a:defRPr>
            </a:pPr>
            <a:r>
              <a:rPr sz="975" b="1" i="0">
                <a:solidFill>
                  <a:srgbClr val="0B1F33"/>
                </a:solidFill>
              </a:rPr>
              <a:t>confidence · noise</a:t>
            </a:r>
          </a:p>
          <a:p xmlns:a="http://schemas.openxmlformats.org/drawingml/2006/main">
            <a:pPr algn="l">
              <a:defRPr sz="975" b="1" i="0">
                <a:solidFill>
                  <a:srgbClr val="0B1F33"/>
                </a:solidFill>
              </a:defRPr>
            </a:pPr>
            <a:r>
              <a:rPr sz="975" b="1" i="0">
                <a:solidFill>
                  <a:srgbClr val="0B1F33"/>
                </a:solidFill>
              </a:rPr>
              <a:t>critical entities</a:t>
            </a:r>
          </a:p>
          <a:p xmlns:a="http://schemas.openxmlformats.org/drawingml/2006/main">
            <a:pPr algn="l">
              <a:defRPr sz="975" b="1" i="0">
                <a:solidFill>
                  <a:srgbClr val="0B1F33"/>
                </a:solidFill>
              </a:defRPr>
            </a:pPr>
            <a:r>
              <a:rPr sz="975" b="1" i="0">
                <a:solidFill>
                  <a:srgbClr val="0B1F33"/>
                </a:solidFill>
              </a:rPr>
              <a:t>action risk</a:t>
            </a:r>
          </a:p>
        </p:txBody>
      </p:sp>
      <p:sp>
        <p:nvSpPr>
          <p:cNvPr id="18" name="Case engine">
            <a:extLst xmlns:a="http://schemas.openxmlformats.org/drawingml/2006/main">
              <a:ext uri="{FF2B5EF4-FFF2-40B4-BE49-F238E27FC236}">
                <a16:creationId xmlns:a16="http://schemas.microsoft.com/office/drawing/2014/main" id="{57D57222-B556-41C5-AAEC-5A195164ACE7}"/>
              </a:ext>
            </a:extLst>
          </p:cNvPr>
          <p:cNvSpPr>
            <a:spLocks xmlns:a="http://schemas.openxmlformats.org/drawingml/2006/main" noGrp="1"/>
          </p:cNvSpPr>
          <p:nvPr/>
        </p:nvSpPr>
        <p:spPr>
          <a:xfrm xmlns:a="http://schemas.openxmlformats.org/drawingml/2006/main">
            <a:off x="8115300" y="3000375"/>
            <a:ext cx="1619250" cy="1257300"/>
          </a:xfrm>
          <a:prstGeom xmlns:a="http://schemas.openxmlformats.org/drawingml/2006/main" prst="roundRect">
            <a:avLst>
              <a:gd name="adj" fmla="val 9091"/>
            </a:avLst>
          </a:prstGeom>
          <a:solidFill xmlns:a="http://schemas.openxmlformats.org/drawingml/2006/main">
            <a:srgbClr val="EEE9FF"/>
          </a:solidFill>
          <a:ln xmlns:a="http://schemas.openxmlformats.org/drawingml/2006/main" w="9525">
            <a:solidFill>
              <a:srgbClr val="EEE9FF"/>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
            <a:extLst xmlns:a="http://schemas.openxmlformats.org/drawingml/2006/main">
              <a:ext uri="{FF2B5EF4-FFF2-40B4-BE49-F238E27FC236}">
                <a16:creationId xmlns:a16="http://schemas.microsoft.com/office/drawing/2014/main" id="{DC04A313-28AF-441F-825D-CB0E3685AB43}"/>
              </a:ext>
            </a:extLst>
          </p:cNvPr>
          <p:cNvSpPr>
            <a:spLocks xmlns:a="http://schemas.openxmlformats.org/drawingml/2006/main" noGrp="1"/>
          </p:cNvSpPr>
          <p:nvPr/>
        </p:nvSpPr>
        <p:spPr>
          <a:xfrm xmlns:a="http://schemas.openxmlformats.org/drawingml/2006/main">
            <a:off x="8258175" y="3133725"/>
            <a:ext cx="1333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75" b="1" i="0">
                <a:solidFill>
                  <a:srgbClr val="7B61D4"/>
                </a:solidFill>
              </a:defRPr>
            </a:pPr>
            <a:r>
              <a:rPr sz="675" b="1" i="0">
                <a:solidFill>
                  <a:srgbClr val="7B61D4"/>
                </a:solidFill>
              </a:rPr>
              <a:t>CASE ENGINE</a:t>
            </a:r>
          </a:p>
        </p:txBody>
      </p:sp>
      <p:sp>
        <p:nvSpPr>
          <p:cNvPr id="20" name="">
            <a:extLst xmlns:a="http://schemas.openxmlformats.org/drawingml/2006/main">
              <a:ext uri="{FF2B5EF4-FFF2-40B4-BE49-F238E27FC236}">
                <a16:creationId xmlns:a16="http://schemas.microsoft.com/office/drawing/2014/main" id="{B9A96706-10BB-46DE-949D-13B1786B39FC}"/>
              </a:ext>
            </a:extLst>
          </p:cNvPr>
          <p:cNvSpPr>
            <a:spLocks xmlns:a="http://schemas.openxmlformats.org/drawingml/2006/main" noGrp="1"/>
          </p:cNvSpPr>
          <p:nvPr/>
        </p:nvSpPr>
        <p:spPr>
          <a:xfrm xmlns:a="http://schemas.openxmlformats.org/drawingml/2006/main">
            <a:off x="8258175" y="3400425"/>
            <a:ext cx="1333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0B1F33"/>
                </a:solidFill>
              </a:defRPr>
            </a:pPr>
            <a:r>
              <a:rPr sz="975" b="1" i="0">
                <a:solidFill>
                  <a:srgbClr val="0B1F33"/>
                </a:solidFill>
              </a:rPr>
              <a:t>minimum facts</a:t>
            </a:r>
          </a:p>
          <a:p xmlns:a="http://schemas.openxmlformats.org/drawingml/2006/main">
            <a:pPr algn="l">
              <a:defRPr sz="975" b="1" i="0">
                <a:solidFill>
                  <a:srgbClr val="0B1F33"/>
                </a:solidFill>
              </a:defRPr>
            </a:pPr>
            <a:r>
              <a:rPr sz="975" b="1" i="0">
                <a:solidFill>
                  <a:srgbClr val="0B1F33"/>
                </a:solidFill>
              </a:rPr>
              <a:t>event timeline</a:t>
            </a:r>
          </a:p>
          <a:p xmlns:a="http://schemas.openxmlformats.org/drawingml/2006/main">
            <a:pPr algn="l">
              <a:defRPr sz="975" b="1" i="0">
                <a:solidFill>
                  <a:srgbClr val="0B1F33"/>
                </a:solidFill>
              </a:defRPr>
            </a:pPr>
            <a:r>
              <a:rPr sz="975" b="1" i="0">
                <a:solidFill>
                  <a:srgbClr val="0B1F33"/>
                </a:solidFill>
              </a:rPr>
              <a:t>proof gate</a:t>
            </a:r>
          </a:p>
        </p:txBody>
      </p:sp>
      <p:sp>
        <p:nvSpPr>
          <p:cNvPr id="21" name="Pharmacy">
            <a:extLst xmlns:a="http://schemas.openxmlformats.org/drawingml/2006/main">
              <a:ext uri="{FF2B5EF4-FFF2-40B4-BE49-F238E27FC236}">
                <a16:creationId xmlns:a16="http://schemas.microsoft.com/office/drawing/2014/main" id="{D996D9D9-6856-4AC9-88C8-D3553C1D3519}"/>
              </a:ext>
            </a:extLst>
          </p:cNvPr>
          <p:cNvSpPr>
            <a:spLocks xmlns:a="http://schemas.openxmlformats.org/drawingml/2006/main" noGrp="1"/>
          </p:cNvSpPr>
          <p:nvPr/>
        </p:nvSpPr>
        <p:spPr>
          <a:xfrm xmlns:a="http://schemas.openxmlformats.org/drawingml/2006/main">
            <a:off x="10115550" y="2600325"/>
            <a:ext cx="1619250" cy="742950"/>
          </a:xfrm>
          <a:prstGeom xmlns:a="http://schemas.openxmlformats.org/drawingml/2006/main" prst="roundRect">
            <a:avLst>
              <a:gd name="adj" fmla="val 15385"/>
            </a:avLst>
          </a:prstGeom>
          <a:solidFill xmlns:a="http://schemas.openxmlformats.org/drawingml/2006/main">
            <a:srgbClr val="FFF1D7"/>
          </a:solidFill>
          <a:ln xmlns:a="http://schemas.openxmlformats.org/drawingml/2006/main" w="9525">
            <a:solidFill>
              <a:srgbClr val="FFF1D7"/>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7B4F7960-22EF-45D6-A680-0DCFC7A78E74}"/>
              </a:ext>
            </a:extLst>
          </p:cNvPr>
          <p:cNvSpPr>
            <a:spLocks xmlns:a="http://schemas.openxmlformats.org/drawingml/2006/main" noGrp="1"/>
          </p:cNvSpPr>
          <p:nvPr/>
        </p:nvSpPr>
        <p:spPr>
          <a:xfrm xmlns:a="http://schemas.openxmlformats.org/drawingml/2006/main">
            <a:off x="10258425" y="2733675"/>
            <a:ext cx="1333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75" b="1" i="0">
                <a:solidFill>
                  <a:srgbClr val="E6A037"/>
                </a:solidFill>
              </a:defRPr>
            </a:pPr>
            <a:r>
              <a:rPr sz="675" b="1" i="0">
                <a:solidFill>
                  <a:srgbClr val="E6A037"/>
                </a:solidFill>
              </a:rPr>
              <a:t>PHARMACY</a:t>
            </a:r>
          </a:p>
        </p:txBody>
      </p:sp>
      <p:sp>
        <p:nvSpPr>
          <p:cNvPr id="23" name="">
            <a:extLst xmlns:a="http://schemas.openxmlformats.org/drawingml/2006/main">
              <a:ext uri="{FF2B5EF4-FFF2-40B4-BE49-F238E27FC236}">
                <a16:creationId xmlns:a16="http://schemas.microsoft.com/office/drawing/2014/main" id="{8227D424-971B-4667-9B67-8D949FE49696}"/>
              </a:ext>
            </a:extLst>
          </p:cNvPr>
          <p:cNvSpPr>
            <a:spLocks xmlns:a="http://schemas.openxmlformats.org/drawingml/2006/main" noGrp="1"/>
          </p:cNvSpPr>
          <p:nvPr/>
        </p:nvSpPr>
        <p:spPr>
          <a:xfrm xmlns:a="http://schemas.openxmlformats.org/drawingml/2006/main">
            <a:off x="10258425" y="3000375"/>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0B1F33"/>
                </a:solidFill>
              </a:defRPr>
            </a:pPr>
            <a:r>
              <a:rPr sz="975" b="1" i="0">
                <a:solidFill>
                  <a:srgbClr val="0B1F33"/>
                </a:solidFill>
              </a:rPr>
              <a:t>status outcome</a:t>
            </a:r>
          </a:p>
        </p:txBody>
      </p:sp>
      <p:sp>
        <p:nvSpPr>
          <p:cNvPr id="24" name="Clinic / insurer">
            <a:extLst xmlns:a="http://schemas.openxmlformats.org/drawingml/2006/main">
              <a:ext uri="{FF2B5EF4-FFF2-40B4-BE49-F238E27FC236}">
                <a16:creationId xmlns:a16="http://schemas.microsoft.com/office/drawing/2014/main" id="{5761ED83-E082-4838-BA97-4057DC35F532}"/>
              </a:ext>
            </a:extLst>
          </p:cNvPr>
          <p:cNvSpPr>
            <a:spLocks xmlns:a="http://schemas.openxmlformats.org/drawingml/2006/main" noGrp="1"/>
          </p:cNvSpPr>
          <p:nvPr/>
        </p:nvSpPr>
        <p:spPr>
          <a:xfrm xmlns:a="http://schemas.openxmlformats.org/drawingml/2006/main">
            <a:off x="10115550" y="3800475"/>
            <a:ext cx="1619250" cy="742950"/>
          </a:xfrm>
          <a:prstGeom xmlns:a="http://schemas.openxmlformats.org/drawingml/2006/main" prst="roundRect">
            <a:avLst>
              <a:gd name="adj" fmla="val 15385"/>
            </a:avLst>
          </a:prstGeom>
          <a:solidFill xmlns:a="http://schemas.openxmlformats.org/drawingml/2006/main">
            <a:srgbClr val="E5F0FF"/>
          </a:solidFill>
          <a:ln xmlns:a="http://schemas.openxmlformats.org/drawingml/2006/main" w="9525">
            <a:solidFill>
              <a:srgbClr val="E5F0FF"/>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5" name="">
            <a:extLst xmlns:a="http://schemas.openxmlformats.org/drawingml/2006/main">
              <a:ext uri="{FF2B5EF4-FFF2-40B4-BE49-F238E27FC236}">
                <a16:creationId xmlns:a16="http://schemas.microsoft.com/office/drawing/2014/main" id="{751ABEE9-CDDB-4C0F-8BDD-2691552AD5DC}"/>
              </a:ext>
            </a:extLst>
          </p:cNvPr>
          <p:cNvSpPr>
            <a:spLocks xmlns:a="http://schemas.openxmlformats.org/drawingml/2006/main" noGrp="1"/>
          </p:cNvSpPr>
          <p:nvPr/>
        </p:nvSpPr>
        <p:spPr>
          <a:xfrm xmlns:a="http://schemas.openxmlformats.org/drawingml/2006/main">
            <a:off x="10258425" y="3933825"/>
            <a:ext cx="1333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75" b="1" i="0">
                <a:solidFill>
                  <a:srgbClr val="3D8DFF"/>
                </a:solidFill>
              </a:defRPr>
            </a:pPr>
            <a:r>
              <a:rPr sz="675" b="1" i="0">
                <a:solidFill>
                  <a:srgbClr val="3D8DFF"/>
                </a:solidFill>
              </a:rPr>
              <a:t>CLINIC / INSURER</a:t>
            </a:r>
          </a:p>
        </p:txBody>
      </p:sp>
      <p:sp>
        <p:nvSpPr>
          <p:cNvPr id="26" name="">
            <a:extLst xmlns:a="http://schemas.openxmlformats.org/drawingml/2006/main">
              <a:ext uri="{FF2B5EF4-FFF2-40B4-BE49-F238E27FC236}">
                <a16:creationId xmlns:a16="http://schemas.microsoft.com/office/drawing/2014/main" id="{8F97DA85-F559-48A7-9998-155BFBEFBE75}"/>
              </a:ext>
            </a:extLst>
          </p:cNvPr>
          <p:cNvSpPr>
            <a:spLocks xmlns:a="http://schemas.openxmlformats.org/drawingml/2006/main" noGrp="1"/>
          </p:cNvSpPr>
          <p:nvPr/>
        </p:nvSpPr>
        <p:spPr>
          <a:xfrm xmlns:a="http://schemas.openxmlformats.org/drawingml/2006/main">
            <a:off x="10258425" y="4200525"/>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0B1F33"/>
                </a:solidFill>
              </a:defRPr>
            </a:pPr>
            <a:r>
              <a:rPr sz="975" b="1" i="0">
                <a:solidFill>
                  <a:srgbClr val="0B1F33"/>
                </a:solidFill>
              </a:rPr>
              <a:t>follow-up outcome</a:t>
            </a:r>
          </a:p>
        </p:txBody>
      </p:sp>
      <p:sp>
        <p:nvSpPr>
          <p:cNvPr id="27" name="Human review">
            <a:extLst xmlns:a="http://schemas.openxmlformats.org/drawingml/2006/main">
              <a:ext uri="{FF2B5EF4-FFF2-40B4-BE49-F238E27FC236}">
                <a16:creationId xmlns:a16="http://schemas.microsoft.com/office/drawing/2014/main" id="{0EED2805-7F35-429B-AED3-F2C18A5E4E3F}"/>
              </a:ext>
            </a:extLst>
          </p:cNvPr>
          <p:cNvSpPr>
            <a:spLocks xmlns:a="http://schemas.openxmlformats.org/drawingml/2006/main" noGrp="1"/>
          </p:cNvSpPr>
          <p:nvPr/>
        </p:nvSpPr>
        <p:spPr>
          <a:xfrm xmlns:a="http://schemas.openxmlformats.org/drawingml/2006/main">
            <a:off x="5962650" y="4943475"/>
            <a:ext cx="1762125" cy="742950"/>
          </a:xfrm>
          <a:prstGeom xmlns:a="http://schemas.openxmlformats.org/drawingml/2006/main" prst="roundRect">
            <a:avLst>
              <a:gd name="adj" fmla="val 15385"/>
            </a:avLst>
          </a:prstGeom>
          <a:solidFill xmlns:a="http://schemas.openxmlformats.org/drawingml/2006/main">
            <a:srgbClr val="FCE6E6"/>
          </a:solidFill>
          <a:ln xmlns:a="http://schemas.openxmlformats.org/drawingml/2006/main" w="9525">
            <a:solidFill>
              <a:srgbClr val="FCE6E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8" name="">
            <a:extLst xmlns:a="http://schemas.openxmlformats.org/drawingml/2006/main">
              <a:ext uri="{FF2B5EF4-FFF2-40B4-BE49-F238E27FC236}">
                <a16:creationId xmlns:a16="http://schemas.microsoft.com/office/drawing/2014/main" id="{AA0513CD-9F17-4FBC-9D17-69BA4E27B2B3}"/>
              </a:ext>
            </a:extLst>
          </p:cNvPr>
          <p:cNvSpPr>
            <a:spLocks xmlns:a="http://schemas.openxmlformats.org/drawingml/2006/main" noGrp="1"/>
          </p:cNvSpPr>
          <p:nvPr/>
        </p:nvSpPr>
        <p:spPr>
          <a:xfrm xmlns:a="http://schemas.openxmlformats.org/drawingml/2006/main">
            <a:off x="6105525" y="5076825"/>
            <a:ext cx="1476375"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75" b="1" i="0">
                <a:solidFill>
                  <a:srgbClr val="D35656"/>
                </a:solidFill>
              </a:defRPr>
            </a:pPr>
            <a:r>
              <a:rPr sz="675" b="1" i="0">
                <a:solidFill>
                  <a:srgbClr val="D35656"/>
                </a:solidFill>
              </a:rPr>
              <a:t>HUMAN REVIEW</a:t>
            </a:r>
          </a:p>
        </p:txBody>
      </p:sp>
      <p:sp>
        <p:nvSpPr>
          <p:cNvPr id="29" name="">
            <a:extLst xmlns:a="http://schemas.openxmlformats.org/drawingml/2006/main">
              <a:ext uri="{FF2B5EF4-FFF2-40B4-BE49-F238E27FC236}">
                <a16:creationId xmlns:a16="http://schemas.microsoft.com/office/drawing/2014/main" id="{62FF2E7B-B781-47EB-A51A-011293AE21DE}"/>
              </a:ext>
            </a:extLst>
          </p:cNvPr>
          <p:cNvSpPr>
            <a:spLocks xmlns:a="http://schemas.openxmlformats.org/drawingml/2006/main" noGrp="1"/>
          </p:cNvSpPr>
          <p:nvPr/>
        </p:nvSpPr>
        <p:spPr>
          <a:xfrm xmlns:a="http://schemas.openxmlformats.org/drawingml/2006/main">
            <a:off x="6105525" y="5343525"/>
            <a:ext cx="1476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0B1F33"/>
                </a:solidFill>
              </a:defRPr>
            </a:pPr>
            <a:r>
              <a:rPr sz="975" b="1" i="0">
                <a:solidFill>
                  <a:srgbClr val="0B1F33"/>
                </a:solidFill>
              </a:rPr>
              <a:t>urgent / clinical /</a:t>
            </a:r>
          </a:p>
          <a:p xmlns:a="http://schemas.openxmlformats.org/drawingml/2006/main">
            <a:pPr algn="l">
              <a:defRPr sz="975" b="1" i="0">
                <a:solidFill>
                  <a:srgbClr val="0B1F33"/>
                </a:solidFill>
              </a:defRPr>
            </a:pPr>
            <a:r>
              <a:rPr sz="975" b="1" i="0">
                <a:solidFill>
                  <a:srgbClr val="0B1F33"/>
                </a:solidFill>
              </a:rPr>
              <a:t>contradictory</a:t>
            </a:r>
          </a:p>
        </p:txBody>
      </p:sp>
      <p:sp>
        <p:nvSpPr>
          <p:cNvPr id="30" name="Patient update">
            <a:extLst xmlns:a="http://schemas.openxmlformats.org/drawingml/2006/main">
              <a:ext uri="{FF2B5EF4-FFF2-40B4-BE49-F238E27FC236}">
                <a16:creationId xmlns:a16="http://schemas.microsoft.com/office/drawing/2014/main" id="{CCB4AE81-31EE-4B2A-A9B5-6CCB758BB317}"/>
              </a:ext>
            </a:extLst>
          </p:cNvPr>
          <p:cNvSpPr>
            <a:spLocks xmlns:a="http://schemas.openxmlformats.org/drawingml/2006/main" noGrp="1"/>
          </p:cNvSpPr>
          <p:nvPr/>
        </p:nvSpPr>
        <p:spPr>
          <a:xfrm xmlns:a="http://schemas.openxmlformats.org/drawingml/2006/main">
            <a:off x="8115300" y="4943475"/>
            <a:ext cx="1619250" cy="742950"/>
          </a:xfrm>
          <a:prstGeom xmlns:a="http://schemas.openxmlformats.org/drawingml/2006/main" prst="roundRect">
            <a:avLst>
              <a:gd name="adj" fmla="val 15385"/>
            </a:avLst>
          </a:prstGeom>
          <a:solidFill xmlns:a="http://schemas.openxmlformats.org/drawingml/2006/main">
            <a:srgbClr val="DCF6F0"/>
          </a:solidFill>
          <a:ln xmlns:a="http://schemas.openxmlformats.org/drawingml/2006/main" w="9525">
            <a:solidFill>
              <a:srgbClr val="DCF6F0"/>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1" name="">
            <a:extLst xmlns:a="http://schemas.openxmlformats.org/drawingml/2006/main">
              <a:ext uri="{FF2B5EF4-FFF2-40B4-BE49-F238E27FC236}">
                <a16:creationId xmlns:a16="http://schemas.microsoft.com/office/drawing/2014/main" id="{3BC3A5AB-4924-49C7-ABD5-9C7C8999671B}"/>
              </a:ext>
            </a:extLst>
          </p:cNvPr>
          <p:cNvSpPr>
            <a:spLocks xmlns:a="http://schemas.openxmlformats.org/drawingml/2006/main" noGrp="1"/>
          </p:cNvSpPr>
          <p:nvPr/>
        </p:nvSpPr>
        <p:spPr>
          <a:xfrm xmlns:a="http://schemas.openxmlformats.org/drawingml/2006/main">
            <a:off x="8258175" y="5076825"/>
            <a:ext cx="1333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75" b="1" i="0">
                <a:solidFill>
                  <a:srgbClr val="0E9F8E"/>
                </a:solidFill>
              </a:defRPr>
            </a:pPr>
            <a:r>
              <a:rPr sz="675" b="1" i="0">
                <a:solidFill>
                  <a:srgbClr val="0E9F8E"/>
                </a:solidFill>
              </a:rPr>
              <a:t>PATIENT UPDATE</a:t>
            </a:r>
          </a:p>
        </p:txBody>
      </p:sp>
      <p:sp>
        <p:nvSpPr>
          <p:cNvPr id="32" name="">
            <a:extLst xmlns:a="http://schemas.openxmlformats.org/drawingml/2006/main">
              <a:ext uri="{FF2B5EF4-FFF2-40B4-BE49-F238E27FC236}">
                <a16:creationId xmlns:a16="http://schemas.microsoft.com/office/drawing/2014/main" id="{2F8C4FFD-1C40-4766-9FE1-5052AFA6DFC4}"/>
              </a:ext>
            </a:extLst>
          </p:cNvPr>
          <p:cNvSpPr>
            <a:spLocks xmlns:a="http://schemas.openxmlformats.org/drawingml/2006/main" noGrp="1"/>
          </p:cNvSpPr>
          <p:nvPr/>
        </p:nvSpPr>
        <p:spPr>
          <a:xfrm xmlns:a="http://schemas.openxmlformats.org/drawingml/2006/main">
            <a:off x="8258175" y="5343525"/>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0B1F33"/>
                </a:solidFill>
              </a:defRPr>
            </a:pPr>
            <a:r>
              <a:rPr sz="975" b="1" i="0">
                <a:solidFill>
                  <a:srgbClr val="0B1F33"/>
                </a:solidFill>
              </a:rPr>
              <a:t>only after</a:t>
            </a:r>
          </a:p>
          <a:p xmlns:a="http://schemas.openxmlformats.org/drawingml/2006/main">
            <a:pPr algn="l">
              <a:defRPr sz="975" b="1" i="0">
                <a:solidFill>
                  <a:srgbClr val="0B1F33"/>
                </a:solidFill>
              </a:defRPr>
            </a:pPr>
            <a:r>
              <a:rPr sz="975" b="1" i="0">
                <a:solidFill>
                  <a:srgbClr val="0B1F33"/>
                </a:solidFill>
              </a:rPr>
              <a:t>verified outcome</a:t>
            </a:r>
          </a:p>
        </p:txBody>
      </p:sp>
      <p:cxnSp>
        <p:nvCxnSpPr>
          <p:cNvPr id="77" name=""/>
          <p:cNvCxnSpPr>
            <a:stCxn xmlns:a="http://schemas.openxmlformats.org/drawingml/2006/main" id="6" idx="3"/>
            <a:endCxn xmlns:a="http://schemas.openxmlformats.org/drawingml/2006/main" id="9" idx="1"/>
          </p:cNvCxnSpPr>
          <p:nvPr/>
        </p:nvCxnSpPr>
        <p:spPr>
          <a:xfrm xmlns:a="http://schemas.openxmlformats.org/drawingml/2006/main">
            <a:off x="1885950" y="3633788"/>
            <a:ext cx="361950" cy="0"/>
          </a:xfrm>
          <a:prstGeom xmlns:a="http://schemas.openxmlformats.org/drawingml/2006/main" prst="straightConnector1">
            <a:avLst/>
          </a:prstGeom>
          <a:ln xmlns:a="http://schemas.openxmlformats.org/drawingml/2006/main" w="19050">
            <a:solidFill>
              <a:srgbClr val="3D8DFF"/>
            </a:solidFill>
            <a:prstDash val="solid"/>
            <a:headEnd type="arrow" w="sm" len="sm"/>
          </a:ln>
        </p:spPr>
      </p:cxnSp>
      <p:cxnSp>
        <p:nvCxnSpPr>
          <p:cNvPr id="78" name=""/>
          <p:cNvCxnSpPr>
            <a:stCxn xmlns:a="http://schemas.openxmlformats.org/drawingml/2006/main" id="9" idx="3"/>
            <a:endCxn xmlns:a="http://schemas.openxmlformats.org/drawingml/2006/main" id="12" idx="1"/>
          </p:cNvCxnSpPr>
          <p:nvPr/>
        </p:nvCxnSpPr>
        <p:spPr>
          <a:xfrm xmlns:a="http://schemas.openxmlformats.org/drawingml/2006/main">
            <a:off x="3771900" y="3633788"/>
            <a:ext cx="371475" cy="0"/>
          </a:xfrm>
          <a:prstGeom xmlns:a="http://schemas.openxmlformats.org/drawingml/2006/main" prst="straightConnector1">
            <a:avLst/>
          </a:prstGeom>
          <a:ln xmlns:a="http://schemas.openxmlformats.org/drawingml/2006/main" w="19050">
            <a:solidFill>
              <a:srgbClr val="5F6D80"/>
            </a:solidFill>
            <a:prstDash val="solid"/>
            <a:headEnd type="arrow" w="sm" len="sm"/>
          </a:ln>
        </p:spPr>
      </p:cxnSp>
      <p:cxnSp>
        <p:nvCxnSpPr>
          <p:cNvPr id="79" name=""/>
          <p:cNvCxnSpPr>
            <a:stCxn xmlns:a="http://schemas.openxmlformats.org/drawingml/2006/main" id="12" idx="3"/>
            <a:endCxn xmlns:a="http://schemas.openxmlformats.org/drawingml/2006/main" id="15" idx="1"/>
          </p:cNvCxnSpPr>
          <p:nvPr/>
        </p:nvCxnSpPr>
        <p:spPr>
          <a:xfrm xmlns:a="http://schemas.openxmlformats.org/drawingml/2006/main" flipV="1">
            <a:off x="5572125" y="3629025"/>
            <a:ext cx="390525" cy="4763"/>
          </a:xfrm>
          <a:prstGeom xmlns:a="http://schemas.openxmlformats.org/drawingml/2006/main" prst="bentConnector3">
            <a:avLst>
              <a:gd name="adj1" fmla="val 50000"/>
            </a:avLst>
          </a:prstGeom>
          <a:ln xmlns:a="http://schemas.openxmlformats.org/drawingml/2006/main" w="19050">
            <a:solidFill>
              <a:srgbClr val="0E9F8E"/>
            </a:solidFill>
            <a:prstDash val="solid"/>
            <a:headEnd type="arrow" w="sm" len="sm"/>
          </a:ln>
        </p:spPr>
      </p:cxnSp>
      <p:cxnSp>
        <p:nvCxnSpPr>
          <p:cNvPr id="80" name=""/>
          <p:cNvCxnSpPr>
            <a:stCxn xmlns:a="http://schemas.openxmlformats.org/drawingml/2006/main" id="15" idx="3"/>
            <a:endCxn xmlns:a="http://schemas.openxmlformats.org/drawingml/2006/main" id="18" idx="1"/>
          </p:cNvCxnSpPr>
          <p:nvPr/>
        </p:nvCxnSpPr>
        <p:spPr>
          <a:xfrm xmlns:a="http://schemas.openxmlformats.org/drawingml/2006/main">
            <a:off x="7724775" y="3629025"/>
            <a:ext cx="390525" cy="0"/>
          </a:xfrm>
          <a:prstGeom xmlns:a="http://schemas.openxmlformats.org/drawingml/2006/main" prst="straightConnector1">
            <a:avLst/>
          </a:prstGeom>
          <a:ln xmlns:a="http://schemas.openxmlformats.org/drawingml/2006/main" w="19050">
            <a:solidFill>
              <a:srgbClr val="0E9F8E"/>
            </a:solidFill>
            <a:prstDash val="solid"/>
            <a:headEnd type="arrow" w="sm" len="sm"/>
          </a:ln>
        </p:spPr>
      </p:cxnSp>
      <p:cxnSp>
        <p:nvCxnSpPr>
          <p:cNvPr id="81" name=""/>
          <p:cNvCxnSpPr>
            <a:stCxn xmlns:a="http://schemas.openxmlformats.org/drawingml/2006/main" id="18" idx="3"/>
            <a:endCxn xmlns:a="http://schemas.openxmlformats.org/drawingml/2006/main" id="21" idx="1"/>
          </p:cNvCxnSpPr>
          <p:nvPr/>
        </p:nvCxnSpPr>
        <p:spPr>
          <a:xfrm xmlns:a="http://schemas.openxmlformats.org/drawingml/2006/main" flipV="1">
            <a:off x="9734550" y="2971800"/>
            <a:ext cx="381000" cy="657225"/>
          </a:xfrm>
          <a:prstGeom xmlns:a="http://schemas.openxmlformats.org/drawingml/2006/main" prst="bentConnector3">
            <a:avLst>
              <a:gd name="adj1" fmla="val 50000"/>
            </a:avLst>
          </a:prstGeom>
          <a:ln xmlns:a="http://schemas.openxmlformats.org/drawingml/2006/main" w="19050">
            <a:solidFill>
              <a:srgbClr val="E6A037"/>
            </a:solidFill>
            <a:prstDash val="solid"/>
            <a:headEnd type="arrow" w="sm" len="sm"/>
          </a:ln>
        </p:spPr>
      </p:cxnSp>
      <p:cxnSp>
        <p:nvCxnSpPr>
          <p:cNvPr id="82" name=""/>
          <p:cNvCxnSpPr>
            <a:stCxn xmlns:a="http://schemas.openxmlformats.org/drawingml/2006/main" id="18" idx="3"/>
            <a:endCxn xmlns:a="http://schemas.openxmlformats.org/drawingml/2006/main" id="24" idx="1"/>
          </p:cNvCxnSpPr>
          <p:nvPr/>
        </p:nvCxnSpPr>
        <p:spPr>
          <a:xfrm xmlns:a="http://schemas.openxmlformats.org/drawingml/2006/main">
            <a:off x="9734550" y="3629025"/>
            <a:ext cx="381000" cy="542925"/>
          </a:xfrm>
          <a:prstGeom xmlns:a="http://schemas.openxmlformats.org/drawingml/2006/main" prst="bentConnector3">
            <a:avLst>
              <a:gd name="adj1" fmla="val 50000"/>
            </a:avLst>
          </a:prstGeom>
          <a:ln xmlns:a="http://schemas.openxmlformats.org/drawingml/2006/main" w="19050">
            <a:solidFill>
              <a:srgbClr val="3D8DFF"/>
            </a:solidFill>
            <a:prstDash val="solid"/>
            <a:headEnd type="arrow" w="sm" len="sm"/>
          </a:ln>
        </p:spPr>
      </p:cxnSp>
      <p:cxnSp>
        <p:nvCxnSpPr>
          <p:cNvPr id="83" name=""/>
          <p:cNvCxnSpPr>
            <a:stCxn xmlns:a="http://schemas.openxmlformats.org/drawingml/2006/main" id="15" idx="2"/>
            <a:endCxn xmlns:a="http://schemas.openxmlformats.org/drawingml/2006/main" id="27" idx="0"/>
          </p:cNvCxnSpPr>
          <p:nvPr/>
        </p:nvCxnSpPr>
        <p:spPr>
          <a:xfrm xmlns:a="http://schemas.openxmlformats.org/drawingml/2006/main">
            <a:off x="6843713" y="4257675"/>
            <a:ext cx="0" cy="685800"/>
          </a:xfrm>
          <a:prstGeom xmlns:a="http://schemas.openxmlformats.org/drawingml/2006/main" prst="straightConnector1">
            <a:avLst/>
          </a:prstGeom>
          <a:ln xmlns:a="http://schemas.openxmlformats.org/drawingml/2006/main" w="19050">
            <a:solidFill>
              <a:srgbClr val="D35656"/>
            </a:solidFill>
            <a:prstDash val="solid"/>
            <a:headEnd type="arrow" w="sm" len="sm"/>
          </a:ln>
        </p:spPr>
      </p:cxnSp>
      <p:cxnSp>
        <p:nvCxnSpPr>
          <p:cNvPr id="84" name=""/>
          <p:cNvCxnSpPr>
            <a:stCxn xmlns:a="http://schemas.openxmlformats.org/drawingml/2006/main" id="18" idx="2"/>
            <a:endCxn xmlns:a="http://schemas.openxmlformats.org/drawingml/2006/main" id="30" idx="0"/>
          </p:cNvCxnSpPr>
          <p:nvPr/>
        </p:nvCxnSpPr>
        <p:spPr>
          <a:xfrm xmlns:a="http://schemas.openxmlformats.org/drawingml/2006/main">
            <a:off x="8924925" y="4257675"/>
            <a:ext cx="0" cy="685800"/>
          </a:xfrm>
          <a:prstGeom xmlns:a="http://schemas.openxmlformats.org/drawingml/2006/main" prst="straightConnector1">
            <a:avLst/>
          </a:prstGeom>
          <a:ln xmlns:a="http://schemas.openxmlformats.org/drawingml/2006/main" w="19050">
            <a:solidFill>
              <a:srgbClr val="0E9F8E"/>
            </a:solidFill>
            <a:prstDash val="solid"/>
            <a:headEnd type="arrow" w="sm" len="sm"/>
          </a:ln>
        </p:spPr>
      </p:cxnSp>
      <p:cxnSp>
        <p:nvCxnSpPr>
          <p:cNvPr id="85" name=""/>
          <p:cNvCxnSpPr>
            <a:stCxn xmlns:a="http://schemas.openxmlformats.org/drawingml/2006/main" id="30" idx="1"/>
            <a:endCxn xmlns:a="http://schemas.openxmlformats.org/drawingml/2006/main" id="6" idx="2"/>
          </p:cNvCxnSpPr>
          <p:nvPr/>
        </p:nvCxnSpPr>
        <p:spPr>
          <a:xfrm xmlns:a="http://schemas.openxmlformats.org/drawingml/2006/main" flipH="1" flipV="1">
            <a:off x="1171575" y="4086225"/>
            <a:ext cx="6943725" cy="1228725"/>
          </a:xfrm>
          <a:prstGeom xmlns:a="http://schemas.openxmlformats.org/drawingml/2006/main" prst="bentConnector4">
            <a:avLst>
              <a:gd name="adj1" fmla="val 3292"/>
              <a:gd name="adj2" fmla="val 76744"/>
            </a:avLst>
          </a:prstGeom>
          <a:ln xmlns:a="http://schemas.openxmlformats.org/drawingml/2006/main" w="19050">
            <a:solidFill>
              <a:srgbClr val="0E9F8E"/>
            </a:solidFill>
            <a:prstDash val="solid"/>
            <a:headEnd type="arrow" w="sm" len="sm"/>
          </a:ln>
        </p:spPr>
      </p:cxnSp>
      <p:sp>
        <p:nvSpPr>
          <p:cNvPr id="42" name="">
            <a:extLst xmlns:a="http://schemas.openxmlformats.org/drawingml/2006/main">
              <a:ext uri="{FF2B5EF4-FFF2-40B4-BE49-F238E27FC236}">
                <a16:creationId xmlns:a16="http://schemas.microsoft.com/office/drawing/2014/main" id="{52E7E095-A9EE-4433-90A6-CD9D1A99D199}"/>
              </a:ext>
            </a:extLst>
          </p:cNvPr>
          <p:cNvSpPr>
            <a:spLocks xmlns:a="http://schemas.openxmlformats.org/drawingml/2006/main" noGrp="1"/>
          </p:cNvSpPr>
          <p:nvPr/>
        </p:nvSpPr>
        <p:spPr>
          <a:xfrm xmlns:a="http://schemas.openxmlformats.org/drawingml/2006/main">
            <a:off x="457200" y="5934075"/>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i="0">
                <a:solidFill>
                  <a:srgbClr val="0B1F33"/>
                </a:solidFill>
              </a:defRPr>
            </a:pPr>
            <a:r>
              <a:rPr sz="1200" b="1" i="0">
                <a:solidFill>
                  <a:srgbClr val="0B1F33"/>
                </a:solidFill>
              </a:rPr>
              <a:t>Every transition is explicit. Every side effect is isolated. Every closure is verified.</a:t>
            </a:r>
          </a:p>
        </p:txBody>
      </p:sp>
      <p:sp>
        <p:nvSpPr>
          <p:cNvPr id="43" name="">
            <a:extLst xmlns:a="http://schemas.openxmlformats.org/drawingml/2006/main">
              <a:ext uri="{FF2B5EF4-FFF2-40B4-BE49-F238E27FC236}">
                <a16:creationId xmlns:a16="http://schemas.microsoft.com/office/drawing/2014/main" id="{9C91E9E1-4C3B-4224-9DF9-BDBDAE963599}"/>
              </a:ext>
            </a:extLst>
          </p:cNvPr>
          <p:cNvSpPr>
            <a:spLocks xmlns:a="http://schemas.openxmlformats.org/drawingml/2006/main" noGrp="1"/>
          </p:cNvSpPr>
          <p:nvPr/>
        </p:nvSpPr>
        <p:spPr>
          <a:xfrm xmlns:a="http://schemas.openxmlformats.org/drawingml/2006/main">
            <a:off x="457200" y="6457950"/>
            <a:ext cx="85725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75" b="0" i="0">
                <a:solidFill>
                  <a:srgbClr val="8090A1"/>
                </a:solidFill>
              </a:defRPr>
            </a:pPr>
            <a:r>
              <a:rPr sz="675" b="0" i="0">
                <a:solidFill>
                  <a:srgbClr val="8090A1"/>
                </a:solidFill>
              </a:rPr>
              <a:t>Provider-specific code lives in one guarded adapter; the safety model is provider-neutral.</a:t>
            </a:r>
          </a:p>
        </p:txBody>
      </p:sp>
      <p:sp>
        <p:nvSpPr>
          <p:cNvPr id="44" name="">
            <a:extLst xmlns:a="http://schemas.openxmlformats.org/drawingml/2006/main">
              <a:ext uri="{FF2B5EF4-FFF2-40B4-BE49-F238E27FC236}">
                <a16:creationId xmlns:a16="http://schemas.microsoft.com/office/drawing/2014/main" id="{F08560FA-36B4-4C29-B3B9-16FD7264535F}"/>
              </a:ext>
            </a:extLst>
          </p:cNvPr>
          <p:cNvSpPr>
            <a:spLocks xmlns:a="http://schemas.openxmlformats.org/drawingml/2006/main" noGrp="1"/>
          </p:cNvSpPr>
          <p:nvPr/>
        </p:nvSpPr>
        <p:spPr>
          <a:xfrm xmlns:a="http://schemas.openxmlformats.org/drawingml/2006/main">
            <a:off x="8382000" y="6457950"/>
            <a:ext cx="3352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675" b="0" i="0">
                <a:solidFill>
                  <a:srgbClr val="8090A1"/>
                </a:solidFill>
              </a:defRPr>
            </a:pPr>
            <a:r>
              <a:rPr sz="675" b="0" i="0">
                <a:solidFill>
                  <a:srgbClr val="8090A1"/>
                </a:solidFill>
              </a:rPr>
              <a:t>A1MOBILE VOICE AI HACKATHON · 2026</a:t>
            </a:r>
          </a:p>
        </p:txBody>
      </p:sp>
    </p:spTree>
    <p:extLst>
      <p:ext uri="{BB962C8B-B14F-4D97-AF65-F5344CB8AC3E}">
        <p14:creationId xmlns:p14="http://schemas.microsoft.com/office/powerpoint/2010/main" val="1285706924"/>
      </p:ext>
    </p:extLst>
  </p:cSld>
</p:sld>
</file>

<file path=ppt/slides/slide9.xml><?xml version="1.0" encoding="utf-8"?>
<p:sld xmlns:p="http://schemas.openxmlformats.org/presentationml/2006/main">
  <p:cSld>
    <p:bg>
      <p:bgPr>
        <a:solidFill xmlns:a="http://schemas.openxmlformats.org/drawingml/2006/main">
          <a:srgbClr val="F3F5F7"/>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1920239C-5345-44AB-94C5-61CD40AB4EF7}"/>
              </a:ext>
            </a:extLst>
          </p:cNvPr>
          <p:cNvSpPr>
            <a:spLocks xmlns:a="http://schemas.openxmlformats.org/drawingml/2006/main" noGrp="1"/>
          </p:cNvSpPr>
          <p:nvPr/>
        </p:nvSpPr>
        <p:spPr>
          <a:xfrm xmlns:a="http://schemas.openxmlformats.org/drawingml/2006/main">
            <a:off x="457200" y="314325"/>
            <a:ext cx="590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750" b="1" i="0">
                <a:solidFill>
                  <a:srgbClr val="5F6D80"/>
                </a:solidFill>
              </a:defRPr>
            </a:pPr>
            <a:r>
              <a:rPr sz="750" b="1" i="0">
                <a:solidFill>
                  <a:srgbClr val="5F6D80"/>
                </a:solidFill>
              </a:rPr>
              <a:t>TRUST BY CONSTRUCTION</a:t>
            </a:r>
          </a:p>
        </p:txBody>
      </p:sp>
      <p:sp>
        <p:nvSpPr>
          <p:cNvPr id="2" name="">
            <a:extLst xmlns:a="http://schemas.openxmlformats.org/drawingml/2006/main">
              <a:ext uri="{FF2B5EF4-FFF2-40B4-BE49-F238E27FC236}">
                <a16:creationId xmlns:a16="http://schemas.microsoft.com/office/drawing/2014/main" id="{B4D06BE2-8048-4FB2-92FD-39433BB195BD}"/>
              </a:ext>
            </a:extLst>
          </p:cNvPr>
          <p:cNvSpPr>
            <a:spLocks xmlns:a="http://schemas.openxmlformats.org/drawingml/2006/main" noGrp="1"/>
          </p:cNvSpPr>
          <p:nvPr/>
        </p:nvSpPr>
        <p:spPr>
          <a:xfrm xmlns:a="http://schemas.openxmlformats.org/drawingml/2006/main">
            <a:off x="9639300" y="314325"/>
            <a:ext cx="209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750" b="1" i="0">
                <a:solidFill>
                  <a:srgbClr val="5F6D80"/>
                </a:solidFill>
              </a:defRPr>
            </a:pPr>
            <a:r>
              <a:rPr sz="750" b="1" i="0">
                <a:solidFill>
                  <a:srgbClr val="5F6D80"/>
                </a:solidFill>
              </a:rPr>
              <a:t>RXRELAY  /  09</a:t>
            </a:r>
          </a:p>
        </p:txBody>
      </p:sp>
      <p:sp>
        <p:nvSpPr>
          <p:cNvPr id="3" name="">
            <a:extLst xmlns:a="http://schemas.openxmlformats.org/drawingml/2006/main">
              <a:ext uri="{FF2B5EF4-FFF2-40B4-BE49-F238E27FC236}">
                <a16:creationId xmlns:a16="http://schemas.microsoft.com/office/drawing/2014/main" id="{295C29FF-7FFB-4B0E-972A-6D62BD3F2635}"/>
              </a:ext>
            </a:extLst>
          </p:cNvPr>
          <p:cNvSpPr>
            <a:spLocks xmlns:a="http://schemas.openxmlformats.org/drawingml/2006/main" noGrp="1"/>
          </p:cNvSpPr>
          <p:nvPr/>
        </p:nvSpPr>
        <p:spPr>
          <a:xfrm xmlns:a="http://schemas.openxmlformats.org/drawingml/2006/main">
            <a:off x="457200" y="552450"/>
            <a:ext cx="11277600" cy="9525"/>
          </a:xfrm>
          <a:prstGeom xmlns:a="http://schemas.openxmlformats.org/drawingml/2006/main" prst="rect">
            <a:avLst/>
          </a:prstGeom>
          <a:solidFill xmlns:a="http://schemas.openxmlformats.org/drawingml/2006/main">
            <a:srgbClr val="D8E0E7"/>
          </a:solidFill>
          <a:ln xmlns:a="http://schemas.openxmlformats.org/drawingml/2006/main" w="0">
            <a:solidFill>
              <a:srgbClr val="D8E0E7"/>
            </a:solidFill>
            <a:prstDash val="solid"/>
          </a:ln>
        </p:spPr>
      </p:sp>
      <p:sp>
        <p:nvSpPr>
          <p:cNvPr id="4" name="title">
            <a:extLst xmlns:a="http://schemas.openxmlformats.org/drawingml/2006/main">
              <a:ext uri="{FF2B5EF4-FFF2-40B4-BE49-F238E27FC236}">
                <a16:creationId xmlns:a16="http://schemas.microsoft.com/office/drawing/2014/main" id="{883D12EF-B4F7-4D22-822A-50A93334C6E0}"/>
              </a:ext>
            </a:extLst>
          </p:cNvPr>
          <p:cNvSpPr>
            <a:spLocks xmlns:a="http://schemas.openxmlformats.org/drawingml/2006/main" noGrp="1"/>
          </p:cNvSpPr>
          <p:nvPr/>
        </p:nvSpPr>
        <p:spPr>
          <a:xfrm xmlns:a="http://schemas.openxmlformats.org/drawingml/2006/main">
            <a:off x="457200" y="876300"/>
            <a:ext cx="8096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525" b="1" i="0">
                <a:solidFill>
                  <a:srgbClr val="0B1F33"/>
                </a:solidFill>
              </a:defRPr>
            </a:pPr>
            <a:r>
              <a:rPr sz="3525" b="1" i="0">
                <a:solidFill>
                  <a:srgbClr val="0B1F33"/>
                </a:solidFill>
              </a:rPr>
              <a:t>The wow factor is that it knows when not to act.</a:t>
            </a:r>
          </a:p>
        </p:txBody>
      </p:sp>
      <p:sp>
        <p:nvSpPr>
          <p:cNvPr id="5" name="subtitle">
            <a:extLst xmlns:a="http://schemas.openxmlformats.org/drawingml/2006/main">
              <a:ext uri="{FF2B5EF4-FFF2-40B4-BE49-F238E27FC236}">
                <a16:creationId xmlns:a16="http://schemas.microsoft.com/office/drawing/2014/main" id="{9C66FF02-DF9E-478D-8436-EE6B1137531E}"/>
              </a:ext>
            </a:extLst>
          </p:cNvPr>
          <p:cNvSpPr>
            <a:spLocks xmlns:a="http://schemas.openxmlformats.org/drawingml/2006/main" noGrp="1"/>
          </p:cNvSpPr>
          <p:nvPr/>
        </p:nvSpPr>
        <p:spPr>
          <a:xfrm xmlns:a="http://schemas.openxmlformats.org/drawingml/2006/main">
            <a:off x="457200" y="1866900"/>
            <a:ext cx="7143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5F6D80"/>
                </a:solidFill>
              </a:defRPr>
            </a:pPr>
            <a:r>
              <a:rPr sz="1350" b="0" i="0">
                <a:solidFill>
                  <a:srgbClr val="5F6D80"/>
                </a:solidFill>
              </a:rPr>
              <a:t>RxRelay is aggressively useful inside a narrow boundary—and visibly humble outside it.</a:t>
            </a:r>
          </a:p>
        </p:txBody>
      </p:sp>
      <p:sp>
        <p:nvSpPr>
          <p:cNvPr id="6" name="">
            <a:extLst xmlns:a="http://schemas.openxmlformats.org/drawingml/2006/main">
              <a:ext uri="{FF2B5EF4-FFF2-40B4-BE49-F238E27FC236}">
                <a16:creationId xmlns:a16="http://schemas.microsoft.com/office/drawing/2014/main" id="{AC8E251D-ADE1-4C18-A66E-BFDBA2DF133C}"/>
              </a:ext>
            </a:extLst>
          </p:cNvPr>
          <p:cNvSpPr>
            <a:spLocks xmlns:a="http://schemas.openxmlformats.org/drawingml/2006/main" noGrp="1"/>
          </p:cNvSpPr>
          <p:nvPr/>
        </p:nvSpPr>
        <p:spPr>
          <a:xfrm xmlns:a="http://schemas.openxmlformats.org/drawingml/2006/main">
            <a:off x="457200" y="3276600"/>
            <a:ext cx="5257800" cy="2133600"/>
          </a:xfrm>
          <a:prstGeom xmlns:a="http://schemas.openxmlformats.org/drawingml/2006/main" prst="roundRect">
            <a:avLst>
              <a:gd name="adj" fmla="val 5357"/>
            </a:avLst>
          </a:prstGeom>
          <a:solidFill xmlns:a="http://schemas.openxmlformats.org/drawingml/2006/main">
            <a:srgbClr val="DCF6F0"/>
          </a:solidFill>
          <a:ln xmlns:a="http://schemas.openxmlformats.org/drawingml/2006/main" w="9525">
            <a:solidFill>
              <a:srgbClr val="DCF6F0"/>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ECFD3288-9712-440A-8566-8EF21E9F850D}"/>
              </a:ext>
            </a:extLst>
          </p:cNvPr>
          <p:cNvSpPr>
            <a:spLocks xmlns:a="http://schemas.openxmlformats.org/drawingml/2006/main" noGrp="1"/>
          </p:cNvSpPr>
          <p:nvPr/>
        </p:nvSpPr>
        <p:spPr>
          <a:xfrm xmlns:a="http://schemas.openxmlformats.org/drawingml/2006/main">
            <a:off x="714375" y="3552825"/>
            <a:ext cx="16192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750" b="1" i="0">
                <a:solidFill>
                  <a:srgbClr val="0E9F8E"/>
                </a:solidFill>
              </a:defRPr>
            </a:pPr>
            <a:r>
              <a:rPr sz="750" b="1" i="0">
                <a:solidFill>
                  <a:srgbClr val="0E9F8E"/>
                </a:solidFill>
              </a:rPr>
              <a:t>CAN DO</a:t>
            </a:r>
          </a:p>
        </p:txBody>
      </p:sp>
      <p:sp>
        <p:nvSpPr>
          <p:cNvPr id="8" name="">
            <a:extLst xmlns:a="http://schemas.openxmlformats.org/drawingml/2006/main">
              <a:ext uri="{FF2B5EF4-FFF2-40B4-BE49-F238E27FC236}">
                <a16:creationId xmlns:a16="http://schemas.microsoft.com/office/drawing/2014/main" id="{BFDDB416-87B4-4974-813A-8E23FBD597AC}"/>
              </a:ext>
            </a:extLst>
          </p:cNvPr>
          <p:cNvSpPr>
            <a:spLocks xmlns:a="http://schemas.openxmlformats.org/drawingml/2006/main" noGrp="1"/>
          </p:cNvSpPr>
          <p:nvPr/>
        </p:nvSpPr>
        <p:spPr>
          <a:xfrm xmlns:a="http://schemas.openxmlformats.org/drawingml/2006/main">
            <a:off x="733425" y="3981450"/>
            <a:ext cx="104775" cy="104775"/>
          </a:xfrm>
          <a:prstGeom xmlns:a="http://schemas.openxmlformats.org/drawingml/2006/main" prst="ellipse">
            <a:avLst/>
          </a:prstGeom>
          <a:solidFill xmlns:a="http://schemas.openxmlformats.org/drawingml/2006/main">
            <a:srgbClr val="0E9F8E"/>
          </a:solidFill>
          <a:ln xmlns:a="http://schemas.openxmlformats.org/drawingml/2006/main" w="0">
            <a:solidFill>
              <a:srgbClr val="0E9F8E"/>
            </a:solidFill>
            <a:prstDash val="solid"/>
          </a:ln>
        </p:spPr>
      </p:sp>
      <p:sp>
        <p:nvSpPr>
          <p:cNvPr id="9" name="">
            <a:extLst xmlns:a="http://schemas.openxmlformats.org/drawingml/2006/main">
              <a:ext uri="{FF2B5EF4-FFF2-40B4-BE49-F238E27FC236}">
                <a16:creationId xmlns:a16="http://schemas.microsoft.com/office/drawing/2014/main" id="{43EEE36E-6D06-484D-BEA0-E35B9A8F269B}"/>
              </a:ext>
            </a:extLst>
          </p:cNvPr>
          <p:cNvSpPr>
            <a:spLocks xmlns:a="http://schemas.openxmlformats.org/drawingml/2006/main" noGrp="1"/>
          </p:cNvSpPr>
          <p:nvPr/>
        </p:nvSpPr>
        <p:spPr>
          <a:xfrm xmlns:a="http://schemas.openxmlformats.org/drawingml/2006/main">
            <a:off x="942975" y="3943350"/>
            <a:ext cx="4095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i="0">
                <a:solidFill>
                  <a:srgbClr val="0B1F33"/>
                </a:solidFill>
              </a:defRPr>
            </a:pPr>
            <a:r>
              <a:rPr sz="1050" b="1" i="0">
                <a:solidFill>
                  <a:srgbClr val="0B1F33"/>
                </a:solidFill>
              </a:rPr>
              <a:t>Record explicit coordination consent</a:t>
            </a:r>
          </a:p>
        </p:txBody>
      </p:sp>
      <p:sp>
        <p:nvSpPr>
          <p:cNvPr id="10" name="">
            <a:extLst xmlns:a="http://schemas.openxmlformats.org/drawingml/2006/main">
              <a:ext uri="{FF2B5EF4-FFF2-40B4-BE49-F238E27FC236}">
                <a16:creationId xmlns:a16="http://schemas.microsoft.com/office/drawing/2014/main" id="{AD55D295-E8C9-451B-AFD9-43EE2C7E0882}"/>
              </a:ext>
            </a:extLst>
          </p:cNvPr>
          <p:cNvSpPr>
            <a:spLocks xmlns:a="http://schemas.openxmlformats.org/drawingml/2006/main" noGrp="1"/>
          </p:cNvSpPr>
          <p:nvPr/>
        </p:nvSpPr>
        <p:spPr>
          <a:xfrm xmlns:a="http://schemas.openxmlformats.org/drawingml/2006/main">
            <a:off x="733425" y="4276725"/>
            <a:ext cx="104775" cy="104775"/>
          </a:xfrm>
          <a:prstGeom xmlns:a="http://schemas.openxmlformats.org/drawingml/2006/main" prst="ellipse">
            <a:avLst/>
          </a:prstGeom>
          <a:solidFill xmlns:a="http://schemas.openxmlformats.org/drawingml/2006/main">
            <a:srgbClr val="0E9F8E"/>
          </a:solidFill>
          <a:ln xmlns:a="http://schemas.openxmlformats.org/drawingml/2006/main" w="0">
            <a:solidFill>
              <a:srgbClr val="0E9F8E"/>
            </a:solidFill>
            <a:prstDash val="solid"/>
          </a:ln>
        </p:spPr>
      </p:sp>
      <p:sp>
        <p:nvSpPr>
          <p:cNvPr id="11" name="">
            <a:extLst xmlns:a="http://schemas.openxmlformats.org/drawingml/2006/main">
              <a:ext uri="{FF2B5EF4-FFF2-40B4-BE49-F238E27FC236}">
                <a16:creationId xmlns:a16="http://schemas.microsoft.com/office/drawing/2014/main" id="{16331FC5-25C5-42CB-AABD-554830D17A95}"/>
              </a:ext>
            </a:extLst>
          </p:cNvPr>
          <p:cNvSpPr>
            <a:spLocks xmlns:a="http://schemas.openxmlformats.org/drawingml/2006/main" noGrp="1"/>
          </p:cNvSpPr>
          <p:nvPr/>
        </p:nvSpPr>
        <p:spPr>
          <a:xfrm xmlns:a="http://schemas.openxmlformats.org/drawingml/2006/main">
            <a:off x="942975" y="4238625"/>
            <a:ext cx="4095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i="0">
                <a:solidFill>
                  <a:srgbClr val="0B1F33"/>
                </a:solidFill>
              </a:defRPr>
            </a:pPr>
            <a:r>
              <a:rPr sz="1050" b="1" i="0">
                <a:solidFill>
                  <a:srgbClr val="0B1F33"/>
                </a:solidFill>
              </a:rPr>
              <a:t>Check a non-clinical status</a:t>
            </a:r>
          </a:p>
        </p:txBody>
      </p:sp>
      <p:sp>
        <p:nvSpPr>
          <p:cNvPr id="12" name="">
            <a:extLst xmlns:a="http://schemas.openxmlformats.org/drawingml/2006/main">
              <a:ext uri="{FF2B5EF4-FFF2-40B4-BE49-F238E27FC236}">
                <a16:creationId xmlns:a16="http://schemas.microsoft.com/office/drawing/2014/main" id="{55AC37A3-F273-47BB-A44C-A0971E6CFA3F}"/>
              </a:ext>
            </a:extLst>
          </p:cNvPr>
          <p:cNvSpPr>
            <a:spLocks xmlns:a="http://schemas.openxmlformats.org/drawingml/2006/main" noGrp="1"/>
          </p:cNvSpPr>
          <p:nvPr/>
        </p:nvSpPr>
        <p:spPr>
          <a:xfrm xmlns:a="http://schemas.openxmlformats.org/drawingml/2006/main">
            <a:off x="733425" y="4572000"/>
            <a:ext cx="104775" cy="104775"/>
          </a:xfrm>
          <a:prstGeom xmlns:a="http://schemas.openxmlformats.org/drawingml/2006/main" prst="ellipse">
            <a:avLst/>
          </a:prstGeom>
          <a:solidFill xmlns:a="http://schemas.openxmlformats.org/drawingml/2006/main">
            <a:srgbClr val="0E9F8E"/>
          </a:solidFill>
          <a:ln xmlns:a="http://schemas.openxmlformats.org/drawingml/2006/main" w="0">
            <a:solidFill>
              <a:srgbClr val="0E9F8E"/>
            </a:solidFill>
            <a:prstDash val="solid"/>
          </a:ln>
        </p:spPr>
      </p:sp>
      <p:sp>
        <p:nvSpPr>
          <p:cNvPr id="13" name="">
            <a:extLst xmlns:a="http://schemas.openxmlformats.org/drawingml/2006/main">
              <a:ext uri="{FF2B5EF4-FFF2-40B4-BE49-F238E27FC236}">
                <a16:creationId xmlns:a16="http://schemas.microsoft.com/office/drawing/2014/main" id="{F1B1430F-C496-4440-9EE6-2B062A8D8170}"/>
              </a:ext>
            </a:extLst>
          </p:cNvPr>
          <p:cNvSpPr>
            <a:spLocks xmlns:a="http://schemas.openxmlformats.org/drawingml/2006/main" noGrp="1"/>
          </p:cNvSpPr>
          <p:nvPr/>
        </p:nvSpPr>
        <p:spPr>
          <a:xfrm xmlns:a="http://schemas.openxmlformats.org/drawingml/2006/main">
            <a:off x="942975" y="4533900"/>
            <a:ext cx="4095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i="0">
                <a:solidFill>
                  <a:srgbClr val="0B1F33"/>
                </a:solidFill>
              </a:defRPr>
            </a:pPr>
            <a:r>
              <a:rPr sz="1050" b="1" i="0">
                <a:solidFill>
                  <a:srgbClr val="0B1F33"/>
                </a:solidFill>
              </a:rPr>
              <a:t>Document counterpart outcomes</a:t>
            </a:r>
          </a:p>
        </p:txBody>
      </p:sp>
      <p:sp>
        <p:nvSpPr>
          <p:cNvPr id="14" name="">
            <a:extLst xmlns:a="http://schemas.openxmlformats.org/drawingml/2006/main">
              <a:ext uri="{FF2B5EF4-FFF2-40B4-BE49-F238E27FC236}">
                <a16:creationId xmlns:a16="http://schemas.microsoft.com/office/drawing/2014/main" id="{40D7E205-1D75-4B4C-AF7F-056BE2DB1E11}"/>
              </a:ext>
            </a:extLst>
          </p:cNvPr>
          <p:cNvSpPr>
            <a:spLocks xmlns:a="http://schemas.openxmlformats.org/drawingml/2006/main" noGrp="1"/>
          </p:cNvSpPr>
          <p:nvPr/>
        </p:nvSpPr>
        <p:spPr>
          <a:xfrm xmlns:a="http://schemas.openxmlformats.org/drawingml/2006/main">
            <a:off x="733425" y="4867275"/>
            <a:ext cx="104775" cy="104775"/>
          </a:xfrm>
          <a:prstGeom xmlns:a="http://schemas.openxmlformats.org/drawingml/2006/main" prst="ellipse">
            <a:avLst/>
          </a:prstGeom>
          <a:solidFill xmlns:a="http://schemas.openxmlformats.org/drawingml/2006/main">
            <a:srgbClr val="0E9F8E"/>
          </a:solidFill>
          <a:ln xmlns:a="http://schemas.openxmlformats.org/drawingml/2006/main" w="0">
            <a:solidFill>
              <a:srgbClr val="0E9F8E"/>
            </a:solidFill>
            <a:prstDash val="solid"/>
          </a:ln>
        </p:spPr>
      </p:sp>
      <p:sp>
        <p:nvSpPr>
          <p:cNvPr id="15" name="">
            <a:extLst xmlns:a="http://schemas.openxmlformats.org/drawingml/2006/main">
              <a:ext uri="{FF2B5EF4-FFF2-40B4-BE49-F238E27FC236}">
                <a16:creationId xmlns:a16="http://schemas.microsoft.com/office/drawing/2014/main" id="{4CADAB8B-FE16-4A9E-8241-578CAAD9E6CD}"/>
              </a:ext>
            </a:extLst>
          </p:cNvPr>
          <p:cNvSpPr>
            <a:spLocks xmlns:a="http://schemas.openxmlformats.org/drawingml/2006/main" noGrp="1"/>
          </p:cNvSpPr>
          <p:nvPr/>
        </p:nvSpPr>
        <p:spPr>
          <a:xfrm xmlns:a="http://schemas.openxmlformats.org/drawingml/2006/main">
            <a:off x="942975" y="4829175"/>
            <a:ext cx="4095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i="0">
                <a:solidFill>
                  <a:srgbClr val="0B1F33"/>
                </a:solidFill>
              </a:defRPr>
            </a:pPr>
            <a:r>
              <a:rPr sz="1050" b="1" i="0">
                <a:solidFill>
                  <a:srgbClr val="0B1F33"/>
                </a:solidFill>
              </a:rPr>
              <a:t>Send a consented patient update</a:t>
            </a:r>
          </a:p>
        </p:txBody>
      </p:sp>
      <p:sp>
        <p:nvSpPr>
          <p:cNvPr id="16" name="">
            <a:extLst xmlns:a="http://schemas.openxmlformats.org/drawingml/2006/main">
              <a:ext uri="{FF2B5EF4-FFF2-40B4-BE49-F238E27FC236}">
                <a16:creationId xmlns:a16="http://schemas.microsoft.com/office/drawing/2014/main" id="{5AAD6382-CD10-438A-BC15-BC5686E734D1}"/>
              </a:ext>
            </a:extLst>
          </p:cNvPr>
          <p:cNvSpPr>
            <a:spLocks xmlns:a="http://schemas.openxmlformats.org/drawingml/2006/main" noGrp="1"/>
          </p:cNvSpPr>
          <p:nvPr/>
        </p:nvSpPr>
        <p:spPr>
          <a:xfrm xmlns:a="http://schemas.openxmlformats.org/drawingml/2006/main">
            <a:off x="6019800" y="3276600"/>
            <a:ext cx="5715000" cy="2133600"/>
          </a:xfrm>
          <a:prstGeom xmlns:a="http://schemas.openxmlformats.org/drawingml/2006/main" prst="roundRect">
            <a:avLst>
              <a:gd name="adj" fmla="val 5357"/>
            </a:avLst>
          </a:prstGeom>
          <a:solidFill xmlns:a="http://schemas.openxmlformats.org/drawingml/2006/main">
            <a:srgbClr val="FCE6E6"/>
          </a:solidFill>
          <a:ln xmlns:a="http://schemas.openxmlformats.org/drawingml/2006/main" w="9525">
            <a:solidFill>
              <a:srgbClr val="FCE6E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7" name="">
            <a:extLst xmlns:a="http://schemas.openxmlformats.org/drawingml/2006/main">
              <a:ext uri="{FF2B5EF4-FFF2-40B4-BE49-F238E27FC236}">
                <a16:creationId xmlns:a16="http://schemas.microsoft.com/office/drawing/2014/main" id="{EDD383CC-1E8C-4A45-B204-8753999F9375}"/>
              </a:ext>
            </a:extLst>
          </p:cNvPr>
          <p:cNvSpPr>
            <a:spLocks xmlns:a="http://schemas.openxmlformats.org/drawingml/2006/main" noGrp="1"/>
          </p:cNvSpPr>
          <p:nvPr/>
        </p:nvSpPr>
        <p:spPr>
          <a:xfrm xmlns:a="http://schemas.openxmlformats.org/drawingml/2006/main">
            <a:off x="6276975" y="3552825"/>
            <a:ext cx="16192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750" b="1" i="0">
                <a:solidFill>
                  <a:srgbClr val="D35656"/>
                </a:solidFill>
              </a:defRPr>
            </a:pPr>
            <a:r>
              <a:rPr sz="750" b="1" i="0">
                <a:solidFill>
                  <a:srgbClr val="D35656"/>
                </a:solidFill>
              </a:rPr>
              <a:t>WILL NOT DO</a:t>
            </a:r>
          </a:p>
        </p:txBody>
      </p:sp>
      <p:sp>
        <p:nvSpPr>
          <p:cNvPr id="18" name="">
            <a:extLst xmlns:a="http://schemas.openxmlformats.org/drawingml/2006/main">
              <a:ext uri="{FF2B5EF4-FFF2-40B4-BE49-F238E27FC236}">
                <a16:creationId xmlns:a16="http://schemas.microsoft.com/office/drawing/2014/main" id="{8D69640E-3507-4767-8594-0E9E31BF21EE}"/>
              </a:ext>
            </a:extLst>
          </p:cNvPr>
          <p:cNvSpPr>
            <a:spLocks xmlns:a="http://schemas.openxmlformats.org/drawingml/2006/main" noGrp="1"/>
          </p:cNvSpPr>
          <p:nvPr/>
        </p:nvSpPr>
        <p:spPr>
          <a:xfrm xmlns:a="http://schemas.openxmlformats.org/drawingml/2006/main">
            <a:off x="6286500" y="3981450"/>
            <a:ext cx="104775" cy="104775"/>
          </a:xfrm>
          <a:prstGeom xmlns:a="http://schemas.openxmlformats.org/drawingml/2006/main" prst="ellipse">
            <a:avLst/>
          </a:prstGeom>
          <a:solidFill xmlns:a="http://schemas.openxmlformats.org/drawingml/2006/main">
            <a:srgbClr val="D35656"/>
          </a:solidFill>
          <a:ln xmlns:a="http://schemas.openxmlformats.org/drawingml/2006/main" w="0">
            <a:solidFill>
              <a:srgbClr val="D35656"/>
            </a:solidFill>
            <a:prstDash val="solid"/>
          </a:ln>
        </p:spPr>
      </p:sp>
      <p:sp>
        <p:nvSpPr>
          <p:cNvPr id="19" name="">
            <a:extLst xmlns:a="http://schemas.openxmlformats.org/drawingml/2006/main">
              <a:ext uri="{FF2B5EF4-FFF2-40B4-BE49-F238E27FC236}">
                <a16:creationId xmlns:a16="http://schemas.microsoft.com/office/drawing/2014/main" id="{59B66B80-11D0-44A0-9EC1-D4EC1F52AB5A}"/>
              </a:ext>
            </a:extLst>
          </p:cNvPr>
          <p:cNvSpPr>
            <a:spLocks xmlns:a="http://schemas.openxmlformats.org/drawingml/2006/main" noGrp="1"/>
          </p:cNvSpPr>
          <p:nvPr/>
        </p:nvSpPr>
        <p:spPr>
          <a:xfrm xmlns:a="http://schemas.openxmlformats.org/drawingml/2006/main">
            <a:off x="6296025" y="3952875"/>
            <a:ext cx="85725"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750" b="1" i="0">
                <a:solidFill>
                  <a:srgbClr val="FFFFFF"/>
                </a:solidFill>
              </a:defRPr>
            </a:pPr>
            <a:r>
              <a:rPr sz="750" b="1" i="0">
                <a:solidFill>
                  <a:srgbClr val="FFFFFF"/>
                </a:solidFill>
              </a:rPr>
              <a:t>×</a:t>
            </a:r>
          </a:p>
        </p:txBody>
      </p:sp>
      <p:sp>
        <p:nvSpPr>
          <p:cNvPr id="20" name="">
            <a:extLst xmlns:a="http://schemas.openxmlformats.org/drawingml/2006/main">
              <a:ext uri="{FF2B5EF4-FFF2-40B4-BE49-F238E27FC236}">
                <a16:creationId xmlns:a16="http://schemas.microsoft.com/office/drawing/2014/main" id="{C444FC11-7279-4FAD-9BC1-BC1B0A2CDC5F}"/>
              </a:ext>
            </a:extLst>
          </p:cNvPr>
          <p:cNvSpPr>
            <a:spLocks xmlns:a="http://schemas.openxmlformats.org/drawingml/2006/main" noGrp="1"/>
          </p:cNvSpPr>
          <p:nvPr/>
        </p:nvSpPr>
        <p:spPr>
          <a:xfrm xmlns:a="http://schemas.openxmlformats.org/drawingml/2006/main">
            <a:off x="6496050" y="3943350"/>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i="0">
                <a:solidFill>
                  <a:srgbClr val="0B1F33"/>
                </a:solidFill>
              </a:defRPr>
            </a:pPr>
            <a:r>
              <a:rPr sz="1050" b="1" i="0">
                <a:solidFill>
                  <a:srgbClr val="0B1F33"/>
                </a:solidFill>
              </a:rPr>
              <a:t>Give clinical advice or dosing guidance</a:t>
            </a:r>
          </a:p>
        </p:txBody>
      </p:sp>
      <p:sp>
        <p:nvSpPr>
          <p:cNvPr id="21" name="">
            <a:extLst xmlns:a="http://schemas.openxmlformats.org/drawingml/2006/main">
              <a:ext uri="{FF2B5EF4-FFF2-40B4-BE49-F238E27FC236}">
                <a16:creationId xmlns:a16="http://schemas.microsoft.com/office/drawing/2014/main" id="{67290B2D-5F4C-4530-A73B-BD366D2A8C5E}"/>
              </a:ext>
            </a:extLst>
          </p:cNvPr>
          <p:cNvSpPr>
            <a:spLocks xmlns:a="http://schemas.openxmlformats.org/drawingml/2006/main" noGrp="1"/>
          </p:cNvSpPr>
          <p:nvPr/>
        </p:nvSpPr>
        <p:spPr>
          <a:xfrm xmlns:a="http://schemas.openxmlformats.org/drawingml/2006/main">
            <a:off x="6286500" y="4276725"/>
            <a:ext cx="104775" cy="104775"/>
          </a:xfrm>
          <a:prstGeom xmlns:a="http://schemas.openxmlformats.org/drawingml/2006/main" prst="ellipse">
            <a:avLst/>
          </a:prstGeom>
          <a:solidFill xmlns:a="http://schemas.openxmlformats.org/drawingml/2006/main">
            <a:srgbClr val="D35656"/>
          </a:solidFill>
          <a:ln xmlns:a="http://schemas.openxmlformats.org/drawingml/2006/main" w="0">
            <a:solidFill>
              <a:srgbClr val="D35656"/>
            </a:solidFill>
            <a:prstDash val="solid"/>
          </a:ln>
        </p:spPr>
      </p:sp>
      <p:sp>
        <p:nvSpPr>
          <p:cNvPr id="22" name="">
            <a:extLst xmlns:a="http://schemas.openxmlformats.org/drawingml/2006/main">
              <a:ext uri="{FF2B5EF4-FFF2-40B4-BE49-F238E27FC236}">
                <a16:creationId xmlns:a16="http://schemas.microsoft.com/office/drawing/2014/main" id="{322CBCF5-69DD-4A4E-BD3A-93AF53E11BB4}"/>
              </a:ext>
            </a:extLst>
          </p:cNvPr>
          <p:cNvSpPr>
            <a:spLocks xmlns:a="http://schemas.openxmlformats.org/drawingml/2006/main" noGrp="1"/>
          </p:cNvSpPr>
          <p:nvPr/>
        </p:nvSpPr>
        <p:spPr>
          <a:xfrm xmlns:a="http://schemas.openxmlformats.org/drawingml/2006/main">
            <a:off x="6296025" y="4248150"/>
            <a:ext cx="85725"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750" b="1" i="0">
                <a:solidFill>
                  <a:srgbClr val="FFFFFF"/>
                </a:solidFill>
              </a:defRPr>
            </a:pPr>
            <a:r>
              <a:rPr sz="750" b="1" i="0">
                <a:solidFill>
                  <a:srgbClr val="FFFFFF"/>
                </a:solidFill>
              </a:rPr>
              <a:t>×</a:t>
            </a:r>
          </a:p>
        </p:txBody>
      </p:sp>
      <p:sp>
        <p:nvSpPr>
          <p:cNvPr id="23" name="">
            <a:extLst xmlns:a="http://schemas.openxmlformats.org/drawingml/2006/main">
              <a:ext uri="{FF2B5EF4-FFF2-40B4-BE49-F238E27FC236}">
                <a16:creationId xmlns:a16="http://schemas.microsoft.com/office/drawing/2014/main" id="{9A42A7D4-97F9-4BEF-8EA0-F65CAA07898F}"/>
              </a:ext>
            </a:extLst>
          </p:cNvPr>
          <p:cNvSpPr>
            <a:spLocks xmlns:a="http://schemas.openxmlformats.org/drawingml/2006/main" noGrp="1"/>
          </p:cNvSpPr>
          <p:nvPr/>
        </p:nvSpPr>
        <p:spPr>
          <a:xfrm xmlns:a="http://schemas.openxmlformats.org/drawingml/2006/main">
            <a:off x="6496050" y="423862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i="0">
                <a:solidFill>
                  <a:srgbClr val="0B1F33"/>
                </a:solidFill>
              </a:defRPr>
            </a:pPr>
            <a:r>
              <a:rPr sz="1050" b="1" i="0">
                <a:solidFill>
                  <a:srgbClr val="0B1F33"/>
                </a:solidFill>
              </a:rPr>
              <a:t>Change / transfer a prescription</a:t>
            </a:r>
          </a:p>
        </p:txBody>
      </p:sp>
      <p:sp>
        <p:nvSpPr>
          <p:cNvPr id="24" name="">
            <a:extLst xmlns:a="http://schemas.openxmlformats.org/drawingml/2006/main">
              <a:ext uri="{FF2B5EF4-FFF2-40B4-BE49-F238E27FC236}">
                <a16:creationId xmlns:a16="http://schemas.microsoft.com/office/drawing/2014/main" id="{34DA7434-35FD-4E35-86B0-5D01C409F98F}"/>
              </a:ext>
            </a:extLst>
          </p:cNvPr>
          <p:cNvSpPr>
            <a:spLocks xmlns:a="http://schemas.openxmlformats.org/drawingml/2006/main" noGrp="1"/>
          </p:cNvSpPr>
          <p:nvPr/>
        </p:nvSpPr>
        <p:spPr>
          <a:xfrm xmlns:a="http://schemas.openxmlformats.org/drawingml/2006/main">
            <a:off x="6286500" y="4572000"/>
            <a:ext cx="104775" cy="104775"/>
          </a:xfrm>
          <a:prstGeom xmlns:a="http://schemas.openxmlformats.org/drawingml/2006/main" prst="ellipse">
            <a:avLst/>
          </a:prstGeom>
          <a:solidFill xmlns:a="http://schemas.openxmlformats.org/drawingml/2006/main">
            <a:srgbClr val="D35656"/>
          </a:solidFill>
          <a:ln xmlns:a="http://schemas.openxmlformats.org/drawingml/2006/main" w="0">
            <a:solidFill>
              <a:srgbClr val="D35656"/>
            </a:solidFill>
            <a:prstDash val="solid"/>
          </a:ln>
        </p:spPr>
      </p:sp>
      <p:sp>
        <p:nvSpPr>
          <p:cNvPr id="25" name="">
            <a:extLst xmlns:a="http://schemas.openxmlformats.org/drawingml/2006/main">
              <a:ext uri="{FF2B5EF4-FFF2-40B4-BE49-F238E27FC236}">
                <a16:creationId xmlns:a16="http://schemas.microsoft.com/office/drawing/2014/main" id="{5EC1745C-FF5A-4610-83D9-8B9C2141275F}"/>
              </a:ext>
            </a:extLst>
          </p:cNvPr>
          <p:cNvSpPr>
            <a:spLocks xmlns:a="http://schemas.openxmlformats.org/drawingml/2006/main" noGrp="1"/>
          </p:cNvSpPr>
          <p:nvPr/>
        </p:nvSpPr>
        <p:spPr>
          <a:xfrm xmlns:a="http://schemas.openxmlformats.org/drawingml/2006/main">
            <a:off x="6296025" y="4543425"/>
            <a:ext cx="85725"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750" b="1" i="0">
                <a:solidFill>
                  <a:srgbClr val="FFFFFF"/>
                </a:solidFill>
              </a:defRPr>
            </a:pPr>
            <a:r>
              <a:rPr sz="750" b="1" i="0">
                <a:solidFill>
                  <a:srgbClr val="FFFFFF"/>
                </a:solidFill>
              </a:rPr>
              <a:t>×</a:t>
            </a:r>
          </a:p>
        </p:txBody>
      </p:sp>
      <p:sp>
        <p:nvSpPr>
          <p:cNvPr id="26" name="">
            <a:extLst xmlns:a="http://schemas.openxmlformats.org/drawingml/2006/main">
              <a:ext uri="{FF2B5EF4-FFF2-40B4-BE49-F238E27FC236}">
                <a16:creationId xmlns:a16="http://schemas.microsoft.com/office/drawing/2014/main" id="{356822D0-84AA-4032-BCE0-8B66E715EA5C}"/>
              </a:ext>
            </a:extLst>
          </p:cNvPr>
          <p:cNvSpPr>
            <a:spLocks xmlns:a="http://schemas.openxmlformats.org/drawingml/2006/main" noGrp="1"/>
          </p:cNvSpPr>
          <p:nvPr/>
        </p:nvSpPr>
        <p:spPr>
          <a:xfrm xmlns:a="http://schemas.openxmlformats.org/drawingml/2006/main">
            <a:off x="6496050" y="4533900"/>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i="0">
                <a:solidFill>
                  <a:srgbClr val="0B1F33"/>
                </a:solidFill>
              </a:defRPr>
            </a:pPr>
            <a:r>
              <a:rPr sz="1050" b="1" i="0">
                <a:solidFill>
                  <a:srgbClr val="0B1F33"/>
                </a:solidFill>
              </a:rPr>
              <a:t>Disclose controlled-medication inventory</a:t>
            </a:r>
          </a:p>
        </p:txBody>
      </p:sp>
      <p:sp>
        <p:nvSpPr>
          <p:cNvPr id="27" name="">
            <a:extLst xmlns:a="http://schemas.openxmlformats.org/drawingml/2006/main">
              <a:ext uri="{FF2B5EF4-FFF2-40B4-BE49-F238E27FC236}">
                <a16:creationId xmlns:a16="http://schemas.microsoft.com/office/drawing/2014/main" id="{98148829-D122-44BA-83A4-E12097E67797}"/>
              </a:ext>
            </a:extLst>
          </p:cNvPr>
          <p:cNvSpPr>
            <a:spLocks xmlns:a="http://schemas.openxmlformats.org/drawingml/2006/main" noGrp="1"/>
          </p:cNvSpPr>
          <p:nvPr/>
        </p:nvSpPr>
        <p:spPr>
          <a:xfrm xmlns:a="http://schemas.openxmlformats.org/drawingml/2006/main">
            <a:off x="6286500" y="4867275"/>
            <a:ext cx="104775" cy="104775"/>
          </a:xfrm>
          <a:prstGeom xmlns:a="http://schemas.openxmlformats.org/drawingml/2006/main" prst="ellipse">
            <a:avLst/>
          </a:prstGeom>
          <a:solidFill xmlns:a="http://schemas.openxmlformats.org/drawingml/2006/main">
            <a:srgbClr val="D35656"/>
          </a:solidFill>
          <a:ln xmlns:a="http://schemas.openxmlformats.org/drawingml/2006/main" w="0">
            <a:solidFill>
              <a:srgbClr val="D35656"/>
            </a:solidFill>
            <a:prstDash val="solid"/>
          </a:ln>
        </p:spPr>
      </p:sp>
      <p:sp>
        <p:nvSpPr>
          <p:cNvPr id="28" name="">
            <a:extLst xmlns:a="http://schemas.openxmlformats.org/drawingml/2006/main">
              <a:ext uri="{FF2B5EF4-FFF2-40B4-BE49-F238E27FC236}">
                <a16:creationId xmlns:a16="http://schemas.microsoft.com/office/drawing/2014/main" id="{92E4A1D8-51B5-4074-AC40-8C71350C4104}"/>
              </a:ext>
            </a:extLst>
          </p:cNvPr>
          <p:cNvSpPr>
            <a:spLocks xmlns:a="http://schemas.openxmlformats.org/drawingml/2006/main" noGrp="1"/>
          </p:cNvSpPr>
          <p:nvPr/>
        </p:nvSpPr>
        <p:spPr>
          <a:xfrm xmlns:a="http://schemas.openxmlformats.org/drawingml/2006/main">
            <a:off x="6296025" y="4838700"/>
            <a:ext cx="85725"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750" b="1" i="0">
                <a:solidFill>
                  <a:srgbClr val="FFFFFF"/>
                </a:solidFill>
              </a:defRPr>
            </a:pPr>
            <a:r>
              <a:rPr sz="750" b="1" i="0">
                <a:solidFill>
                  <a:srgbClr val="FFFFFF"/>
                </a:solidFill>
              </a:rPr>
              <a:t>×</a:t>
            </a:r>
          </a:p>
        </p:txBody>
      </p:sp>
      <p:sp>
        <p:nvSpPr>
          <p:cNvPr id="29" name="">
            <a:extLst xmlns:a="http://schemas.openxmlformats.org/drawingml/2006/main">
              <a:ext uri="{FF2B5EF4-FFF2-40B4-BE49-F238E27FC236}">
                <a16:creationId xmlns:a16="http://schemas.microsoft.com/office/drawing/2014/main" id="{BF002398-724C-4929-8C6A-EBA6656235A5}"/>
              </a:ext>
            </a:extLst>
          </p:cNvPr>
          <p:cNvSpPr>
            <a:spLocks xmlns:a="http://schemas.openxmlformats.org/drawingml/2006/main" noGrp="1"/>
          </p:cNvSpPr>
          <p:nvPr/>
        </p:nvSpPr>
        <p:spPr>
          <a:xfrm xmlns:a="http://schemas.openxmlformats.org/drawingml/2006/main">
            <a:off x="6496050" y="48291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i="0">
                <a:solidFill>
                  <a:srgbClr val="0B1F33"/>
                </a:solidFill>
              </a:defRPr>
            </a:pPr>
            <a:r>
              <a:rPr sz="1050" b="1" i="0">
                <a:solidFill>
                  <a:srgbClr val="0B1F33"/>
                </a:solidFill>
              </a:rPr>
              <a:t>Contact an unconsented recipient</a:t>
            </a:r>
          </a:p>
        </p:txBody>
      </p:sp>
      <p:sp>
        <p:nvSpPr>
          <p:cNvPr id="30" name="">
            <a:extLst xmlns:a="http://schemas.openxmlformats.org/drawingml/2006/main">
              <a:ext uri="{FF2B5EF4-FFF2-40B4-BE49-F238E27FC236}">
                <a16:creationId xmlns:a16="http://schemas.microsoft.com/office/drawing/2014/main" id="{D45B6A3F-C35C-4192-928B-49BE6A0960CF}"/>
              </a:ext>
            </a:extLst>
          </p:cNvPr>
          <p:cNvSpPr>
            <a:spLocks xmlns:a="http://schemas.openxmlformats.org/drawingml/2006/main" noGrp="1"/>
          </p:cNvSpPr>
          <p:nvPr/>
        </p:nvSpPr>
        <p:spPr>
          <a:xfrm xmlns:a="http://schemas.openxmlformats.org/drawingml/2006/main">
            <a:off x="457200" y="6457950"/>
            <a:ext cx="85725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75" b="0" i="0">
                <a:solidFill>
                  <a:srgbClr val="8090A1"/>
                </a:solidFill>
              </a:defRPr>
            </a:pPr>
            <a:r>
              <a:rPr sz="675" b="0" i="0">
                <a:solidFill>
                  <a:srgbClr val="8090A1"/>
                </a:solidFill>
              </a:rPr>
              <a:t>A safe stop is a successful outcome when automation would be the wrong thing to do.</a:t>
            </a:r>
          </a:p>
        </p:txBody>
      </p:sp>
      <p:sp>
        <p:nvSpPr>
          <p:cNvPr id="31" name="">
            <a:extLst xmlns:a="http://schemas.openxmlformats.org/drawingml/2006/main">
              <a:ext uri="{FF2B5EF4-FFF2-40B4-BE49-F238E27FC236}">
                <a16:creationId xmlns:a16="http://schemas.microsoft.com/office/drawing/2014/main" id="{D02C2882-DD2D-49C2-B3F3-EACD1CBF0EF8}"/>
              </a:ext>
            </a:extLst>
          </p:cNvPr>
          <p:cNvSpPr>
            <a:spLocks xmlns:a="http://schemas.openxmlformats.org/drawingml/2006/main" noGrp="1"/>
          </p:cNvSpPr>
          <p:nvPr/>
        </p:nvSpPr>
        <p:spPr>
          <a:xfrm xmlns:a="http://schemas.openxmlformats.org/drawingml/2006/main">
            <a:off x="8382000" y="6457950"/>
            <a:ext cx="3352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675" b="0" i="0">
                <a:solidFill>
                  <a:srgbClr val="8090A1"/>
                </a:solidFill>
              </a:defRPr>
            </a:pPr>
            <a:r>
              <a:rPr sz="675" b="0" i="0">
                <a:solidFill>
                  <a:srgbClr val="8090A1"/>
                </a:solidFill>
              </a:rPr>
              <a:t>A1MOBILE VOICE AI HACKATHON · 2026</a:t>
            </a:r>
          </a:p>
        </p:txBody>
      </p:sp>
    </p:spTree>
    <p:extLst>
      <p:ext uri="{BB962C8B-B14F-4D97-AF65-F5344CB8AC3E}">
        <p14:creationId xmlns:p14="http://schemas.microsoft.com/office/powerpoint/2010/main" val="62666279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79FA014-9A83-4FA3-8AB3-610CA70A99BC}"/>
              </a:ext>
            </a:extLst>
          </p:cNvPr>
          <p:cNvSpPr>
            <a:spLocks xmlns:a="http://schemas.openxmlformats.org/drawingml/2006/main" noGrp="1"/>
          </p:cNvSpPr>
          <p:nvPr/>
        </p:nvSpPr>
        <p:spPr>
          <a:xfrm xmlns:a="http://schemas.openxmlformats.org/drawingml/2006/main">
            <a:off x="457200" y="314325"/>
            <a:ext cx="590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750" b="1" i="0">
                <a:solidFill>
                  <a:srgbClr val="5F6D80"/>
                </a:solidFill>
              </a:defRPr>
            </a:pPr>
            <a:r>
              <a:rPr sz="750" b="1" i="0">
                <a:solidFill>
                  <a:srgbClr val="5F6D80"/>
                </a:solidFill>
              </a:rPr>
              <a:t>THE ASK</a:t>
            </a:r>
          </a:p>
        </p:txBody>
      </p:sp>
      <p:sp>
        <p:nvSpPr>
          <p:cNvPr id="2" name="">
            <a:extLst xmlns:a="http://schemas.openxmlformats.org/drawingml/2006/main">
              <a:ext uri="{FF2B5EF4-FFF2-40B4-BE49-F238E27FC236}">
                <a16:creationId xmlns:a16="http://schemas.microsoft.com/office/drawing/2014/main" id="{74B8B11A-C670-4D85-89D1-A5F88DB1098A}"/>
              </a:ext>
            </a:extLst>
          </p:cNvPr>
          <p:cNvSpPr>
            <a:spLocks xmlns:a="http://schemas.openxmlformats.org/drawingml/2006/main" noGrp="1"/>
          </p:cNvSpPr>
          <p:nvPr/>
        </p:nvSpPr>
        <p:spPr>
          <a:xfrm xmlns:a="http://schemas.openxmlformats.org/drawingml/2006/main">
            <a:off x="9639300" y="314325"/>
            <a:ext cx="209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750" b="1" i="0">
                <a:solidFill>
                  <a:srgbClr val="5F6D80"/>
                </a:solidFill>
              </a:defRPr>
            </a:pPr>
            <a:r>
              <a:rPr sz="750" b="1" i="0">
                <a:solidFill>
                  <a:srgbClr val="5F6D80"/>
                </a:solidFill>
              </a:rPr>
              <a:t>RXRELAY  /  10</a:t>
            </a:r>
          </a:p>
        </p:txBody>
      </p:sp>
      <p:sp>
        <p:nvSpPr>
          <p:cNvPr id="3" name="">
            <a:extLst xmlns:a="http://schemas.openxmlformats.org/drawingml/2006/main">
              <a:ext uri="{FF2B5EF4-FFF2-40B4-BE49-F238E27FC236}">
                <a16:creationId xmlns:a16="http://schemas.microsoft.com/office/drawing/2014/main" id="{2DBA6ED1-6080-4AB7-B0CD-7F7497DC2E3F}"/>
              </a:ext>
            </a:extLst>
          </p:cNvPr>
          <p:cNvSpPr>
            <a:spLocks xmlns:a="http://schemas.openxmlformats.org/drawingml/2006/main" noGrp="1"/>
          </p:cNvSpPr>
          <p:nvPr/>
        </p:nvSpPr>
        <p:spPr>
          <a:xfrm xmlns:a="http://schemas.openxmlformats.org/drawingml/2006/main">
            <a:off x="457200" y="552450"/>
            <a:ext cx="11277600" cy="9525"/>
          </a:xfrm>
          <a:prstGeom xmlns:a="http://schemas.openxmlformats.org/drawingml/2006/main" prst="rect">
            <a:avLst/>
          </a:prstGeom>
          <a:solidFill xmlns:a="http://schemas.openxmlformats.org/drawingml/2006/main">
            <a:srgbClr val="D8E0E7"/>
          </a:solidFill>
          <a:ln xmlns:a="http://schemas.openxmlformats.org/drawingml/2006/main" w="0">
            <a:solidFill>
              <a:srgbClr val="D8E0E7"/>
            </a:solidFill>
            <a:prstDash val="solid"/>
          </a:ln>
        </p:spPr>
      </p:sp>
      <p:sp>
        <p:nvSpPr>
          <p:cNvPr id="4" name="">
            <a:extLst xmlns:a="http://schemas.openxmlformats.org/drawingml/2006/main">
              <a:ext uri="{FF2B5EF4-FFF2-40B4-BE49-F238E27FC236}">
                <a16:creationId xmlns:a16="http://schemas.microsoft.com/office/drawing/2014/main" id="{48EB8F02-D607-47A9-966D-C0B7AC330C9E}"/>
              </a:ext>
            </a:extLst>
          </p:cNvPr>
          <p:cNvSpPr>
            <a:spLocks xmlns:a="http://schemas.openxmlformats.org/drawingml/2006/main" noGrp="1"/>
          </p:cNvSpPr>
          <p:nvPr/>
        </p:nvSpPr>
        <p:spPr>
          <a:xfrm xmlns:a="http://schemas.openxmlformats.org/drawingml/2006/main">
            <a:off x="457200" y="1104900"/>
            <a:ext cx="7762875"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050" b="1" i="0">
                <a:solidFill>
                  <a:srgbClr val="0B1F33"/>
                </a:solidFill>
              </a:defRPr>
            </a:pPr>
            <a:r>
              <a:rPr sz="4050" b="1" i="0">
                <a:solidFill>
                  <a:srgbClr val="0B1F33"/>
                </a:solidFill>
              </a:rPr>
              <a:t>A prescription should not</a:t>
            </a:r>
          </a:p>
          <a:p xmlns:a="http://schemas.openxmlformats.org/drawingml/2006/main">
            <a:pPr algn="l">
              <a:defRPr sz="4050" b="1" i="0">
                <a:solidFill>
                  <a:srgbClr val="0B1F33"/>
                </a:solidFill>
              </a:defRPr>
            </a:pPr>
            <a:r>
              <a:rPr sz="4050" b="1" i="0">
                <a:solidFill>
                  <a:srgbClr val="0B1F33"/>
                </a:solidFill>
              </a:rPr>
              <a:t>fail because coordination did.</a:t>
            </a:r>
          </a:p>
        </p:txBody>
      </p:sp>
      <p:sp>
        <p:nvSpPr>
          <p:cNvPr id="5" name="">
            <a:extLst xmlns:a="http://schemas.openxmlformats.org/drawingml/2006/main">
              <a:ext uri="{FF2B5EF4-FFF2-40B4-BE49-F238E27FC236}">
                <a16:creationId xmlns:a16="http://schemas.microsoft.com/office/drawing/2014/main" id="{F9AD539D-FA82-4219-91F5-1858F70BB07B}"/>
              </a:ext>
            </a:extLst>
          </p:cNvPr>
          <p:cNvSpPr>
            <a:spLocks xmlns:a="http://schemas.openxmlformats.org/drawingml/2006/main" noGrp="1"/>
          </p:cNvSpPr>
          <p:nvPr/>
        </p:nvSpPr>
        <p:spPr>
          <a:xfrm xmlns:a="http://schemas.openxmlformats.org/drawingml/2006/main">
            <a:off x="495300" y="2876550"/>
            <a:ext cx="6381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i="0">
                <a:solidFill>
                  <a:srgbClr val="5F6D80"/>
                </a:solidFill>
              </a:defRPr>
            </a:pPr>
            <a:r>
              <a:rPr sz="1425" b="0" i="0">
                <a:solidFill>
                  <a:srgbClr val="5F6D80"/>
                </a:solidFill>
              </a:rPr>
              <a:t>RxRelay is the voice coordination layer that turns a consented call into a verifiable outcome.</a:t>
            </a:r>
          </a:p>
        </p:txBody>
      </p:sp>
      <p:sp>
        <p:nvSpPr>
          <p:cNvPr id="6" name="">
            <a:extLst xmlns:a="http://schemas.openxmlformats.org/drawingml/2006/main">
              <a:ext uri="{FF2B5EF4-FFF2-40B4-BE49-F238E27FC236}">
                <a16:creationId xmlns:a16="http://schemas.microsoft.com/office/drawing/2014/main" id="{61032778-6464-4051-97AD-92D28C4372C8}"/>
              </a:ext>
            </a:extLst>
          </p:cNvPr>
          <p:cNvSpPr>
            <a:spLocks xmlns:a="http://schemas.openxmlformats.org/drawingml/2006/main" noGrp="1"/>
          </p:cNvSpPr>
          <p:nvPr/>
        </p:nvSpPr>
        <p:spPr>
          <a:xfrm xmlns:a="http://schemas.openxmlformats.org/drawingml/2006/main">
            <a:off x="476250" y="3914775"/>
            <a:ext cx="4762500" cy="1428750"/>
          </a:xfrm>
          <a:prstGeom xmlns:a="http://schemas.openxmlformats.org/drawingml/2006/main" prst="roundRect">
            <a:avLst>
              <a:gd name="adj" fmla="val 8000"/>
            </a:avLst>
          </a:prstGeom>
          <a:solidFill xmlns:a="http://schemas.openxmlformats.org/drawingml/2006/main">
            <a:srgbClr val="071A2B"/>
          </a:solidFill>
          <a:ln xmlns:a="http://schemas.openxmlformats.org/drawingml/2006/main" w="9525">
            <a:solidFill>
              <a:srgbClr val="071A2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EE1F2E8E-AFDE-413B-A453-6606672EAEC7}"/>
              </a:ext>
            </a:extLst>
          </p:cNvPr>
          <p:cNvSpPr>
            <a:spLocks xmlns:a="http://schemas.openxmlformats.org/drawingml/2006/main" noGrp="1"/>
          </p:cNvSpPr>
          <p:nvPr/>
        </p:nvSpPr>
        <p:spPr>
          <a:xfrm xmlns:a="http://schemas.openxmlformats.org/drawingml/2006/main">
            <a:off x="733425" y="4181475"/>
            <a:ext cx="11430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750" b="1" i="0">
                <a:solidFill>
                  <a:srgbClr val="7CE7D5"/>
                </a:solidFill>
              </a:defRPr>
            </a:pPr>
            <a:r>
              <a:rPr sz="750" b="1" i="0">
                <a:solidFill>
                  <a:srgbClr val="7CE7D5"/>
                </a:solidFill>
              </a:rPr>
              <a:t>LIVE DEMO</a:t>
            </a:r>
          </a:p>
        </p:txBody>
      </p:sp>
      <p:sp>
        <p:nvSpPr>
          <p:cNvPr id="8" name="">
            <a:extLst xmlns:a="http://schemas.openxmlformats.org/drawingml/2006/main">
              <a:ext uri="{FF2B5EF4-FFF2-40B4-BE49-F238E27FC236}">
                <a16:creationId xmlns:a16="http://schemas.microsoft.com/office/drawing/2014/main" id="{422F9BDA-86A4-48A6-A7D6-BCE9579D534D}"/>
              </a:ext>
            </a:extLst>
          </p:cNvPr>
          <p:cNvSpPr>
            <a:spLocks xmlns:a="http://schemas.openxmlformats.org/drawingml/2006/main" noGrp="1"/>
          </p:cNvSpPr>
          <p:nvPr/>
        </p:nvSpPr>
        <p:spPr>
          <a:xfrm xmlns:a="http://schemas.openxmlformats.org/drawingml/2006/main">
            <a:off x="733425" y="4505325"/>
            <a:ext cx="3810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FFFFFF"/>
                </a:solidFill>
              </a:defRPr>
            </a:pPr>
            <a:r>
              <a:rPr sz="1800" b="1" i="0">
                <a:solidFill>
                  <a:srgbClr val="FFFFFF"/>
                </a:solidFill>
              </a:rPr>
              <a:t>Run the proof board.</a:t>
            </a:r>
          </a:p>
          <a:p xmlns:a="http://schemas.openxmlformats.org/drawingml/2006/main">
            <a:pPr algn="l">
              <a:defRPr sz="1800" b="1" i="0">
                <a:solidFill>
                  <a:srgbClr val="FFFFFF"/>
                </a:solidFill>
              </a:defRPr>
            </a:pPr>
            <a:r>
              <a:rPr sz="1800" b="1" i="0">
                <a:solidFill>
                  <a:srgbClr val="FFFFFF"/>
                </a:solidFill>
              </a:rPr>
              <a:t>Try the unsafe branch.</a:t>
            </a:r>
          </a:p>
        </p:txBody>
      </p:sp>
      <p:sp>
        <p:nvSpPr>
          <p:cNvPr id="9" name="">
            <a:extLst xmlns:a="http://schemas.openxmlformats.org/drawingml/2006/main">
              <a:ext uri="{FF2B5EF4-FFF2-40B4-BE49-F238E27FC236}">
                <a16:creationId xmlns:a16="http://schemas.microsoft.com/office/drawing/2014/main" id="{40FC12AA-A403-48B1-99F2-3E7EB0B27A52}"/>
              </a:ext>
            </a:extLst>
          </p:cNvPr>
          <p:cNvSpPr>
            <a:spLocks xmlns:a="http://schemas.openxmlformats.org/drawingml/2006/main" noGrp="1"/>
          </p:cNvSpPr>
          <p:nvPr/>
        </p:nvSpPr>
        <p:spPr>
          <a:xfrm xmlns:a="http://schemas.openxmlformats.org/drawingml/2006/main">
            <a:off x="5543550" y="3914775"/>
            <a:ext cx="5734050" cy="1428750"/>
          </a:xfrm>
          <a:prstGeom xmlns:a="http://schemas.openxmlformats.org/drawingml/2006/main" prst="roundRect">
            <a:avLst>
              <a:gd name="adj" fmla="val 8000"/>
            </a:avLst>
          </a:prstGeom>
          <a:solidFill xmlns:a="http://schemas.openxmlformats.org/drawingml/2006/main">
            <a:srgbClr val="DCF6F0"/>
          </a:solidFill>
          <a:ln xmlns:a="http://schemas.openxmlformats.org/drawingml/2006/main" w="9525">
            <a:solidFill>
              <a:srgbClr val="DCF6F0"/>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B1548BDB-50BA-454A-BDB6-1FF21BCDEAA0}"/>
              </a:ext>
            </a:extLst>
          </p:cNvPr>
          <p:cNvSpPr>
            <a:spLocks xmlns:a="http://schemas.openxmlformats.org/drawingml/2006/main" noGrp="1"/>
          </p:cNvSpPr>
          <p:nvPr/>
        </p:nvSpPr>
        <p:spPr>
          <a:xfrm xmlns:a="http://schemas.openxmlformats.org/drawingml/2006/main">
            <a:off x="5810250" y="4181475"/>
            <a:ext cx="1714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750" b="1" i="0">
                <a:solidFill>
                  <a:srgbClr val="0E9F8E"/>
                </a:solidFill>
              </a:defRPr>
            </a:pPr>
            <a:r>
              <a:rPr sz="750" b="1" i="0">
                <a:solidFill>
                  <a:srgbClr val="0E9F8E"/>
                </a:solidFill>
              </a:rPr>
              <a:t>WHY THIS WINS</a:t>
            </a:r>
          </a:p>
        </p:txBody>
      </p:sp>
      <p:sp>
        <p:nvSpPr>
          <p:cNvPr id="11" name="">
            <a:extLst xmlns:a="http://schemas.openxmlformats.org/drawingml/2006/main">
              <a:ext uri="{FF2B5EF4-FFF2-40B4-BE49-F238E27FC236}">
                <a16:creationId xmlns:a16="http://schemas.microsoft.com/office/drawing/2014/main" id="{6B60486C-576F-4049-9A19-5CF912645A55}"/>
              </a:ext>
            </a:extLst>
          </p:cNvPr>
          <p:cNvSpPr>
            <a:spLocks xmlns:a="http://schemas.openxmlformats.org/drawingml/2006/main" noGrp="1"/>
          </p:cNvSpPr>
          <p:nvPr/>
        </p:nvSpPr>
        <p:spPr>
          <a:xfrm xmlns:a="http://schemas.openxmlformats.org/drawingml/2006/main">
            <a:off x="5810250" y="4505325"/>
            <a:ext cx="4953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0B1F33"/>
                </a:solidFill>
              </a:defRPr>
            </a:pPr>
            <a:r>
              <a:rPr sz="1800" b="1" i="0">
                <a:solidFill>
                  <a:srgbClr val="0B1F33"/>
                </a:solidFill>
              </a:rPr>
              <a:t>Real problem. Real voice UX.</a:t>
            </a:r>
          </a:p>
          <a:p xmlns:a="http://schemas.openxmlformats.org/drawingml/2006/main">
            <a:pPr algn="l">
              <a:defRPr sz="1800" b="1" i="0">
                <a:solidFill>
                  <a:srgbClr val="0B1F33"/>
                </a:solidFill>
              </a:defRPr>
            </a:pPr>
            <a:r>
              <a:rPr sz="1800" b="1" i="0">
                <a:solidFill>
                  <a:srgbClr val="0B1F33"/>
                </a:solidFill>
              </a:rPr>
              <a:t>Real safety. It actually runs.</a:t>
            </a:r>
          </a:p>
        </p:txBody>
      </p:sp>
      <p:sp>
        <p:nvSpPr>
          <p:cNvPr id="12" name="">
            <a:extLst xmlns:a="http://schemas.openxmlformats.org/drawingml/2006/main">
              <a:ext uri="{FF2B5EF4-FFF2-40B4-BE49-F238E27FC236}">
                <a16:creationId xmlns:a16="http://schemas.microsoft.com/office/drawing/2014/main" id="{BA7AF75D-372E-4DC2-97C6-C4CFB127CB99}"/>
              </a:ext>
            </a:extLst>
          </p:cNvPr>
          <p:cNvSpPr>
            <a:spLocks xmlns:a="http://schemas.openxmlformats.org/drawingml/2006/main" noGrp="1"/>
          </p:cNvSpPr>
          <p:nvPr/>
        </p:nvSpPr>
        <p:spPr>
          <a:xfrm xmlns:a="http://schemas.openxmlformats.org/drawingml/2006/main">
            <a:off x="476250" y="5848350"/>
            <a:ext cx="571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i="0">
                <a:solidFill>
                  <a:srgbClr val="3D8DFF"/>
                </a:solidFill>
              </a:defRPr>
            </a:pPr>
            <a:r>
              <a:rPr sz="1275" b="1" i="0">
                <a:solidFill>
                  <a:srgbClr val="3D8DFF"/>
                </a:solidFill>
              </a:rPr>
              <a:t>github.com/vnmoorthy/rxrelay</a:t>
            </a:r>
          </a:p>
        </p:txBody>
      </p:sp>
      <p:sp>
        <p:nvSpPr>
          <p:cNvPr id="13" name="">
            <a:extLst xmlns:a="http://schemas.openxmlformats.org/drawingml/2006/main">
              <a:ext uri="{FF2B5EF4-FFF2-40B4-BE49-F238E27FC236}">
                <a16:creationId xmlns:a16="http://schemas.microsoft.com/office/drawing/2014/main" id="{AEC67BC7-45F2-4EDC-BEF1-A968CAC59C0A}"/>
              </a:ext>
            </a:extLst>
          </p:cNvPr>
          <p:cNvSpPr>
            <a:spLocks xmlns:a="http://schemas.openxmlformats.org/drawingml/2006/main" noGrp="1"/>
          </p:cNvSpPr>
          <p:nvPr/>
        </p:nvSpPr>
        <p:spPr>
          <a:xfrm xmlns:a="http://schemas.openxmlformats.org/drawingml/2006/main">
            <a:off x="476250" y="6162675"/>
            <a:ext cx="76200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750" b="0" i="0">
                <a:solidFill>
                  <a:srgbClr val="5F6D80"/>
                </a:solidFill>
              </a:defRPr>
            </a:pPr>
            <a:r>
              <a:rPr sz="750" b="0" i="0">
                <a:solidFill>
                  <a:srgbClr val="5F6D80"/>
                </a:solidFill>
              </a:rPr>
              <a:t>PAVO: Pipeline-Aware Voice Orchestration with Demand-Conditioned Inference Routing</a:t>
            </a:r>
          </a:p>
        </p:txBody>
      </p:sp>
      <p:sp>
        <p:nvSpPr>
          <p:cNvPr id="14" name="">
            <a:extLst xmlns:a="http://schemas.openxmlformats.org/drawingml/2006/main">
              <a:ext uri="{FF2B5EF4-FFF2-40B4-BE49-F238E27FC236}">
                <a16:creationId xmlns:a16="http://schemas.microsoft.com/office/drawing/2014/main" id="{9D6299EF-3133-4010-BD7C-18102C81062C}"/>
              </a:ext>
            </a:extLst>
          </p:cNvPr>
          <p:cNvSpPr>
            <a:spLocks xmlns:a="http://schemas.openxmlformats.org/drawingml/2006/main" noGrp="1"/>
          </p:cNvSpPr>
          <p:nvPr/>
        </p:nvSpPr>
        <p:spPr>
          <a:xfrm xmlns:a="http://schemas.openxmlformats.org/drawingml/2006/main">
            <a:off x="457200" y="6457950"/>
            <a:ext cx="85725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675" b="0" i="0">
                <a:solidFill>
                  <a:srgbClr val="8090A1"/>
                </a:solidFill>
              </a:defRPr>
            </a:pPr>
            <a:r>
              <a:rPr sz="675" b="0" i="0">
                <a:solidFill>
                  <a:srgbClr val="8090A1"/>
                </a:solidFill>
              </a:rPr>
              <a:t>RxRelay · Proof, not promises.</a:t>
            </a:r>
          </a:p>
        </p:txBody>
      </p:sp>
      <p:sp>
        <p:nvSpPr>
          <p:cNvPr id="15" name="">
            <a:extLst xmlns:a="http://schemas.openxmlformats.org/drawingml/2006/main">
              <a:ext uri="{FF2B5EF4-FFF2-40B4-BE49-F238E27FC236}">
                <a16:creationId xmlns:a16="http://schemas.microsoft.com/office/drawing/2014/main" id="{1ADCBA32-6721-4E04-8336-1DF14D8C4E0A}"/>
              </a:ext>
            </a:extLst>
          </p:cNvPr>
          <p:cNvSpPr>
            <a:spLocks xmlns:a="http://schemas.openxmlformats.org/drawingml/2006/main" noGrp="1"/>
          </p:cNvSpPr>
          <p:nvPr/>
        </p:nvSpPr>
        <p:spPr>
          <a:xfrm xmlns:a="http://schemas.openxmlformats.org/drawingml/2006/main">
            <a:off x="8382000" y="6457950"/>
            <a:ext cx="3352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675" b="0" i="0">
                <a:solidFill>
                  <a:srgbClr val="8090A1"/>
                </a:solidFill>
              </a:defRPr>
            </a:pPr>
            <a:r>
              <a:rPr sz="675" b="0" i="0">
                <a:solidFill>
                  <a:srgbClr val="8090A1"/>
                </a:solidFill>
              </a:rPr>
              <a:t>A1MOBILE VOICE AI HACKATHON · 2026</a:t>
            </a:r>
          </a:p>
        </p:txBody>
      </p:sp>
    </p:spTree>
    <p:extLst>
      <p:ext uri="{BB962C8B-B14F-4D97-AF65-F5344CB8AC3E}">
        <p14:creationId xmlns:p14="http://schemas.microsoft.com/office/powerpoint/2010/main" val="7894805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2026-07-31T22:03:50.2460000Z</dcterms:created>
  <dcterms:modified xsi:type="dcterms:W3CDTF">2026-07-31T22:03:50.2460000Z</dcterms:modified>
</coreProperties>
</file>