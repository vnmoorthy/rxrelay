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4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9144000" cy="5143500" type="screen16x9"/>
  <p:notesSz cx="6858000" cy="9144000"/>
  <p:defaultTextStyle>
    <a:defPPr>
      <a:defRPr lang="en-US"/>
    </a:defPPr>
  </p:defaultTextStyle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" Target="slides/slide4.xml"/>
  <Relationship Id="rId5" Type="http://schemas.openxmlformats.org/officeDocument/2006/relationships/slide" Target="slides/slide5.xml"/>
  <Relationship Id="rId6" Type="http://schemas.openxmlformats.org/officeDocument/2006/relationships/slide" Target="slides/slide6.xml"/>
  <Relationship Id="rId7" Type="http://schemas.openxmlformats.org/officeDocument/2006/relationships/slide" Target="slides/slide7.xml"/>
  <Relationship Id="rId8" Type="http://schemas.openxmlformats.org/officeDocument/2006/relationships/slide" Target="slides/slide8.xml"/>
  <Relationship Id="rId9" Type="http://schemas.openxmlformats.org/officeDocument/2006/relationships/slide" Target="slides/slide9.xml"/>
  <Relationship Id="rId10" Type="http://schemas.openxmlformats.org/officeDocument/2006/relationships/slide" Target="slides/slide10.xml"/>
  <Relationship Id="rId11" Type="http://schemas.openxmlformats.org/officeDocument/2006/relationships/slide" Target="slides/slide11.xml"/>
  <Relationship Id="rId12" Type="http://schemas.openxmlformats.org/officeDocument/2006/relationships/slide" Target="slides/slide12.xml"/>
  <Relationship Id="rId13" Type="http://schemas.openxmlformats.org/officeDocument/2006/relationships/slide" Target="slides/slide13.xml"/>
  <Relationship Id="rId14" Type="http://schemas.openxmlformats.org/officeDocument/2006/relationships/slideMaster" Target="slideMasters/slideMaster1.xml"/>
  <Relationship Id="rId15" Type="http://schemas.openxmlformats.org/officeDocument/2006/relationships/theme" Target="theme/theme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${n}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Open with the outcome, not 'an AI agent.' One consented request, followed until evidence exists. Pause on 'Proof, not promises.'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Community voices make the burden concrete — people call 10, even 20 pharmacies because coordination failed, not because they wanted an agent.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Land the insight: a smoother bot is not the answer. Operational memory plus an honest completion gate.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Walk three verbs slowly. The distinctive thing is the proof condition in step three.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Every green check is a deterministic state transition, not an LLM confidence score. Run the dashboard live.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Be honest: verified tier uses TeXML speech + DTMF and a strong model. The coupling cliff is real — joint capture and reasoning matter.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Walk each surface: proof board, counterpart portal, signed receipts, human queue, SSE.</a:t>
            </a:r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Walk left→right. Red safe-stop path never touches live outreach. Live requires OTP allowlist.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Product position, not disclaimer. A safe stop is success when automation would be wrong.</a:t>
            </a:r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Offer live path: reset sandbox, walk full flow, call demo line, show unsafe branch stays red.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Company slide: do not claim we capture $93B. TAM is voice AI in healthcare; $93B is the pain pool that justifies budget. Beachhead is specialty access desks that already buy telephony.</a:t>
            </a:r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Catalyst fit: evidence over demo theater, a1 as load-bearing infra, open PAVO research lineage.</a:t>
            </a:r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6858000" cy="9144000"/>
          <a:chOff x="0" y="0"/>
          <a:chExt cx="6858000" cy="9144000"/>
        </a:xfrm>
      </p:grpSpPr>
      <p:sp>
        <p:nvSpPr>
          <p:cNvPr id="2" name="Notes"/>
          <p:cNvSpPr txBox="1"/>
          <p:nvPr/>
        </p:nvSpPr>
        <p:spPr>
          <a:xfrm>
            <a:off x="457200" y="457200"/>
            <a:ext cx="5943600" cy="8229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400">
                <a:solidFill>
                  <a:srgbClr val="04131F"/>
                </a:solidFill>
                <a:latin typeface="Calibri"/>
              </a:rPr>
              <a:t>End on conviction. Invite judges to live board and safety stop. Next: OTP SMS + production tunnel + specialty access pilots.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${n}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4131F"/>
      </a:solidFill>
      <a:effectLst/>
    </p:bgPr>
  </p:bg>
  <p:cSld name="Slide 1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A1MOBILE VOICE AI HACKATHON 2026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8EA0AE"/>
                </a:solidFill>
                <a:latin typeface="Calibri"/>
              </a:rPr>
              <a:t>RXRELAY  /  01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5200" b="1">
                <a:solidFill>
                  <a:srgbClr val="FFFFFF"/>
                </a:solidFill>
                <a:latin typeface="Calibri"/>
              </a:rPr>
              <a:t>RxRelay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 i="1">
                <a:solidFill>
                  <a:srgbClr val="39D6C0"/>
                </a:solidFill>
                <a:latin typeface="Calibri"/>
              </a:rPr>
              <a:t>Proof, not promises.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457200" y="188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A consent-first voice coordinator for prescription access — refuses resolution without evidence.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6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PAVO routing</a:t>
            </a:r>
          </a:p>
        </p:txBody>
      </p:sp>
      <p:sp>
        <p:nvSpPr>
          <p:cNvPr id="8" name="Bullet"/>
          <p:cNvSpPr txBox="1"/>
          <p:nvPr/>
        </p:nvSpPr>
        <p:spPr>
          <a:xfrm>
            <a:off x="537200" y="260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Evidence-gated</a:t>
            </a:r>
          </a:p>
        </p:txBody>
      </p:sp>
      <p:sp>
        <p:nvSpPr>
          <p:cNvPr id="9" name="Bullet"/>
          <p:cNvSpPr txBox="1"/>
          <p:nvPr/>
        </p:nvSpPr>
        <p:spPr>
          <a:xfrm>
            <a:off x="537200" y="294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Consent-first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8EA0AE"/>
                </a:solidFill>
                <a:latin typeface="Calibri"/>
              </a:rPr>
              <a:t>Make the calls. Bring the proof.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4F7F9"/>
      </a:solidFill>
      <a:effectLst/>
    </p:bgPr>
  </p:bg>
  <p:cSld name="Slide 2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THE HUMAN COST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5C6B78"/>
                </a:solidFill>
                <a:latin typeface="Calibri"/>
              </a:rPr>
              <a:t>RXRELAY  /  02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04131F"/>
                </a:solidFill>
                <a:latin typeface="Calibri"/>
              </a:rPr>
              <a:t>The patient becomes the switchboard.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5C6B78"/>
                </a:solidFill>
                <a:latin typeface="Calibri"/>
              </a:rPr>
              <a:t>When a prescription stalls, the person who needs it repeats the same story across pharmacy, clinic, and insurer.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Pharmacy: "We need a prior authorization."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Clinic: "We sent it — call your insurer."</a:t>
            </a:r>
          </a:p>
        </p:txBody>
      </p:sp>
      <p:sp>
        <p:nvSpPr>
          <p:cNvPr id="8" name="Bullet"/>
          <p:cNvSpPr txBox="1"/>
          <p:nvPr/>
        </p:nvSpPr>
        <p:spPr>
          <a:xfrm>
            <a:off x="537200" y="256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Insurer: "Ask the pharmacy for the status."</a:t>
            </a:r>
          </a:p>
        </p:txBody>
      </p:sp>
      <p:sp>
        <p:nvSpPr>
          <p:cNvPr id="9" name="Bullet"/>
          <p:cNvSpPr txBox="1"/>
          <p:nvPr/>
        </p:nvSpPr>
        <p:spPr>
          <a:xfrm>
            <a:off x="537200" y="290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The patient: calling again — no shared state, no owner.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5C6B78"/>
                </a:solidFill>
                <a:latin typeface="Calibri"/>
              </a:rPr>
              <a:t>Authorization friction turns patients into unpaid coordinators.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4131F"/>
      </a:solidFill>
      <a:effectLst/>
    </p:bgPr>
  </p:bg>
  <p:cSld name="Slide 3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THE MISSING LAYER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8EA0AE"/>
                </a:solidFill>
                <a:latin typeface="Calibri"/>
              </a:rPr>
              <a:t>RXRELAY  /  03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Calibri"/>
              </a:rPr>
              <a:t>LLMs narrate completion. Access problems need evidence.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Today: call → hold → repeat → hope. No proof the next actor acted.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457200" y="188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With RxRelay: consent → coordinate → verify. One case owns the handoffs.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8EA0AE"/>
                </a:solidFill>
                <a:latin typeface="Calibri"/>
              </a:rPr>
              <a:t>From conversational agent to accountable coordination system.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4F7F9"/>
      </a:solidFill>
      <a:effectLst/>
    </p:bgPr>
  </p:bg>
  <p:cSld name="Slide 4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THE PRODUCT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5C6B78"/>
                </a:solidFill>
                <a:latin typeface="Calibri"/>
              </a:rPr>
              <a:t>RXRELAY  /  04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04131F"/>
                </a:solidFill>
                <a:latin typeface="Calibri"/>
              </a:rPr>
              <a:t>A consent-first voice coordinator.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5C6B78"/>
                </a:solidFill>
                <a:latin typeface="Calibri"/>
              </a:rPr>
              <a:t>One consented voice request becomes a case with an owner — coordinating status, not medicine.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01 Ask once — narrow, explicit coordination consent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02 Coordinate — non-clinical status follow-up only</a:t>
            </a:r>
          </a:p>
        </p:txBody>
      </p:sp>
      <p:sp>
        <p:nvSpPr>
          <p:cNvPr id="8" name="Bullet"/>
          <p:cNvSpPr txBox="1"/>
          <p:nvPr/>
        </p:nvSpPr>
        <p:spPr>
          <a:xfrm>
            <a:off x="537200" y="256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03 Prove — case open until outcome + patient update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5C6B78"/>
                </a:solidFill>
                <a:latin typeface="Calibri"/>
              </a:rPr>
              <a:t>The voice layer earns trust by visibly narrowing its authority.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4131F"/>
      </a:solidFill>
      <a:effectLst/>
    </p:bgPr>
  </p:bg>
  <p:cSld name="Slide 5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RESOLUTION GATE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8EA0AE"/>
                </a:solidFill>
                <a:latin typeface="Calibri"/>
              </a:rPr>
              <a:t>RXRELAY  /  05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Calibri"/>
              </a:rPr>
              <a:t>A case turns green only when all four proofs arrive.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Deterministic close gate — activity is not resolution.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consent ∧ permitted action ∧ counterpart outcome ∧ patient update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00:00 Consent · 00:20 Pharmacy blocker · 00:45 Clinic · 01:10 Verify · 01:22 Patient SMS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8EA0AE"/>
                </a:solidFill>
                <a:latin typeface="Calibri"/>
              </a:rPr>
              <a:t>No evidence missing. Case can turn green.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4131F"/>
      </a:solidFill>
      <a:effectLst/>
    </p:bgPr>
  </p:bg>
  <p:cSld name="Slide 6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PAVO ROUTING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8EA0AE"/>
                </a:solidFill>
                <a:latin typeface="Calibri"/>
              </a:rPr>
              <a:t>RXRELAY  /  06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Calibri"/>
              </a:rPr>
              <a:t>The coupling cliff: joint ASR, capture, and reasoning.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A stronger LLM cannot repair a misheard authorization number.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FAST — greetings / yes-no · compact reasoning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BALANCED — routine coordination · reliable speech → tools</a:t>
            </a:r>
          </a:p>
        </p:txBody>
      </p:sp>
      <p:sp>
        <p:nvSpPr>
          <p:cNvPr id="8" name="Bullet"/>
          <p:cNvSpPr txBox="1"/>
          <p:nvPr/>
        </p:nvSpPr>
        <p:spPr>
          <a:xfrm>
            <a:off x="537200" y="256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VERIFIED — names, dates, prior auth · TeXML speech + DTMF, strong model (not multi-vendor ASR theater)</a:t>
            </a:r>
          </a:p>
        </p:txBody>
      </p:sp>
      <p:sp>
        <p:nvSpPr>
          <p:cNvPr id="9" name="Bullet"/>
          <p:cNvSpPr txBox="1"/>
          <p:nvPr/>
        </p:nvSpPr>
        <p:spPr>
          <a:xfrm>
            <a:off x="537200" y="290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SAFE STOP — clinical / unsafe → human queue, no action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8EA0AE"/>
                </a:solidFill>
                <a:latin typeface="Calibri"/>
              </a:rPr>
              <a:t>Demand-conditioned routing · confidence · noise · critical entities · action risk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4F7F9"/>
      </a:solidFill>
      <a:effectLst/>
    </p:bgPr>
  </p:bg>
  <p:cSld name="Slide 7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LIVE SURFACES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5C6B78"/>
                </a:solidFill>
                <a:latin typeface="Calibri"/>
              </a:rPr>
              <a:t>RXRELAY  /  07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04131F"/>
                </a:solidFill>
                <a:latin typeface="Calibri"/>
              </a:rPr>
              <a:t>Every stakeholder sees the same evidence.</a:t>
            </a:r>
          </a:p>
        </p:txBody>
      </p:sp>
      <p:sp>
        <p:nvSpPr>
          <p:cNvPr id="5" name="Bullet"/>
          <p:cNvSpPr txBox="1"/>
          <p:nvPr/>
        </p:nvSpPr>
        <p:spPr>
          <a:xfrm>
            <a:off x="537200" y="150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Proof board — lanes, timeline, 4/4 gate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4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Counterpart portal — structured pharmacy / clinic outcomes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1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Signed receipts — audit trail for consent and action</a:t>
            </a:r>
          </a:p>
        </p:txBody>
      </p:sp>
      <p:sp>
        <p:nvSpPr>
          <p:cNvPr id="8" name="Bullet"/>
          <p:cNvSpPr txBox="1"/>
          <p:nvPr/>
        </p:nvSpPr>
        <p:spPr>
          <a:xfrm>
            <a:off x="537200" y="25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Human ops queue — escalation for ambiguous / clinical</a:t>
            </a:r>
          </a:p>
        </p:txBody>
      </p:sp>
      <p:sp>
        <p:nvSpPr>
          <p:cNvPr id="9" name="Bullet"/>
          <p:cNvSpPr txBox="1"/>
          <p:nvPr/>
        </p:nvSpPr>
        <p:spPr>
          <a:xfrm>
            <a:off x="537200" y="286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SSE stream — live case updates, no pre-baked animation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5C6B78"/>
                </a:solidFill>
                <a:latin typeface="Calibri"/>
              </a:rPr>
              <a:t>UI actions hit the real demo state machine.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4131F"/>
      </a:solidFill>
      <a:effectLst/>
    </p:bgPr>
  </p:bg>
  <p:cSld name="Slide 8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ARCHITECTURE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8EA0AE"/>
                </a:solidFill>
                <a:latin typeface="Calibri"/>
              </a:rPr>
              <a:t>RXRELAY  /  08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Calibri"/>
              </a:rPr>
              <a:t>Voice-server blast radius. Dashboard stays local.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LLM proposes language. Policy + evidence decide what may happen. Public tunnel never reaches dashboard.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Public edge: OTP caller · Cloudflare → :3001 · a1mobile TeXML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Voice process: voice-server.mjs · consent parse · safe stop</a:t>
            </a:r>
          </a:p>
        </p:txBody>
      </p:sp>
      <p:sp>
        <p:nvSpPr>
          <p:cNvPr id="8" name="Bullet"/>
          <p:cNvSpPr txBox="1"/>
          <p:nvPr/>
        </p:nvSpPr>
        <p:spPr>
          <a:xfrm>
            <a:off x="537200" y="256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Core: PAVO router · inference · CaseStore proof gate</a:t>
            </a:r>
          </a:p>
        </p:txBody>
      </p:sp>
      <p:sp>
        <p:nvSpPr>
          <p:cNvPr id="9" name="Bullet"/>
          <p:cNvSpPr txBox="1"/>
          <p:nvPr/>
        </p:nvSpPr>
        <p:spPr>
          <a:xfrm>
            <a:off x="537200" y="290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Dashboard local :3000 · MCP/API · telephony sandbox default</a:t>
            </a:r>
          </a:p>
        </p:txBody>
      </p:sp>
      <p:sp>
        <p:nvSpPr>
          <p:cNvPr id="10" name="Bullet"/>
          <p:cNvSpPr txBox="1"/>
          <p:nvPr/>
        </p:nvSpPr>
        <p:spPr>
          <a:xfrm>
            <a:off x="537200" y="324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Proof flags never set by model text alone</a:t>
            </a:r>
          </a:p>
        </p:txBody>
      </p:sp>
      <p:sp>
        <p:nvSpPr>
          <p:cNvPr id="11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8EA0AE"/>
                </a:solidFill>
                <a:latin typeface="Calibri"/>
              </a:rPr>
              <a:t>Blast radius of public URL = three TeXML routes.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4F7F9"/>
      </a:solidFill>
      <a:effectLst/>
    </p:bgPr>
  </p:bg>
  <p:cSld name="Slide 9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TRUST BY CONSTRUCTION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5C6B78"/>
                </a:solidFill>
                <a:latin typeface="Calibri"/>
              </a:rPr>
              <a:t>RXRELAY  /  09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04131F"/>
                </a:solidFill>
                <a:latin typeface="Calibri"/>
              </a:rPr>
              <a:t>What we refuse.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5C6B78"/>
                </a:solidFill>
                <a:latin typeface="Calibri"/>
              </a:rPr>
              <a:t>Aggressively useful inside a narrow boundary — visibly humble outside it.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CAN: record consent · check status · document outcomes · send consented updates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WILL NOT: clinical advice · Rx changes · controlled inventory · unconsented contact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5C6B78"/>
                </a:solidFill>
                <a:latin typeface="Calibri"/>
              </a:rPr>
              <a:t>The wow factor is knowing when not to act.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4131F"/>
      </a:solidFill>
      <a:effectLst/>
    </p:bgPr>
  </p:bg>
  <p:cSld name="Slide 10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DEMO PATH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8EA0AE"/>
                </a:solidFill>
                <a:latin typeface="Calibri"/>
              </a:rPr>
              <a:t>RXRELAY  /  10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Calibri"/>
              </a:rPr>
              <a:t>Sandbox E2E + live call flow.</a:t>
            </a:r>
          </a:p>
        </p:txBody>
      </p:sp>
      <p:sp>
        <p:nvSpPr>
          <p:cNvPr id="5" name="Bullet"/>
          <p:cNvSpPr txBox="1"/>
          <p:nvPr/>
        </p:nvSpPr>
        <p:spPr>
          <a:xfrm>
            <a:off x="537200" y="150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Dashboard: npm run dev → proof board → counterpart actions → 4/4 gate → SSE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4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Voice: npm run voice → tunnel :3001 → TeXML → consent → PAVO → case transitions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1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Safe branch → green · unsafe branch → human queue · call the claimed number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8EA0AE"/>
                </a:solidFill>
                <a:latin typeface="Calibri"/>
              </a:rPr>
              <a:t>Judged flow is deterministic, visible, and safe end-to-end.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4131F"/>
      </a:solidFill>
      <a:effectLst/>
    </p:bgPr>
  </p:bg>
  <p:cSld name="Slide 11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COMPANY OPPORTUNITY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8EA0AE"/>
                </a:solidFill>
                <a:latin typeface="Calibri"/>
              </a:rPr>
              <a:t>RXRELAY  /  11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Calibri"/>
              </a:rPr>
              <a:t>A real company wedge: medication-access coordination.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TAM: AI voice agents in healthcare ~$0.5–2.1B (2025; definition-dependent).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457200" y="188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Pain pool / SAM signal: ~$93B navigating utilization management (Health Affairs); CAQH ~$89B admin transactions.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457200" y="226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SOM beachhead: specialty pharmacies, patient hubs, digital pharmacies — priced per resolved case, not per chat.</a:t>
            </a:r>
          </a:p>
        </p:txBody>
      </p:sp>
      <p:sp>
        <p:nvSpPr>
          <p:cNvPr id="8" name="Bullet"/>
          <p:cNvSpPr txBox="1"/>
          <p:nvPr/>
        </p:nvSpPr>
        <p:spPr>
          <a:xfrm>
            <a:off x="537200" y="264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Charge for resolved access cases — not words spoken</a:t>
            </a:r>
          </a:p>
        </p:txBody>
      </p:sp>
      <p:sp>
        <p:nvSpPr>
          <p:cNvPr id="9" name="Bullet"/>
          <p:cNvSpPr txBox="1"/>
          <p:nvPr/>
        </p:nvSpPr>
        <p:spPr>
          <a:xfrm>
            <a:off x="537200" y="29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Wedge: evidence-gated coordination where PA / status loops already burn staff</a:t>
            </a:r>
          </a:p>
        </p:txBody>
      </p:sp>
      <p:sp>
        <p:nvSpPr>
          <p:cNvPr id="10" name="Bullet"/>
          <p:cNvSpPr txBox="1"/>
          <p:nvPr/>
        </p:nvSpPr>
        <p:spPr>
          <a:xfrm>
            <a:off x="537200" y="33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Sources: Towards Healthcare · Healthcare Foresights · Health Affairs · CAQH Index 2023 (directional)</a:t>
            </a:r>
          </a:p>
        </p:txBody>
      </p:sp>
      <p:sp>
        <p:nvSpPr>
          <p:cNvPr id="11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8EA0AE"/>
                </a:solidFill>
                <a:latin typeface="Calibri"/>
              </a:rPr>
              <a:t>Own the proof-gated access workflow.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F4F7F9"/>
      </a:solidFill>
      <a:effectLst/>
    </p:bgPr>
  </p:bg>
  <p:cSld name="Slide 12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WHY INVEST / CATALYST FIT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5C6B78"/>
                </a:solidFill>
                <a:latin typeface="Calibri"/>
              </a:rPr>
              <a:t>RXRELAY  /  12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04131F"/>
                </a:solidFill>
                <a:latin typeface="Calibri"/>
              </a:rPr>
              <a:t>Evidence culture. Load-bearing network. Open research.</a:t>
            </a:r>
          </a:p>
        </p:txBody>
      </p:sp>
      <p:sp>
        <p:nvSpPr>
          <p:cNvPr id="5" name="Bullet"/>
          <p:cNvSpPr txBox="1"/>
          <p:nvPr/>
        </p:nvSpPr>
        <p:spPr>
          <a:xfrm>
            <a:off x="537200" y="150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Evidence culture — proof gates, signed receipts, Groundtruth / MCP Observatory discipline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4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a1 network — TeXML voice, OTP SMS, number verify — real telco primitives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1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04131F"/>
                </a:solidFill>
                <a:latin typeface="Calibri"/>
              </a:rPr>
              <a:t>• Open research PAVO — paper + pavo-bench benchmark alongside product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5C6B78"/>
                </a:solidFill>
                <a:latin typeface="Calibri"/>
              </a:rPr>
              <a:t>Real problem · real voice UX · real safety · it actually runs.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4131F"/>
      </a:solidFill>
      <a:effectLst/>
    </p:bgPr>
  </p:bg>
  <p:cSld name="Slide 13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Kicker"/>
          <p:cNvSpPr txBox="1"/>
          <p:nvPr/>
        </p:nvSpPr>
        <p:spPr>
          <a:xfrm>
            <a:off x="457200" y="180000"/>
            <a:ext cx="82296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 b="1">
                <a:solidFill>
                  <a:srgbClr val="39D6C0"/>
                </a:solidFill>
                <a:latin typeface="Calibri"/>
              </a:rPr>
              <a:t>ASK</a:t>
            </a:r>
          </a:p>
        </p:txBody>
      </p:sp>
      <p:sp>
        <p:nvSpPr>
          <p:cNvPr id="3" name="SlideNum"/>
          <p:cNvSpPr txBox="1"/>
          <p:nvPr/>
        </p:nvSpPr>
        <p:spPr>
          <a:xfrm>
            <a:off x="7486800" y="180000"/>
            <a:ext cx="12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r"/>
            <a:r>
              <a:rPr lang="en-US" sz="900" b="1">
                <a:solidFill>
                  <a:srgbClr val="8EA0AE"/>
                </a:solidFill>
                <a:latin typeface="Calibri"/>
              </a:rPr>
              <a:t>RXRELAY  /  13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457200" y="520000"/>
            <a:ext cx="82296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Calibri"/>
              </a:rPr>
              <a:t>A prescription should not fail because coordination did.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457200" y="1500000"/>
            <a:ext cx="82296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800">
                <a:solidFill>
                  <a:srgbClr val="8EA0AE"/>
                </a:solidFill>
                <a:latin typeface="Calibri"/>
              </a:rPr>
              <a:t>RxRelay turns a consented call into a verifiable outcome.</a:t>
            </a:r>
          </a:p>
        </p:txBody>
      </p:sp>
      <p:sp>
        <p:nvSpPr>
          <p:cNvPr id="6" name="Bullet"/>
          <p:cNvSpPr txBox="1"/>
          <p:nvPr/>
        </p:nvSpPr>
        <p:spPr>
          <a:xfrm>
            <a:off x="537200" y="188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github.com/vnmoorthy/rxrelay</a:t>
            </a:r>
          </a:p>
        </p:txBody>
      </p:sp>
      <p:sp>
        <p:nvSpPr>
          <p:cNvPr id="7" name="Bullet"/>
          <p:cNvSpPr txBox="1"/>
          <p:nvPr/>
        </p:nvSpPr>
        <p:spPr>
          <a:xfrm>
            <a:off x="537200" y="222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openreview.net/forum?id=zrneoIxlFx · PAVO paper</a:t>
            </a:r>
          </a:p>
        </p:txBody>
      </p:sp>
      <p:sp>
        <p:nvSpPr>
          <p:cNvPr id="8" name="Bullet"/>
          <p:cNvSpPr txBox="1"/>
          <p:nvPr/>
        </p:nvSpPr>
        <p:spPr>
          <a:xfrm>
            <a:off x="537200" y="2560000"/>
            <a:ext cx="8149600" cy="32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1500">
                <a:solidFill>
                  <a:srgbClr val="FFFFFF"/>
                </a:solidFill>
                <a:latin typeface="Calibri"/>
              </a:rPr>
              <a:t>• Next: live OTP SMS + production tunnel · beachhead = specialty access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457200" y="4723500"/>
            <a:ext cx="82296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 algn="l"/>
            <a:r>
              <a:rPr lang="en-US" sz="900">
                <a:solidFill>
                  <a:srgbClr val="8EA0AE"/>
                </a:solidFill>
                <a:latin typeface="Calibri"/>
              </a:rPr>
              <a:t>RxRelay · Proof, not promises.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xRelay">
  <a:themeElements>
    <a:clrScheme name="RxRelay">
      <a:dk1>
        <a:srgbClr val="04131F"/>
      </a:dk1>
      <a:lt1>
        <a:srgbClr val="FFFFFF"/>
      </a:lt1>
      <a:dk2>
        <a:srgbClr val="0B2436"/>
      </a:dk2>
      <a:lt2>
        <a:srgbClr val="F4F7F9"/>
      </a:lt2>
      <a:accent1>
        <a:srgbClr val="0F9F8C"/>
      </a:accent1>
      <a:accent2>
        <a:srgbClr val="39D6C0"/>
      </a:accent2>
      <a:accent3>
        <a:srgbClr val="D8892A"/>
      </a:accent3>
      <a:accent4>
        <a:srgbClr val="C24B45"/>
      </a:accent4>
      <a:accent5>
        <a:srgbClr val="2F6FBF"/>
      </a:accent5>
      <a:accent6>
        <a:srgbClr val="8EA0AE"/>
      </a:accent6>
      <a:hlink>
        <a:srgbClr val="39D6C0"/>
      </a:hlink>
      <a:folHlink>
        <a:srgbClr val="0F9F8C"/>
      </a:folHlink>
    </a:clrScheme>
    <a:fontScheme name="RxRelay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Node.js</Application>
  <Slides>13</Slides>
  <PresentationFormat>On-screen Show (16:9)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RxRelay Hackathon Pitch</dc:title>
  <dc:creator>RxRelay</dc:creator>
  <dc:description>Proof, not promises — consent-first voice coordination</dc:description>
  <cp:lastModifiedBy>build-deck.mjs</cp:lastModifiedBy>
</cp:coreProperties>
</file>